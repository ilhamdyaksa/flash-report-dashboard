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147474856" r:id="rId3"/>
    <p:sldId id="2147474857" r:id="rId4"/>
  </p:sldIdLst>
  <p:sldSz cx="12192000" cy="6858000"/>
  <p:notesSz cx="6858000" cy="9144000"/>
  <p:embeddedFontLst>
    <p:embeddedFont>
      <p:font typeface="Yu Gothic" panose="020B0400000000000000" pitchFamily="34" charset="-128"/>
      <p:regular r:id="rId6"/>
      <p:bold r:id="rId7"/>
    </p:embeddedFont>
    <p:embeddedFont>
      <p:font typeface="Barlow" panose="00000500000000000000" pitchFamily="2" charset="0"/>
      <p:regular r:id="rId8"/>
      <p:bold r:id="rId9"/>
      <p:italic r:id="rId10"/>
      <p:boldItalic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Plus Jakarta Sans"/>
      <p:italic r:id="rId20"/>
    </p:embeddedFont>
    <p:embeddedFont>
      <p:font typeface="Segoe UI" panose="020B0502040204020203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tableStyles" Target="tableStyle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459359"/>
            <a:ext cx="4536435" cy="28647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374048" cy="51937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BAKTIOSS</a:t>
            </a:r>
            <a:endParaRPr sz="1125" b="0" i="1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D67FC-E856-47B8-9A68-9B7855A5814F}"/>
              </a:ext>
            </a:extLst>
          </p:cNvPr>
          <p:cNvSpPr txBox="1"/>
          <p:nvPr/>
        </p:nvSpPr>
        <p:spPr>
          <a:xfrm>
            <a:off x="6916347" y="3776323"/>
            <a:ext cx="1729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A1A4DF-681A-E301-9399-3AEE7549D465}"/>
              </a:ext>
            </a:extLst>
          </p:cNvPr>
          <p:cNvGrpSpPr/>
          <p:nvPr/>
        </p:nvGrpSpPr>
        <p:grpSpPr>
          <a:xfrm>
            <a:off x="102567" y="666886"/>
            <a:ext cx="5392608" cy="4312224"/>
            <a:chOff x="179422" y="692319"/>
            <a:chExt cx="5291304" cy="424771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B91F26-0897-8800-EB57-E30EF3626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9422" y="692319"/>
              <a:ext cx="5291304" cy="424771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4FFE6E2-C1A1-0402-8BDD-C9F2D8602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747" y="748100"/>
              <a:ext cx="847515" cy="1297293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4E1FF0C-6EB4-4C1E-9CD2-4B5695C97159}"/>
              </a:ext>
            </a:extLst>
          </p:cNvPr>
          <p:cNvGrpSpPr/>
          <p:nvPr/>
        </p:nvGrpSpPr>
        <p:grpSpPr>
          <a:xfrm>
            <a:off x="159970" y="5031042"/>
            <a:ext cx="11934845" cy="1799978"/>
            <a:chOff x="179420" y="5405554"/>
            <a:chExt cx="11934845" cy="1799978"/>
          </a:xfrm>
        </p:grpSpPr>
        <p:sp>
          <p:nvSpPr>
            <p:cNvPr id="71" name="Rounded Rectangle 2">
              <a:extLst>
                <a:ext uri="{FF2B5EF4-FFF2-40B4-BE49-F238E27FC236}">
                  <a16:creationId xmlns:a16="http://schemas.microsoft.com/office/drawing/2014/main" id="{D6BD7CEC-88FE-451C-BB26-C9909EFB9A33}"/>
                </a:ext>
              </a:extLst>
            </p:cNvPr>
            <p:cNvSpPr/>
            <p:nvPr/>
          </p:nvSpPr>
          <p:spPr>
            <a:xfrm>
              <a:off x="179420" y="5405554"/>
              <a:ext cx="11934845" cy="1795207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25FC9B3-BB80-4969-9670-A24790CF56BB}"/>
                </a:ext>
              </a:extLst>
            </p:cNvPr>
            <p:cNvSpPr txBox="1"/>
            <p:nvPr/>
          </p:nvSpPr>
          <p:spPr>
            <a:xfrm>
              <a:off x="430179" y="5468137"/>
              <a:ext cx="11306175" cy="219075"/>
            </a:xfrm>
            <a:prstGeom prst="rect">
              <a:avLst/>
            </a:prstGeom>
            <a:noFill/>
          </p:spPr>
          <p:txBody>
            <a:bodyPr wrap="non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090B5D-10E7-4B70-B4C1-4681B836315C}"/>
                </a:ext>
              </a:extLst>
            </p:cNvPr>
            <p:cNvSpPr txBox="1"/>
            <p:nvPr/>
          </p:nvSpPr>
          <p:spPr>
            <a:xfrm>
              <a:off x="239110" y="5682038"/>
              <a:ext cx="11875155" cy="152349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/>
                <a:t>}} 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76" name="Picture 75" descr="image.png">
              <a:extLst>
                <a:ext uri="{FF2B5EF4-FFF2-40B4-BE49-F238E27FC236}">
                  <a16:creationId xmlns:a16="http://schemas.microsoft.com/office/drawing/2014/main" id="{AA67B94B-9D76-4FC9-9676-15B36CAFF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5646" y="5498847"/>
              <a:ext cx="171450" cy="171450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D63DC9C-5987-4712-92A1-D1767207A168}"/>
              </a:ext>
            </a:extLst>
          </p:cNvPr>
          <p:cNvSpPr/>
          <p:nvPr/>
        </p:nvSpPr>
        <p:spPr>
          <a:xfrm>
            <a:off x="684737" y="2461345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">
            <a:extLst>
              <a:ext uri="{FF2B5EF4-FFF2-40B4-BE49-F238E27FC236}">
                <a16:creationId xmlns:a16="http://schemas.microsoft.com/office/drawing/2014/main" id="{5A8DD734-2E78-4F9A-9AC5-C89975C47EA2}"/>
              </a:ext>
            </a:extLst>
          </p:cNvPr>
          <p:cNvSpPr/>
          <p:nvPr/>
        </p:nvSpPr>
        <p:spPr>
          <a:xfrm>
            <a:off x="5553548" y="1921825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B3470242-3539-48C6-B2E5-BAF82B2F0B0C}"/>
              </a:ext>
            </a:extLst>
          </p:cNvPr>
          <p:cNvSpPr/>
          <p:nvPr/>
        </p:nvSpPr>
        <p:spPr>
          <a:xfrm>
            <a:off x="8092441" y="2142089"/>
            <a:ext cx="574252" cy="185284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27">
            <a:extLst>
              <a:ext uri="{FF2B5EF4-FFF2-40B4-BE49-F238E27FC236}">
                <a16:creationId xmlns:a16="http://schemas.microsoft.com/office/drawing/2014/main" id="{6487B48B-66A5-4899-A93A-033DD25DB0B0}"/>
              </a:ext>
            </a:extLst>
          </p:cNvPr>
          <p:cNvSpPr/>
          <p:nvPr/>
        </p:nvSpPr>
        <p:spPr>
          <a:xfrm>
            <a:off x="569794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28">
            <a:extLst>
              <a:ext uri="{FF2B5EF4-FFF2-40B4-BE49-F238E27FC236}">
                <a16:creationId xmlns:a16="http://schemas.microsoft.com/office/drawing/2014/main" id="{25E322D1-A90B-46AB-8E06-5C33DBBF3090}"/>
              </a:ext>
            </a:extLst>
          </p:cNvPr>
          <p:cNvSpPr/>
          <p:nvPr/>
        </p:nvSpPr>
        <p:spPr>
          <a:xfrm>
            <a:off x="721697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676BB71-F01F-4A5A-BE16-9660DE96559B}"/>
              </a:ext>
            </a:extLst>
          </p:cNvPr>
          <p:cNvSpPr txBox="1"/>
          <p:nvPr/>
        </p:nvSpPr>
        <p:spPr>
          <a:xfrm>
            <a:off x="5697942" y="2146494"/>
            <a:ext cx="1091622" cy="2026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Program BTS 4G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36D5FA2-F6E9-43AC-875D-778DCF8E9EBC}"/>
              </a:ext>
            </a:extLst>
          </p:cNvPr>
          <p:cNvSpPr txBox="1"/>
          <p:nvPr/>
        </p:nvSpPr>
        <p:spPr>
          <a:xfrm>
            <a:off x="8027170" y="2152838"/>
            <a:ext cx="704794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75" b="1" dirty="0">
                <a:solidFill>
                  <a:srgbClr val="0369A1"/>
                </a:solidFill>
                <a:latin typeface="Plus Jakarta Sans"/>
              </a:rPr>
              <a:t>{{n_4g}} Site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84AD9F-43ED-43A5-A865-C12D7DDD0360}"/>
              </a:ext>
            </a:extLst>
          </p:cNvPr>
          <p:cNvSpPr txBox="1"/>
          <p:nvPr/>
        </p:nvSpPr>
        <p:spPr>
          <a:xfrm>
            <a:off x="5767252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EA44B72-EBA1-4860-AF8B-B57E2BB56345}"/>
              </a:ext>
            </a:extLst>
          </p:cNvPr>
          <p:cNvSpPr txBox="1"/>
          <p:nvPr/>
        </p:nvSpPr>
        <p:spPr>
          <a:xfrm>
            <a:off x="7286281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37" name="Rounded Rectangle 4">
            <a:extLst>
              <a:ext uri="{FF2B5EF4-FFF2-40B4-BE49-F238E27FC236}">
                <a16:creationId xmlns:a16="http://schemas.microsoft.com/office/drawing/2014/main" id="{CB3A887C-7FE3-4802-8468-B29425920BD8}"/>
              </a:ext>
            </a:extLst>
          </p:cNvPr>
          <p:cNvSpPr/>
          <p:nvPr/>
        </p:nvSpPr>
        <p:spPr>
          <a:xfrm>
            <a:off x="7201208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7AA343A-E745-4FDA-8DC0-F57D01BDE5CF}"/>
              </a:ext>
            </a:extLst>
          </p:cNvPr>
          <p:cNvSpPr/>
          <p:nvPr/>
        </p:nvSpPr>
        <p:spPr>
          <a:xfrm>
            <a:off x="7201208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C5F8FAC6-A1E2-4462-989D-61A469EDA15F}"/>
              </a:ext>
            </a:extLst>
          </p:cNvPr>
          <p:cNvSpPr/>
          <p:nvPr/>
        </p:nvSpPr>
        <p:spPr>
          <a:xfrm>
            <a:off x="7201208" y="895486"/>
            <a:ext cx="1570360" cy="3632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720E600-B3C5-4A15-8454-0D18068963B0}"/>
              </a:ext>
            </a:extLst>
          </p:cNvPr>
          <p:cNvSpPr/>
          <p:nvPr/>
        </p:nvSpPr>
        <p:spPr>
          <a:xfrm>
            <a:off x="7201208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3C6177-52D4-4409-9028-79FA81350CA9}"/>
              </a:ext>
            </a:extLst>
          </p:cNvPr>
          <p:cNvSpPr/>
          <p:nvPr/>
        </p:nvSpPr>
        <p:spPr>
          <a:xfrm>
            <a:off x="876581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4">
            <a:extLst>
              <a:ext uri="{FF2B5EF4-FFF2-40B4-BE49-F238E27FC236}">
                <a16:creationId xmlns:a16="http://schemas.microsoft.com/office/drawing/2014/main" id="{B1DD1A35-2CBC-403D-827D-A1D779C77096}"/>
              </a:ext>
            </a:extLst>
          </p:cNvPr>
          <p:cNvSpPr/>
          <p:nvPr/>
        </p:nvSpPr>
        <p:spPr>
          <a:xfrm>
            <a:off x="5547796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3A154F0-AB3A-4C8B-BBF0-9D3895E3264F}"/>
              </a:ext>
            </a:extLst>
          </p:cNvPr>
          <p:cNvSpPr/>
          <p:nvPr/>
        </p:nvSpPr>
        <p:spPr>
          <a:xfrm>
            <a:off x="5547796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9F708FE-28A3-4644-B8EC-12A85395B44C}"/>
              </a:ext>
            </a:extLst>
          </p:cNvPr>
          <p:cNvSpPr/>
          <p:nvPr/>
        </p:nvSpPr>
        <p:spPr>
          <a:xfrm>
            <a:off x="5547796" y="895486"/>
            <a:ext cx="1570360" cy="36320"/>
          </a:xfrm>
          <a:prstGeom prst="rect">
            <a:avLst/>
          </a:prstGeom>
          <a:solidFill>
            <a:srgbClr val="00B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695B1E6-61A0-474D-A2BB-3188ADFCA832}"/>
              </a:ext>
            </a:extLst>
          </p:cNvPr>
          <p:cNvSpPr/>
          <p:nvPr/>
        </p:nvSpPr>
        <p:spPr>
          <a:xfrm>
            <a:off x="554779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F21C6A9-9384-4781-AF09-F44C9B21C4C4}"/>
              </a:ext>
            </a:extLst>
          </p:cNvPr>
          <p:cNvSpPr/>
          <p:nvPr/>
        </p:nvSpPr>
        <p:spPr>
          <a:xfrm>
            <a:off x="7112404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2530E6D-8D8D-43E8-8B84-86CD73923E4C}"/>
              </a:ext>
            </a:extLst>
          </p:cNvPr>
          <p:cNvSpPr txBox="1"/>
          <p:nvPr/>
        </p:nvSpPr>
        <p:spPr>
          <a:xfrm>
            <a:off x="5755332" y="983057"/>
            <a:ext cx="119075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Total Site 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Terdampak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4AF367A-DF9A-47D2-A0C8-8855518BB002}"/>
              </a:ext>
            </a:extLst>
          </p:cNvPr>
          <p:cNvSpPr txBox="1"/>
          <p:nvPr/>
        </p:nvSpPr>
        <p:spPr>
          <a:xfrm>
            <a:off x="7579753" y="975366"/>
            <a:ext cx="9194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Up (Normal)</a:t>
            </a:r>
          </a:p>
        </p:txBody>
      </p:sp>
      <p:sp>
        <p:nvSpPr>
          <p:cNvPr id="144" name="Rounded Rectangle 4">
            <a:extLst>
              <a:ext uri="{FF2B5EF4-FFF2-40B4-BE49-F238E27FC236}">
                <a16:creationId xmlns:a16="http://schemas.microsoft.com/office/drawing/2014/main" id="{73D5FFE4-7B82-4035-8B19-A7A838F5A725}"/>
              </a:ext>
            </a:extLst>
          </p:cNvPr>
          <p:cNvSpPr/>
          <p:nvPr/>
        </p:nvSpPr>
        <p:spPr>
          <a:xfrm>
            <a:off x="8875062" y="908190"/>
            <a:ext cx="1570360" cy="956887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8484106-5D16-4BEC-9BE5-57A2ACEF85B9}"/>
              </a:ext>
            </a:extLst>
          </p:cNvPr>
          <p:cNvSpPr/>
          <p:nvPr/>
        </p:nvSpPr>
        <p:spPr>
          <a:xfrm>
            <a:off x="8875062" y="1855997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E63EE394-3C70-4E1E-A2F9-44376EB2AF58}"/>
              </a:ext>
            </a:extLst>
          </p:cNvPr>
          <p:cNvSpPr/>
          <p:nvPr/>
        </p:nvSpPr>
        <p:spPr>
          <a:xfrm>
            <a:off x="8875062" y="893527"/>
            <a:ext cx="1570360" cy="3632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F86712F-DA3B-4029-990A-F38719A7215D}"/>
              </a:ext>
            </a:extLst>
          </p:cNvPr>
          <p:cNvSpPr/>
          <p:nvPr/>
        </p:nvSpPr>
        <p:spPr>
          <a:xfrm>
            <a:off x="8875062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7B407F5-D28E-4EC1-8A94-BBAFABB84E43}"/>
              </a:ext>
            </a:extLst>
          </p:cNvPr>
          <p:cNvSpPr/>
          <p:nvPr/>
        </p:nvSpPr>
        <p:spPr>
          <a:xfrm>
            <a:off x="10439670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FCC1B38-FFF0-493B-941A-33385249651C}"/>
              </a:ext>
            </a:extLst>
          </p:cNvPr>
          <p:cNvSpPr txBox="1"/>
          <p:nvPr/>
        </p:nvSpPr>
        <p:spPr>
          <a:xfrm>
            <a:off x="9119891" y="995760"/>
            <a:ext cx="121912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Down (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Kritis</a:t>
            </a:r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)</a:t>
            </a:r>
          </a:p>
        </p:txBody>
      </p:sp>
      <p:sp>
        <p:nvSpPr>
          <p:cNvPr id="151" name="Rounded Rectangle 4">
            <a:extLst>
              <a:ext uri="{FF2B5EF4-FFF2-40B4-BE49-F238E27FC236}">
                <a16:creationId xmlns:a16="http://schemas.microsoft.com/office/drawing/2014/main" id="{D9959F14-1828-4167-BC86-8FDEDC03A61A}"/>
              </a:ext>
            </a:extLst>
          </p:cNvPr>
          <p:cNvSpPr/>
          <p:nvPr/>
        </p:nvSpPr>
        <p:spPr>
          <a:xfrm>
            <a:off x="10553815" y="886670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0006407-7946-46BA-9BEC-B5102F139AFD}"/>
              </a:ext>
            </a:extLst>
          </p:cNvPr>
          <p:cNvSpPr/>
          <p:nvPr/>
        </p:nvSpPr>
        <p:spPr>
          <a:xfrm>
            <a:off x="10553815" y="1849140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BFA495C-3CA3-43D9-A9BF-DD72C9A57978}"/>
              </a:ext>
            </a:extLst>
          </p:cNvPr>
          <p:cNvSpPr/>
          <p:nvPr/>
        </p:nvSpPr>
        <p:spPr>
          <a:xfrm>
            <a:off x="10553815" y="886670"/>
            <a:ext cx="1570360" cy="36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77C390D-AF0B-4836-BD5F-DA7AFF6E97BE}"/>
              </a:ext>
            </a:extLst>
          </p:cNvPr>
          <p:cNvSpPr/>
          <p:nvPr/>
        </p:nvSpPr>
        <p:spPr>
          <a:xfrm>
            <a:off x="10553815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809263C4-EF15-43B4-8DB9-F206F919ED8C}"/>
              </a:ext>
            </a:extLst>
          </p:cNvPr>
          <p:cNvSpPr/>
          <p:nvPr/>
        </p:nvSpPr>
        <p:spPr>
          <a:xfrm>
            <a:off x="12118423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96C213F-7D2F-4945-9FA0-88E144D5C6AD}"/>
              </a:ext>
            </a:extLst>
          </p:cNvPr>
          <p:cNvSpPr txBox="1"/>
          <p:nvPr/>
        </p:nvSpPr>
        <p:spPr>
          <a:xfrm>
            <a:off x="11034141" y="984454"/>
            <a:ext cx="7913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Unmonitor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EC517A3D-1A7B-45E4-AFFB-7D676A31F3C1}"/>
              </a:ext>
            </a:extLst>
          </p:cNvPr>
          <p:cNvSpPr/>
          <p:nvPr/>
        </p:nvSpPr>
        <p:spPr>
          <a:xfrm>
            <a:off x="8886031" y="1913837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ounded Rectangle 27">
            <a:extLst>
              <a:ext uri="{FF2B5EF4-FFF2-40B4-BE49-F238E27FC236}">
                <a16:creationId xmlns:a16="http://schemas.microsoft.com/office/drawing/2014/main" id="{F89CE68F-0FE6-4195-BF71-FC2D3CA40B38}"/>
              </a:ext>
            </a:extLst>
          </p:cNvPr>
          <p:cNvSpPr/>
          <p:nvPr/>
        </p:nvSpPr>
        <p:spPr>
          <a:xfrm>
            <a:off x="903042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28">
            <a:extLst>
              <a:ext uri="{FF2B5EF4-FFF2-40B4-BE49-F238E27FC236}">
                <a16:creationId xmlns:a16="http://schemas.microsoft.com/office/drawing/2014/main" id="{C7C05DD2-E01E-468E-AFD3-75770AC14EFF}"/>
              </a:ext>
            </a:extLst>
          </p:cNvPr>
          <p:cNvSpPr/>
          <p:nvPr/>
        </p:nvSpPr>
        <p:spPr>
          <a:xfrm>
            <a:off x="1054945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7EC662E-BBDA-444F-AFA3-A5374CE54612}"/>
              </a:ext>
            </a:extLst>
          </p:cNvPr>
          <p:cNvSpPr txBox="1"/>
          <p:nvPr/>
        </p:nvSpPr>
        <p:spPr>
          <a:xfrm>
            <a:off x="9030425" y="2138506"/>
            <a:ext cx="125746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i="0" u="none" dirty="0">
                <a:solidFill>
                  <a:srgbClr val="0F172A"/>
                </a:solidFill>
                <a:latin typeface="Plus Jakarta Sans"/>
              </a:rPr>
              <a:t>Program BTS USO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D655836-1B0B-47EE-A7D0-D59BC15FA288}"/>
              </a:ext>
            </a:extLst>
          </p:cNvPr>
          <p:cNvSpPr txBox="1"/>
          <p:nvPr/>
        </p:nvSpPr>
        <p:spPr>
          <a:xfrm>
            <a:off x="9099735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126740A-3018-43DE-96C1-EEA828AB6B8E}"/>
              </a:ext>
            </a:extLst>
          </p:cNvPr>
          <p:cNvSpPr txBox="1"/>
          <p:nvPr/>
        </p:nvSpPr>
        <p:spPr>
          <a:xfrm>
            <a:off x="10618764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68" name="Rounded Rectangle 29">
            <a:extLst>
              <a:ext uri="{FF2B5EF4-FFF2-40B4-BE49-F238E27FC236}">
                <a16:creationId xmlns:a16="http://schemas.microsoft.com/office/drawing/2014/main" id="{AB32B926-AD7F-498C-910B-FF124A329CF4}"/>
              </a:ext>
            </a:extLst>
          </p:cNvPr>
          <p:cNvSpPr/>
          <p:nvPr/>
        </p:nvSpPr>
        <p:spPr>
          <a:xfrm>
            <a:off x="11370525" y="2104584"/>
            <a:ext cx="628650" cy="228600"/>
          </a:xfrm>
          <a:prstGeom prst="roundRect">
            <a:avLst>
              <a:gd name="adj" fmla="val 25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0" name="Picture 169">
            <a:extLst>
              <a:ext uri="{FF2B5EF4-FFF2-40B4-BE49-F238E27FC236}">
                <a16:creationId xmlns:a16="http://schemas.microsoft.com/office/drawing/2014/main" id="{0532FF74-FECF-456C-9363-4989327CBB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574" y="2531052"/>
            <a:ext cx="426538" cy="457200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E6BDAFA5-0AE7-48E1-B249-6D7B5EFF22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6780" y="2539755"/>
            <a:ext cx="426538" cy="450568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241F7F4-E470-4B85-B266-C2D301E580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84172" y="2531052"/>
            <a:ext cx="426538" cy="457200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8F6CAB44-656C-439C-B012-D945E7D316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21378" y="2539755"/>
            <a:ext cx="426538" cy="450568"/>
          </a:xfrm>
          <a:prstGeom prst="rect">
            <a:avLst/>
          </a:prstGeom>
        </p:spPr>
      </p:pic>
      <p:sp>
        <p:nvSpPr>
          <p:cNvPr id="174" name="TextBox 173">
            <a:extLst>
              <a:ext uri="{FF2B5EF4-FFF2-40B4-BE49-F238E27FC236}">
                <a16:creationId xmlns:a16="http://schemas.microsoft.com/office/drawing/2014/main" id="{C597114A-6161-4228-BE4C-E9D20A338F6D}"/>
              </a:ext>
            </a:extLst>
          </p:cNvPr>
          <p:cNvSpPr txBox="1"/>
          <p:nvPr/>
        </p:nvSpPr>
        <p:spPr>
          <a:xfrm>
            <a:off x="5578968" y="648668"/>
            <a:ext cx="3192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Status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Jaringan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Klasifikasi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Site BAKTI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2983CB3-7344-472C-BF35-2965A5502555}"/>
              </a:ext>
            </a:extLst>
          </p:cNvPr>
          <p:cNvGrpSpPr/>
          <p:nvPr/>
        </p:nvGrpSpPr>
        <p:grpSpPr>
          <a:xfrm>
            <a:off x="5598362" y="3863258"/>
            <a:ext cx="6545207" cy="1104266"/>
            <a:chOff x="5547668" y="4328378"/>
            <a:chExt cx="6810741" cy="110426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F8AF982-1D9A-4C62-9369-EC9E9C0B3BD4}"/>
                </a:ext>
              </a:extLst>
            </p:cNvPr>
            <p:cNvGrpSpPr/>
            <p:nvPr/>
          </p:nvGrpSpPr>
          <p:grpSpPr>
            <a:xfrm>
              <a:off x="5547668" y="4336366"/>
              <a:ext cx="2453930" cy="1094006"/>
              <a:chOff x="5547667" y="4336366"/>
              <a:chExt cx="4084699" cy="1094006"/>
            </a:xfrm>
          </p:grpSpPr>
          <p:sp>
            <p:nvSpPr>
              <p:cNvPr id="185" name="Rounded Rectangle 5">
                <a:extLst>
                  <a:ext uri="{FF2B5EF4-FFF2-40B4-BE49-F238E27FC236}">
                    <a16:creationId xmlns:a16="http://schemas.microsoft.com/office/drawing/2014/main" id="{64EF9BF7-6443-4DEF-99CC-4B0E09C3D0D9}"/>
                  </a:ext>
                </a:extLst>
              </p:cNvPr>
              <p:cNvSpPr/>
              <p:nvPr/>
            </p:nvSpPr>
            <p:spPr>
              <a:xfrm>
                <a:off x="5547667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096055-8511-413C-8F49-3919C0D9FCE6}"/>
                  </a:ext>
                </a:extLst>
              </p:cNvPr>
              <p:cNvSpPr txBox="1"/>
              <p:nvPr/>
            </p:nvSpPr>
            <p:spPr>
              <a:xfrm>
                <a:off x="5766742" y="4555441"/>
                <a:ext cx="3865624" cy="17145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Total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Akumulasi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 (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Periode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)</a:t>
                </a: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93193DE-D230-4890-804B-20CD4936517A}"/>
                  </a:ext>
                </a:extLst>
              </p:cNvPr>
              <p:cNvSpPr txBox="1"/>
              <p:nvPr/>
            </p:nvSpPr>
            <p:spPr>
              <a:xfrm>
                <a:off x="5599768" y="4784041"/>
                <a:ext cx="3478548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06666"/>
                    </a:solidFill>
                    <a:latin typeface="Plus Jakarta Sans"/>
                  </a:rPr>
                  <a:t>total_traffic_gb</a:t>
                </a:r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06666"/>
                  </a:solidFill>
                  <a:latin typeface="Plus Jakarta Sans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AE66BF0-B8E9-48D6-82F3-CEE0FB864CAA}"/>
                </a:ext>
              </a:extLst>
            </p:cNvPr>
            <p:cNvGrpSpPr/>
            <p:nvPr/>
          </p:nvGrpSpPr>
          <p:grpSpPr>
            <a:xfrm>
              <a:off x="7802389" y="4328378"/>
              <a:ext cx="2194315" cy="1094006"/>
              <a:chOff x="7800358" y="4336366"/>
              <a:chExt cx="3530649" cy="1094006"/>
            </a:xfrm>
          </p:grpSpPr>
          <p:sp>
            <p:nvSpPr>
              <p:cNvPr id="186" name="Rounded Rectangle 6">
                <a:extLst>
                  <a:ext uri="{FF2B5EF4-FFF2-40B4-BE49-F238E27FC236}">
                    <a16:creationId xmlns:a16="http://schemas.microsoft.com/office/drawing/2014/main" id="{7143173C-2E81-40D4-A75C-67B259759FEE}"/>
                  </a:ext>
                </a:extLst>
              </p:cNvPr>
              <p:cNvSpPr/>
              <p:nvPr/>
            </p:nvSpPr>
            <p:spPr>
              <a:xfrm>
                <a:off x="7800358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5176E996-20ED-497F-A850-DE1397B7FAC3}"/>
                  </a:ext>
                </a:extLst>
              </p:cNvPr>
              <p:cNvSpPr txBox="1"/>
              <p:nvPr/>
            </p:nvSpPr>
            <p:spPr>
              <a:xfrm>
                <a:off x="7800358" y="4555441"/>
                <a:ext cx="3530647" cy="16370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Average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Harian</a:t>
                </a:r>
                <a:endParaRPr sz="1050" b="0" i="0" u="none" dirty="0">
                  <a:solidFill>
                    <a:srgbClr val="64748B"/>
                  </a:solidFill>
                  <a:latin typeface="Plus Jakarta Sans"/>
                </a:endParaRP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B4B66668-8EDD-45D9-B2D6-EB9B736902E5}"/>
                  </a:ext>
                </a:extLst>
              </p:cNvPr>
              <p:cNvSpPr txBox="1"/>
              <p:nvPr/>
            </p:nvSpPr>
            <p:spPr>
              <a:xfrm>
                <a:off x="8019433" y="4784041"/>
                <a:ext cx="3311574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F172A"/>
                    </a:solidFill>
                    <a:latin typeface="Plus Jakarta Sans"/>
                  </a:rPr>
                  <a:t>daily_traffic_gb</a:t>
                </a:r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F172A"/>
                  </a:solidFill>
                  <a:latin typeface="Plus Jakarta Sans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8E68375-1158-4F46-A4B7-7C29E141952B}"/>
                </a:ext>
              </a:extLst>
            </p:cNvPr>
            <p:cNvGrpSpPr/>
            <p:nvPr/>
          </p:nvGrpSpPr>
          <p:grpSpPr>
            <a:xfrm>
              <a:off x="10130346" y="4328503"/>
              <a:ext cx="2228063" cy="1104141"/>
              <a:chOff x="10210481" y="4336366"/>
              <a:chExt cx="2228063" cy="1079698"/>
            </a:xfrm>
          </p:grpSpPr>
          <p:sp>
            <p:nvSpPr>
              <p:cNvPr id="187" name="Rounded Rectangle 7">
                <a:extLst>
                  <a:ext uri="{FF2B5EF4-FFF2-40B4-BE49-F238E27FC236}">
                    <a16:creationId xmlns:a16="http://schemas.microsoft.com/office/drawing/2014/main" id="{387C523C-37AE-4063-ACDE-B59AC4D5389E}"/>
                  </a:ext>
                </a:extLst>
              </p:cNvPr>
              <p:cNvSpPr/>
              <p:nvPr/>
            </p:nvSpPr>
            <p:spPr>
              <a:xfrm>
                <a:off x="10210481" y="4336366"/>
                <a:ext cx="2194315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3C5472F-71D5-4B62-98E4-E7553D0C12CE}"/>
                  </a:ext>
                </a:extLst>
              </p:cNvPr>
              <p:cNvSpPr txBox="1"/>
              <p:nvPr/>
            </p:nvSpPr>
            <p:spPr>
              <a:xfrm>
                <a:off x="10210482" y="4555441"/>
                <a:ext cx="2228062" cy="16158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Avg Peak Active Users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AE80062-C625-48D0-A2CE-18A4C4C7C27C}"/>
                  </a:ext>
                </a:extLst>
              </p:cNvPr>
              <p:cNvSpPr txBox="1"/>
              <p:nvPr/>
            </p:nvSpPr>
            <p:spPr>
              <a:xfrm>
                <a:off x="10210481" y="4784041"/>
                <a:ext cx="2194315" cy="63202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16A34A"/>
                    </a:solidFill>
                    <a:latin typeface="Plus Jakarta Sans"/>
                  </a:rPr>
                  <a:t>active_users</a:t>
                </a:r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}} Users</a:t>
                </a:r>
                <a:endParaRPr sz="2100" b="1" dirty="0">
                  <a:solidFill>
                    <a:srgbClr val="16A34A"/>
                  </a:solidFill>
                  <a:latin typeface="Plus Jakarta Sans"/>
                </a:endParaRPr>
              </a:p>
            </p:txBody>
          </p:sp>
        </p:grpSp>
      </p:grpSp>
      <p:sp>
        <p:nvSpPr>
          <p:cNvPr id="194" name="TextBox 193">
            <a:extLst>
              <a:ext uri="{FF2B5EF4-FFF2-40B4-BE49-F238E27FC236}">
                <a16:creationId xmlns:a16="http://schemas.microsoft.com/office/drawing/2014/main" id="{D8636088-7785-49FD-AE7E-F16D8C442A09}"/>
              </a:ext>
            </a:extLst>
          </p:cNvPr>
          <p:cNvSpPr txBox="1"/>
          <p:nvPr/>
        </p:nvSpPr>
        <p:spPr>
          <a:xfrm>
            <a:off x="5578461" y="3528616"/>
            <a:ext cx="365375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Metrik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Traffic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Analisis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Produktivitas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Layanan</a:t>
            </a:r>
            <a:endParaRPr sz="1400" b="1" i="1" u="none" dirty="0">
              <a:solidFill>
                <a:schemeClr val="bg1">
                  <a:lumMod val="50000"/>
                </a:schemeClr>
              </a:solidFill>
              <a:latin typeface="Plus Jakarta Sans"/>
            </a:endParaRPr>
          </a:p>
        </p:txBody>
      </p:sp>
      <p:pic>
        <p:nvPicPr>
          <p:cNvPr id="195" name="Graphic 194" descr="Children with solid fill">
            <a:extLst>
              <a:ext uri="{FF2B5EF4-FFF2-40B4-BE49-F238E27FC236}">
                <a16:creationId xmlns:a16="http://schemas.microsoft.com/office/drawing/2014/main" id="{324E5F3C-0C3C-457A-9849-9978B92172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32218" y="3217034"/>
            <a:ext cx="794090" cy="7940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D12763B-7292-40F5-A6CA-4035E055E6DD}"/>
              </a:ext>
            </a:extLst>
          </p:cNvPr>
          <p:cNvSpPr txBox="1"/>
          <p:nvPr/>
        </p:nvSpPr>
        <p:spPr>
          <a:xfrm>
            <a:off x="5340061" y="1260787"/>
            <a:ext cx="2000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{{</a:t>
            </a:r>
            <a:r>
              <a:rPr lang="en-US" sz="2000" b="1" dirty="0" err="1"/>
              <a:t>total_site</a:t>
            </a:r>
            <a:r>
              <a:rPr lang="en-US" sz="2000" b="1" dirty="0"/>
              <a:t>}} Site</a:t>
            </a:r>
            <a:endParaRPr lang="en-US" sz="20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7F70B-82DC-4AD8-AFB8-A0D0B0222617}"/>
              </a:ext>
            </a:extLst>
          </p:cNvPr>
          <p:cNvSpPr txBox="1"/>
          <p:nvPr/>
        </p:nvSpPr>
        <p:spPr>
          <a:xfrm>
            <a:off x="7325758" y="1260479"/>
            <a:ext cx="17781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{{</a:t>
            </a:r>
            <a:r>
              <a:rPr lang="en-US" sz="2000" b="1" dirty="0" err="1">
                <a:solidFill>
                  <a:srgbClr val="00B050"/>
                </a:solidFill>
              </a:rPr>
              <a:t>site_up</a:t>
            </a:r>
            <a:r>
              <a:rPr lang="en-US" sz="2000" b="1" dirty="0">
                <a:solidFill>
                  <a:srgbClr val="00B050"/>
                </a:solidFill>
              </a:rPr>
              <a:t>}} Site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C3C6B6-6D3B-4388-96C7-7C332C6F0121}"/>
              </a:ext>
            </a:extLst>
          </p:cNvPr>
          <p:cNvSpPr txBox="1"/>
          <p:nvPr/>
        </p:nvSpPr>
        <p:spPr>
          <a:xfrm>
            <a:off x="8978580" y="1280210"/>
            <a:ext cx="190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{{</a:t>
            </a:r>
            <a:r>
              <a:rPr lang="en-US" b="1" dirty="0" err="1">
                <a:solidFill>
                  <a:srgbClr val="FF0000"/>
                </a:solidFill>
              </a:rPr>
              <a:t>site_down</a:t>
            </a:r>
            <a:r>
              <a:rPr lang="en-US" b="1" dirty="0">
                <a:solidFill>
                  <a:srgbClr val="FF0000"/>
                </a:solidFill>
              </a:rPr>
              <a:t>}}</a:t>
            </a:r>
            <a:r>
              <a:rPr lang="en-US" dirty="0">
                <a:solidFill>
                  <a:srgbClr val="FF0000"/>
                </a:solidFill>
              </a:rPr>
              <a:t> Site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844091-A950-4C3A-BE32-D8D9FE13896B}"/>
              </a:ext>
            </a:extLst>
          </p:cNvPr>
          <p:cNvSpPr txBox="1"/>
          <p:nvPr/>
        </p:nvSpPr>
        <p:spPr>
          <a:xfrm>
            <a:off x="10829863" y="1260759"/>
            <a:ext cx="2131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{{</a:t>
            </a:r>
            <a:r>
              <a:rPr lang="en-US" sz="2000" b="1" dirty="0" err="1"/>
              <a:t>unmonitor</a:t>
            </a:r>
            <a:r>
              <a:rPr lang="en-US" sz="2000" b="1" dirty="0"/>
              <a:t>}} Site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D1DFE6-4EA7-4009-86D1-5E9313754334}"/>
              </a:ext>
            </a:extLst>
          </p:cNvPr>
          <p:cNvSpPr txBox="1"/>
          <p:nvPr/>
        </p:nvSpPr>
        <p:spPr>
          <a:xfrm>
            <a:off x="5639569" y="2704442"/>
            <a:ext cx="140301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{{g4_vsat}} Site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CE48F83-0D0F-479C-A569-25DA18D41761}"/>
              </a:ext>
            </a:extLst>
          </p:cNvPr>
          <p:cNvSpPr txBox="1"/>
          <p:nvPr/>
        </p:nvSpPr>
        <p:spPr>
          <a:xfrm>
            <a:off x="7185193" y="2683273"/>
            <a:ext cx="14533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{{g4_mw}} Site</a:t>
            </a:r>
            <a:endParaRPr lang="en-US" sz="15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095AF18C-5346-452C-B3A4-931C80045C39}"/>
              </a:ext>
            </a:extLst>
          </p:cNvPr>
          <p:cNvSpPr txBox="1"/>
          <p:nvPr/>
        </p:nvSpPr>
        <p:spPr>
          <a:xfrm>
            <a:off x="8961774" y="2694379"/>
            <a:ext cx="149758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uso_vsat</a:t>
            </a:r>
            <a:r>
              <a:rPr lang="en-US" sz="1500" b="1" dirty="0"/>
              <a:t>}} Site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0C81FE5C-FD80-47FA-A9A5-DD3A5EC4C487}"/>
              </a:ext>
            </a:extLst>
          </p:cNvPr>
          <p:cNvSpPr txBox="1"/>
          <p:nvPr/>
        </p:nvSpPr>
        <p:spPr>
          <a:xfrm>
            <a:off x="10495980" y="2683273"/>
            <a:ext cx="14680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uso_mw</a:t>
            </a:r>
            <a:r>
              <a:rPr lang="en-US" sz="1500" b="1" dirty="0"/>
              <a:t>}} Site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88A0D5A8-1430-4CDF-93EA-2F4E1A703BCF}"/>
              </a:ext>
            </a:extLst>
          </p:cNvPr>
          <p:cNvSpPr txBox="1"/>
          <p:nvPr/>
        </p:nvSpPr>
        <p:spPr>
          <a:xfrm>
            <a:off x="11338995" y="2133936"/>
            <a:ext cx="75797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975" b="1" dirty="0" err="1">
                <a:solidFill>
                  <a:srgbClr val="15803D"/>
                </a:solidFill>
                <a:latin typeface="Plus Jakarta Sans"/>
              </a:rPr>
              <a:t>n_uso</a:t>
            </a:r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}} Site</a:t>
            </a:r>
            <a:endParaRPr sz="975" b="1" dirty="0">
              <a:solidFill>
                <a:srgbClr val="15803D"/>
              </a:solidFill>
              <a:latin typeface="Plus Jakarta Sans"/>
            </a:endParaRP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pic>
        <p:nvPicPr>
          <p:cNvPr id="71" name="Graphic 70">
            <a:extLst>
              <a:ext uri="{FF2B5EF4-FFF2-40B4-BE49-F238E27FC236}">
                <a16:creationId xmlns:a16="http://schemas.microsoft.com/office/drawing/2014/main" id="{6182134B-3BAA-8FD4-280F-BCB33DB46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9421" y="646983"/>
            <a:ext cx="5822203" cy="278201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0F6E0FA5-1236-1768-7A16-F8C9895430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90378" y="646983"/>
            <a:ext cx="5822203" cy="278201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C0B098A-48E2-EDE5-F5D1-62EFB8F453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421" y="3605468"/>
            <a:ext cx="5822203" cy="2782016"/>
          </a:xfrm>
          <a:prstGeom prst="rect">
            <a:avLst/>
          </a:prstGeom>
        </p:spPr>
      </p:pic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303ED831-9AE0-4541-A495-423D08BEBDA3}"/>
              </a:ext>
            </a:extLst>
          </p:cNvPr>
          <p:cNvSpPr/>
          <p:nvPr/>
        </p:nvSpPr>
        <p:spPr>
          <a:xfrm>
            <a:off x="6190378" y="3605468"/>
            <a:ext cx="5944472" cy="265563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1770D5-E2A4-4E96-B938-0CB2D3464253}"/>
              </a:ext>
            </a:extLst>
          </p:cNvPr>
          <p:cNvSpPr txBox="1"/>
          <p:nvPr/>
        </p:nvSpPr>
        <p:spPr>
          <a:xfrm>
            <a:off x="6441137" y="3733680"/>
            <a:ext cx="11306175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5C7A8C-0673-4BD4-AC71-164B80287FF7}"/>
              </a:ext>
            </a:extLst>
          </p:cNvPr>
          <p:cNvSpPr txBox="1"/>
          <p:nvPr/>
        </p:nvSpPr>
        <p:spPr>
          <a:xfrm>
            <a:off x="6250068" y="3992031"/>
            <a:ext cx="5818561" cy="236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100" dirty="0" err="1"/>
              <a:t>Berdasarkan</a:t>
            </a:r>
            <a:r>
              <a:rPr lang="en-US" sz="1100" dirty="0"/>
              <a:t> </a:t>
            </a:r>
            <a:r>
              <a:rPr lang="en-US" sz="1100" dirty="0" err="1"/>
              <a:t>hasil</a:t>
            </a:r>
            <a:r>
              <a:rPr lang="en-US" sz="1100" dirty="0"/>
              <a:t> </a:t>
            </a:r>
            <a:r>
              <a:rPr lang="en-US" sz="1100" dirty="0" err="1"/>
              <a:t>pantauan</a:t>
            </a:r>
            <a:r>
              <a:rPr lang="en-US" sz="1100" dirty="0"/>
              <a:t> </a:t>
            </a:r>
            <a:r>
              <a:rPr lang="en-US" sz="1100" dirty="0" err="1"/>
              <a:t>infrastruktur</a:t>
            </a:r>
            <a:r>
              <a:rPr lang="en-US" sz="1100" dirty="0"/>
              <a:t> </a:t>
            </a:r>
            <a:r>
              <a:rPr lang="en-US" sz="1100" dirty="0" err="1"/>
              <a:t>telekomunikasi</a:t>
            </a:r>
            <a:r>
              <a:rPr lang="en-US" sz="1100" dirty="0"/>
              <a:t> </a:t>
            </a:r>
            <a:r>
              <a:rPr lang="en-US" sz="1100" dirty="0" err="1"/>
              <a:t>terhadap</a:t>
            </a:r>
            <a:r>
              <a:rPr lang="en-US" sz="1100" dirty="0"/>
              <a:t> </a:t>
            </a:r>
            <a:r>
              <a:rPr lang="en-US" sz="1100" dirty="0" err="1"/>
              <a:t>kejadian</a:t>
            </a:r>
            <a:r>
              <a:rPr lang="en-US" sz="1100" dirty="0"/>
              <a:t> {{</a:t>
            </a:r>
            <a:r>
              <a:rPr lang="en-US" sz="1100" dirty="0" err="1"/>
              <a:t>jenis_kejadian</a:t>
            </a:r>
            <a:r>
              <a:rPr lang="en-US" sz="1100" dirty="0"/>
              <a:t>}}|{{</a:t>
            </a:r>
            <a:r>
              <a:rPr lang="en-US" sz="1100" dirty="0" err="1"/>
              <a:t>detail_kejadian</a:t>
            </a:r>
            <a:r>
              <a:rPr lang="en-US" sz="1100" dirty="0"/>
              <a:t>}} yang </a:t>
            </a:r>
            <a:r>
              <a:rPr lang="en-US" sz="1100" dirty="0" err="1"/>
              <a:t>terjadi</a:t>
            </a:r>
            <a:r>
              <a:rPr lang="en-US" sz="1100" dirty="0"/>
              <a:t> pada September 2026 </a:t>
            </a:r>
            <a:r>
              <a:rPr lang="en-US" sz="1100" dirty="0" err="1"/>
              <a:t>dengan</a:t>
            </a:r>
            <a:r>
              <a:rPr lang="en-US" sz="1100" dirty="0"/>
              <a:t> </a:t>
            </a:r>
            <a:r>
              <a:rPr lang="en-US" sz="1100" dirty="0" err="1"/>
              <a:t>titik</a:t>
            </a:r>
            <a:r>
              <a:rPr lang="en-US" sz="1100" dirty="0"/>
              <a:t> </a:t>
            </a:r>
            <a:r>
              <a:rPr lang="en-US" sz="1100" dirty="0" err="1"/>
              <a:t>fokus</a:t>
            </a:r>
            <a:r>
              <a:rPr lang="en-US" sz="1100" dirty="0"/>
              <a:t> {{</a:t>
            </a:r>
            <a:r>
              <a:rPr lang="en-US" sz="1100" dirty="0" err="1"/>
              <a:t>lokasi</a:t>
            </a:r>
            <a:r>
              <a:rPr lang="en-US" sz="1100" dirty="0"/>
              <a:t>}}, </a:t>
            </a:r>
            <a:r>
              <a:rPr lang="en-US" sz="1100" dirty="0" err="1"/>
              <a:t>dapat</a:t>
            </a:r>
            <a:r>
              <a:rPr lang="en-US" sz="1100" dirty="0"/>
              <a:t> </a:t>
            </a:r>
            <a:r>
              <a:rPr lang="en-US" sz="1100" dirty="0" err="1"/>
              <a:t>disimpulkan</a:t>
            </a:r>
            <a:r>
              <a:rPr lang="en-US" sz="1100" dirty="0"/>
              <a:t> </a:t>
            </a:r>
            <a:r>
              <a:rPr lang="en-US" sz="1100" dirty="0" err="1"/>
              <a:t>bahwa</a:t>
            </a:r>
            <a:r>
              <a:rPr lang="en-US" sz="1100" dirty="0"/>
              <a:t>:</a:t>
            </a:r>
          </a:p>
          <a:p>
            <a:pPr marL="228600" indent="-228600">
              <a:buAutoNum type="arabicPeriod"/>
            </a:pPr>
            <a:r>
              <a:rPr lang="en-US" sz="1100" b="1" dirty="0" err="1"/>
              <a:t>Dampak</a:t>
            </a:r>
            <a:r>
              <a:rPr lang="en-US" sz="1100" b="1" dirty="0"/>
              <a:t> </a:t>
            </a:r>
            <a:r>
              <a:rPr lang="en-US" sz="1100" b="1" dirty="0" err="1"/>
              <a:t>Infrastruktur</a:t>
            </a:r>
            <a:r>
              <a:rPr lang="en-US" sz="1100" b="1" dirty="0"/>
              <a:t>:</a:t>
            </a:r>
            <a:r>
              <a:rPr lang="en-US" sz="1100" dirty="0"/>
              <a:t> </a:t>
            </a:r>
          </a:p>
          <a:p>
            <a:r>
              <a:rPr lang="en-US" sz="1100" dirty="0" err="1"/>
              <a:t>Terdapat</a:t>
            </a:r>
            <a:r>
              <a:rPr lang="en-US" sz="1100" dirty="0"/>
              <a:t> {{</a:t>
            </a:r>
            <a:r>
              <a:rPr lang="en-US" sz="1100" dirty="0" err="1"/>
              <a:t>total_site</a:t>
            </a:r>
            <a:r>
              <a:rPr lang="en-US" sz="1100" dirty="0"/>
              <a:t>}} site BAKTI yang </a:t>
            </a:r>
            <a:r>
              <a:rPr lang="en-US" sz="1100" dirty="0" err="1"/>
              <a:t>masuk</a:t>
            </a:r>
            <a:r>
              <a:rPr lang="en-US" sz="1100" dirty="0"/>
              <a:t> </a:t>
            </a:r>
            <a:r>
              <a:rPr lang="en-US" sz="1100" dirty="0" err="1"/>
              <a:t>ke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radius </a:t>
            </a:r>
            <a:r>
              <a:rPr lang="en-US" sz="1100" dirty="0" err="1"/>
              <a:t>terdampak</a:t>
            </a:r>
            <a:r>
              <a:rPr lang="en-US" sz="1100" dirty="0"/>
              <a:t>. </a:t>
            </a:r>
            <a:r>
              <a:rPr lang="en-US" sz="1100" dirty="0" err="1"/>
              <a:t>Saat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, </a:t>
            </a:r>
            <a:r>
              <a:rPr lang="en-US" sz="1100" dirty="0" err="1"/>
              <a:t>sebanyak</a:t>
            </a:r>
            <a:r>
              <a:rPr lang="en-US" sz="1100" dirty="0"/>
              <a:t> {{</a:t>
            </a:r>
            <a:r>
              <a:rPr lang="en-US" sz="1100" dirty="0" err="1"/>
              <a:t>site_up</a:t>
            </a:r>
            <a:r>
              <a:rPr lang="en-US" sz="1100" dirty="0"/>
              <a:t>}} site </a:t>
            </a:r>
            <a:r>
              <a:rPr lang="en-US" sz="1100" dirty="0" err="1"/>
              <a:t>terpantau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</a:t>
            </a:r>
            <a:r>
              <a:rPr lang="en-US" sz="1100" dirty="0" err="1"/>
              <a:t>kondisi</a:t>
            </a:r>
            <a:r>
              <a:rPr lang="en-US" sz="1100" dirty="0"/>
              <a:t> normal (UP), </a:t>
            </a:r>
            <a:r>
              <a:rPr lang="en-US" sz="1100" dirty="0" err="1"/>
              <a:t>sedangkan</a:t>
            </a:r>
            <a:r>
              <a:rPr lang="en-US" sz="1100" dirty="0"/>
              <a:t> {{</a:t>
            </a:r>
            <a:r>
              <a:rPr lang="en-US" sz="1100" dirty="0" err="1"/>
              <a:t>site_down</a:t>
            </a:r>
            <a:r>
              <a:rPr lang="en-US" sz="1100" dirty="0"/>
              <a:t>}} site </a:t>
            </a:r>
            <a:r>
              <a:rPr lang="en-US" sz="1100" dirty="0" err="1"/>
              <a:t>mengalami</a:t>
            </a:r>
            <a:r>
              <a:rPr lang="en-US" sz="1100" dirty="0"/>
              <a:t> </a:t>
            </a:r>
            <a:r>
              <a:rPr lang="en-US" sz="1100" dirty="0" err="1"/>
              <a:t>gangguan</a:t>
            </a:r>
            <a:r>
              <a:rPr lang="en-US" sz="1100" dirty="0"/>
              <a:t> (DOWN) dan </a:t>
            </a:r>
            <a:r>
              <a:rPr lang="en-US" sz="1100" dirty="0" err="1"/>
              <a:t>memerlukan</a:t>
            </a:r>
            <a:r>
              <a:rPr lang="en-US" sz="1100" dirty="0"/>
              <a:t> </a:t>
            </a:r>
            <a:r>
              <a:rPr lang="en-US" sz="1100" dirty="0" err="1"/>
              <a:t>eskalasi</a:t>
            </a:r>
            <a:r>
              <a:rPr lang="en-US" sz="1100" dirty="0"/>
              <a:t> </a:t>
            </a:r>
            <a:r>
              <a:rPr lang="en-US" sz="1100" dirty="0" err="1"/>
              <a:t>pemulihan</a:t>
            </a:r>
            <a:r>
              <a:rPr lang="en-US" sz="1100" dirty="0"/>
              <a:t> </a:t>
            </a:r>
            <a:r>
              <a:rPr lang="en-US" sz="1100" dirty="0" err="1"/>
              <a:t>segera</a:t>
            </a:r>
            <a:r>
              <a:rPr lang="en-US" sz="1100" dirty="0"/>
              <a:t>.</a:t>
            </a:r>
          </a:p>
          <a:p>
            <a:r>
              <a:rPr lang="en-US" sz="1100" b="1" dirty="0"/>
              <a:t>2. </a:t>
            </a:r>
            <a:r>
              <a:rPr lang="en-US" sz="1100" b="1" dirty="0" err="1"/>
              <a:t>Cakupan</a:t>
            </a:r>
            <a:r>
              <a:rPr lang="en-US" sz="1100" b="1" dirty="0"/>
              <a:t> Wilayah:</a:t>
            </a:r>
          </a:p>
          <a:p>
            <a:r>
              <a:rPr lang="en-US" sz="1100" dirty="0" err="1"/>
              <a:t>Gangguan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 </a:t>
            </a:r>
            <a:r>
              <a:rPr lang="en-US" sz="1100" dirty="0" err="1"/>
              <a:t>memberikan</a:t>
            </a:r>
            <a:r>
              <a:rPr lang="en-US" sz="1100" dirty="0"/>
              <a:t> </a:t>
            </a:r>
            <a:r>
              <a:rPr lang="en-US" sz="1100" dirty="0" err="1"/>
              <a:t>imbas</a:t>
            </a:r>
            <a:r>
              <a:rPr lang="en-US" sz="1100" dirty="0"/>
              <a:t> pada </a:t>
            </a:r>
            <a:r>
              <a:rPr lang="en-US" sz="1100" dirty="0" err="1"/>
              <a:t>layanan</a:t>
            </a:r>
            <a:r>
              <a:rPr lang="en-US" sz="1100" dirty="0"/>
              <a:t> </a:t>
            </a:r>
            <a:r>
              <a:rPr lang="en-US" sz="1100" dirty="0" err="1"/>
              <a:t>komunikasi</a:t>
            </a:r>
            <a:r>
              <a:rPr lang="en-US" sz="1100" dirty="0"/>
              <a:t> </a:t>
            </a:r>
            <a:r>
              <a:rPr lang="en-US" sz="1100" dirty="0" err="1"/>
              <a:t>publik</a:t>
            </a:r>
            <a:r>
              <a:rPr lang="en-US" sz="1100" dirty="0"/>
              <a:t> yang </a:t>
            </a:r>
            <a:r>
              <a:rPr lang="en-US" sz="1100" dirty="0" err="1"/>
              <a:t>mencakup</a:t>
            </a:r>
            <a:r>
              <a:rPr lang="en-US" sz="1100" dirty="0"/>
              <a:t> {{</a:t>
            </a:r>
            <a:r>
              <a:rPr lang="en-US" sz="1100" dirty="0" err="1"/>
              <a:t>n_kab</a:t>
            </a:r>
            <a:r>
              <a:rPr lang="en-US" sz="1100" dirty="0"/>
              <a:t>}} </a:t>
            </a:r>
            <a:r>
              <a:rPr lang="en-US" sz="1100" dirty="0" err="1"/>
              <a:t>Kabupaten</a:t>
            </a:r>
            <a:r>
              <a:rPr lang="en-US" sz="1100" dirty="0"/>
              <a:t> dan {{</a:t>
            </a:r>
            <a:r>
              <a:rPr lang="en-US" sz="1100" dirty="0" err="1"/>
              <a:t>n_kec</a:t>
            </a:r>
            <a:r>
              <a:rPr lang="en-US" sz="1100" dirty="0"/>
              <a:t>}} </a:t>
            </a:r>
            <a:r>
              <a:rPr lang="en-US" sz="1100" dirty="0" err="1"/>
              <a:t>Kecamatan</a:t>
            </a:r>
            <a:r>
              <a:rPr lang="en-US" sz="1100" dirty="0"/>
              <a:t>.</a:t>
            </a:r>
          </a:p>
          <a:p>
            <a:r>
              <a:rPr lang="en-US" sz="1100" b="1" dirty="0"/>
              <a:t>3. </a:t>
            </a:r>
            <a:r>
              <a:rPr lang="en-US" sz="1100" b="1" dirty="0" err="1"/>
              <a:t>Kapasitas</a:t>
            </a:r>
            <a:r>
              <a:rPr lang="en-US" sz="1100" b="1" dirty="0"/>
              <a:t> </a:t>
            </a:r>
            <a:r>
              <a:rPr lang="en-US" sz="1100" b="1" dirty="0" err="1"/>
              <a:t>Layanan</a:t>
            </a:r>
            <a:r>
              <a:rPr lang="en-US" sz="1100" b="1" dirty="0"/>
              <a:t>:</a:t>
            </a:r>
          </a:p>
          <a:p>
            <a:r>
              <a:rPr lang="en-US" sz="1100" dirty="0" err="1"/>
              <a:t>Meski</a:t>
            </a:r>
            <a:r>
              <a:rPr lang="en-US" sz="1100" dirty="0"/>
              <a:t> </a:t>
            </a:r>
            <a:r>
              <a:rPr lang="en-US" sz="1100" dirty="0" err="1"/>
              <a:t>terjadi</a:t>
            </a:r>
            <a:r>
              <a:rPr lang="en-US" sz="1100" dirty="0"/>
              <a:t> </a:t>
            </a:r>
            <a:r>
              <a:rPr lang="en-US" sz="1100" dirty="0" err="1"/>
              <a:t>kendala</a:t>
            </a:r>
            <a:r>
              <a:rPr lang="en-US" sz="1100" dirty="0"/>
              <a:t>, </a:t>
            </a:r>
            <a:r>
              <a:rPr lang="en-US" sz="1100" dirty="0" err="1"/>
              <a:t>sisa</a:t>
            </a:r>
            <a:r>
              <a:rPr lang="en-US" sz="1100" dirty="0"/>
              <a:t> site yang </a:t>
            </a:r>
            <a:r>
              <a:rPr lang="en-US" sz="1100" dirty="0" err="1"/>
              <a:t>beroperasi</a:t>
            </a:r>
            <a:r>
              <a:rPr lang="en-US" sz="1100" dirty="0"/>
              <a:t> </a:t>
            </a:r>
            <a:r>
              <a:rPr lang="en-US" sz="1100" dirty="0" err="1"/>
              <a:t>masih</a:t>
            </a:r>
            <a:r>
              <a:rPr lang="en-US" sz="1100" dirty="0"/>
              <a:t> </a:t>
            </a:r>
            <a:r>
              <a:rPr lang="en-US" sz="1100" dirty="0" err="1"/>
              <a:t>menampung</a:t>
            </a:r>
            <a:r>
              <a:rPr lang="en-US" sz="1100" dirty="0"/>
              <a:t> </a:t>
            </a:r>
            <a:r>
              <a:rPr lang="en-US" sz="1100" dirty="0" err="1"/>
              <a:t>beban</a:t>
            </a:r>
            <a:r>
              <a:rPr lang="en-US" sz="1100" dirty="0"/>
              <a:t> traffic </a:t>
            </a:r>
            <a:r>
              <a:rPr lang="en-US" sz="1100" dirty="0" err="1"/>
              <a:t>harian</a:t>
            </a:r>
            <a:r>
              <a:rPr lang="en-US" sz="1100" dirty="0"/>
              <a:t> rata-rata </a:t>
            </a:r>
            <a:r>
              <a:rPr lang="en-US" sz="1100" dirty="0" err="1"/>
              <a:t>sebesar</a:t>
            </a:r>
            <a:r>
              <a:rPr lang="en-US" sz="1100" dirty="0"/>
              <a:t> {{</a:t>
            </a:r>
            <a:r>
              <a:rPr lang="en-US" sz="1100" dirty="0" err="1"/>
              <a:t>daily_traffic_gb</a:t>
            </a:r>
            <a:r>
              <a:rPr lang="en-US" sz="1100" dirty="0"/>
              <a:t>}} GB dan </a:t>
            </a:r>
            <a:r>
              <a:rPr lang="en-US" sz="1100" dirty="0" err="1"/>
              <a:t>melayani</a:t>
            </a:r>
            <a:r>
              <a:rPr lang="en-US" sz="1100" dirty="0"/>
              <a:t> </a:t>
            </a:r>
            <a:r>
              <a:rPr lang="en-US" sz="1100" dirty="0" err="1"/>
              <a:t>sekitar</a:t>
            </a:r>
            <a:r>
              <a:rPr lang="en-US" sz="1100" dirty="0"/>
              <a:t> {{</a:t>
            </a:r>
            <a:r>
              <a:rPr lang="en-US" sz="1100" dirty="0" err="1"/>
              <a:t>active_users</a:t>
            </a:r>
            <a:r>
              <a:rPr lang="en-US" sz="1100" dirty="0"/>
              <a:t>}} </a:t>
            </a:r>
            <a:r>
              <a:rPr lang="en-US" sz="1100" dirty="0" err="1"/>
              <a:t>pengguna</a:t>
            </a:r>
            <a:r>
              <a:rPr lang="en-US" sz="1100" dirty="0"/>
              <a:t> </a:t>
            </a:r>
            <a:r>
              <a:rPr lang="en-US" sz="1100" dirty="0" err="1"/>
              <a:t>aktif</a:t>
            </a:r>
            <a:r>
              <a:rPr lang="en-US" sz="1100" dirty="0"/>
              <a:t> (peak users).</a:t>
            </a:r>
          </a:p>
          <a:p>
            <a:endParaRPr lang="en-US" sz="1100" dirty="0" err="1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5B236CE3-4A12-471B-A02D-75D8FF9ECD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6604" y="3764390"/>
            <a:ext cx="171450" cy="1714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242873E-AE2C-4B8B-8EDA-4AE2F79DEF85}"/>
              </a:ext>
            </a:extLst>
          </p:cNvPr>
          <p:cNvSpPr/>
          <p:nvPr/>
        </p:nvSpPr>
        <p:spPr>
          <a:xfrm>
            <a:off x="1466865" y="977601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520</Words>
  <Application>Microsoft Office PowerPoint</Application>
  <PresentationFormat>Widescreen</PresentationFormat>
  <Paragraphs>62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Montserrat</vt:lpstr>
      <vt:lpstr>Arial</vt:lpstr>
      <vt:lpstr>Calibri</vt:lpstr>
      <vt:lpstr>Yu Gothic</vt:lpstr>
      <vt:lpstr>Segoe UI</vt:lpstr>
      <vt:lpstr>Barlow</vt:lpstr>
      <vt:lpstr>Plus Jakarta Sans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26</cp:revision>
  <dcterms:created xsi:type="dcterms:W3CDTF">2013-01-27T09:14:16Z</dcterms:created>
  <dcterms:modified xsi:type="dcterms:W3CDTF">2026-09-24T23:24:38Z</dcterms:modified>
  <cp:category/>
</cp:coreProperties>
</file>
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5"/>
  </p:notesMasterIdLst>
  <p:sldIdLst>
    <p:sldId id="259" r:id="rId2"/>
    <p:sldId id="2147474856" r:id="rId3"/>
    <p:sldId id="2147474857" r:id="rId4"/>
  </p:sldIdLst>
  <p:sldSz cx="12192000" cy="6858000"/>
  <p:notesSz cx="6858000" cy="9144000"/>
  <p:embeddedFontLst>
    <p:embeddedFont>
      <p:font typeface="Yu Gothic" panose="020B0400000000000000" pitchFamily="34" charset="-128"/>
      <p:regular r:id="rId6"/>
      <p:bold r:id="rId7"/>
    </p:embeddedFont>
    <p:embeddedFont>
      <p:font typeface="Barlow" panose="00000500000000000000" pitchFamily="2" charset="0"/>
      <p:regular r:id="rId8"/>
      <p:bold r:id="rId9"/>
      <p:italic r:id="rId10"/>
      <p:boldItalic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Montserrat" panose="00000500000000000000" pitchFamily="2" charset="0"/>
      <p:regular r:id="rId16"/>
      <p:bold r:id="rId17"/>
      <p:italic r:id="rId18"/>
      <p:boldItalic r:id="rId19"/>
    </p:embeddedFont>
    <p:embeddedFont>
      <p:font typeface="Plus Jakarta Sans"/>
      <p:italic r:id="rId20"/>
    </p:embeddedFont>
    <p:embeddedFont>
      <p:font typeface="Segoe UI" panose="020B0502040204020203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33CCCC"/>
    <a:srgbClr val="45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96" autoAdjust="0"/>
    <p:restoredTop sz="82115" autoAdjust="0"/>
  </p:normalViewPr>
  <p:slideViewPr>
    <p:cSldViewPr snapToGrid="0" snapToObjects="1">
      <p:cViewPr varScale="1">
        <p:scale>
          <a:sx n="83" d="100"/>
          <a:sy n="83" d="100"/>
        </p:scale>
        <p:origin x="30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font" Target="fonts/font1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6.fntdata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24" Type="http://schemas.openxmlformats.org/officeDocument/2006/relationships/font" Target="fonts/font19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openxmlformats.org/officeDocument/2006/relationships/font" Target="fonts/font18.fntdata"/><Relationship Id="rId28" Type="http://schemas.openxmlformats.org/officeDocument/2006/relationships/tableStyles" Target="tableStyles.xml"/><Relationship Id="rId10" Type="http://schemas.openxmlformats.org/officeDocument/2006/relationships/font" Target="fonts/font5.fntdata"/><Relationship Id="rId19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openxmlformats.org/officeDocument/2006/relationships/font" Target="fonts/font17.fntdata"/><Relationship Id="rId27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F55DB-804C-42BF-85A9-7EC675B140D9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569A0-6D7E-4193-BF44-2C9C6E1B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29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34259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9827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10" Type="http://schemas.openxmlformats.org/officeDocument/2006/relationships/image" Target="../media/image2.png"/><Relationship Id="rId4" Type="http://schemas.openxmlformats.org/officeDocument/2006/relationships/tags" Target="../tags/tag3.xml"/><Relationship Id="rId9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61872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6"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4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304CBC1-1FFE-842D-AF77-4C0066BF916A}"/>
              </a:ext>
            </a:extLst>
          </p:cNvPr>
          <p:cNvSpPr/>
          <p:nvPr userDrawn="1"/>
        </p:nvSpPr>
        <p:spPr>
          <a:xfrm>
            <a:off x="948534" y="-1"/>
            <a:ext cx="11251631" cy="565568"/>
          </a:xfrm>
          <a:custGeom>
            <a:avLst/>
            <a:gdLst>
              <a:gd name="connsiteX0" fmla="*/ 0 w 11230500"/>
              <a:gd name="connsiteY0" fmla="*/ 0 h 565568"/>
              <a:gd name="connsiteX1" fmla="*/ 11230500 w 11230500"/>
              <a:gd name="connsiteY1" fmla="*/ 0 h 565568"/>
              <a:gd name="connsiteX2" fmla="*/ 11230500 w 11230500"/>
              <a:gd name="connsiteY2" fmla="*/ 565568 h 565568"/>
              <a:gd name="connsiteX3" fmla="*/ 237664 w 11230500"/>
              <a:gd name="connsiteY3" fmla="*/ 565568 h 565568"/>
              <a:gd name="connsiteX4" fmla="*/ 0 w 11230500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30500" h="565568">
                <a:moveTo>
                  <a:pt x="0" y="0"/>
                </a:moveTo>
                <a:lnTo>
                  <a:pt x="11230500" y="0"/>
                </a:lnTo>
                <a:lnTo>
                  <a:pt x="11230500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rgbClr val="0D8885"/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5E0CF19-CFF4-3C2C-53F7-BE938C6EBAEC}"/>
              </a:ext>
            </a:extLst>
          </p:cNvPr>
          <p:cNvSpPr/>
          <p:nvPr userDrawn="1"/>
        </p:nvSpPr>
        <p:spPr>
          <a:xfrm>
            <a:off x="897226" y="-1"/>
            <a:ext cx="294162" cy="565568"/>
          </a:xfrm>
          <a:custGeom>
            <a:avLst/>
            <a:gdLst>
              <a:gd name="connsiteX0" fmla="*/ 0 w 294162"/>
              <a:gd name="connsiteY0" fmla="*/ 0 h 565568"/>
              <a:gd name="connsiteX1" fmla="*/ 56498 w 294162"/>
              <a:gd name="connsiteY1" fmla="*/ 0 h 565568"/>
              <a:gd name="connsiteX2" fmla="*/ 294162 w 294162"/>
              <a:gd name="connsiteY2" fmla="*/ 565568 h 565568"/>
              <a:gd name="connsiteX3" fmla="*/ 237664 w 294162"/>
              <a:gd name="connsiteY3" fmla="*/ 565568 h 565568"/>
              <a:gd name="connsiteX4" fmla="*/ 0 w 294162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4162" h="565568">
                <a:moveTo>
                  <a:pt x="0" y="0"/>
                </a:moveTo>
                <a:lnTo>
                  <a:pt x="56498" y="0"/>
                </a:lnTo>
                <a:lnTo>
                  <a:pt x="294162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grpSp>
        <p:nvGrpSpPr>
          <p:cNvPr id="6" name="Graphic 18">
            <a:extLst>
              <a:ext uri="{FF2B5EF4-FFF2-40B4-BE49-F238E27FC236}">
                <a16:creationId xmlns:a16="http://schemas.microsoft.com/office/drawing/2014/main" id="{352C51F7-4983-4630-E6EB-7C9482A9D799}"/>
              </a:ext>
            </a:extLst>
          </p:cNvPr>
          <p:cNvGrpSpPr/>
          <p:nvPr userDrawn="1"/>
        </p:nvGrpSpPr>
        <p:grpSpPr>
          <a:xfrm>
            <a:off x="10676978" y="5522"/>
            <a:ext cx="938936" cy="545267"/>
            <a:chOff x="10226421" y="3043494"/>
            <a:chExt cx="1323883" cy="768817"/>
          </a:xfrm>
          <a:solidFill>
            <a:srgbClr val="0A7771"/>
          </a:solidFill>
        </p:grpSpPr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FA34602D-1021-A147-741B-57A82D29B340}"/>
                </a:ext>
              </a:extLst>
            </p:cNvPr>
            <p:cNvSpPr/>
            <p:nvPr/>
          </p:nvSpPr>
          <p:spPr>
            <a:xfrm>
              <a:off x="10781551" y="3470558"/>
              <a:ext cx="341688" cy="341752"/>
            </a:xfrm>
            <a:custGeom>
              <a:avLst/>
              <a:gdLst>
                <a:gd name="connsiteX0" fmla="*/ 0 w 341689"/>
                <a:gd name="connsiteY0" fmla="*/ 3 h 341752"/>
                <a:gd name="connsiteX1" fmla="*/ 0 w 341689"/>
                <a:gd name="connsiteY1" fmla="*/ 128191 h 341752"/>
                <a:gd name="connsiteX2" fmla="*/ 213501 w 341689"/>
                <a:gd name="connsiteY2" fmla="*/ 341693 h 341752"/>
                <a:gd name="connsiteX3" fmla="*/ 213501 w 341689"/>
                <a:gd name="connsiteY3" fmla="*/ 341755 h 341752"/>
                <a:gd name="connsiteX4" fmla="*/ 341689 w 341689"/>
                <a:gd name="connsiteY4" fmla="*/ 341755 h 341752"/>
                <a:gd name="connsiteX5" fmla="*/ 0 w 341689"/>
                <a:gd name="connsiteY5" fmla="*/ 3 h 34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689" h="341752">
                  <a:moveTo>
                    <a:pt x="0" y="3"/>
                  </a:moveTo>
                  <a:lnTo>
                    <a:pt x="0" y="128191"/>
                  </a:lnTo>
                  <a:cubicBezTo>
                    <a:pt x="117909" y="128191"/>
                    <a:pt x="213501" y="223778"/>
                    <a:pt x="213501" y="341693"/>
                  </a:cubicBezTo>
                  <a:cubicBezTo>
                    <a:pt x="213501" y="341711"/>
                    <a:pt x="213501" y="341736"/>
                    <a:pt x="213501" y="341755"/>
                  </a:cubicBezTo>
                  <a:lnTo>
                    <a:pt x="341689" y="341755"/>
                  </a:lnTo>
                  <a:cubicBezTo>
                    <a:pt x="341689" y="153035"/>
                    <a:pt x="188741" y="37"/>
                    <a:pt x="0" y="3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3DDAF9C1-6546-123D-19BF-787B34B727BE}"/>
                </a:ext>
              </a:extLst>
            </p:cNvPr>
            <p:cNvSpPr/>
            <p:nvPr/>
          </p:nvSpPr>
          <p:spPr>
            <a:xfrm>
              <a:off x="10226421" y="3262894"/>
              <a:ext cx="1110568" cy="549417"/>
            </a:xfrm>
            <a:custGeom>
              <a:avLst/>
              <a:gdLst>
                <a:gd name="connsiteX0" fmla="*/ 555127 w 1110568"/>
                <a:gd name="connsiteY0" fmla="*/ 122230 h 549416"/>
                <a:gd name="connsiteX1" fmla="*/ 982443 w 1110568"/>
                <a:gd name="connsiteY1" fmla="*/ 549169 h 549416"/>
                <a:gd name="connsiteX2" fmla="*/ 982443 w 1110568"/>
                <a:gd name="connsiteY2" fmla="*/ 549420 h 549416"/>
                <a:gd name="connsiteX3" fmla="*/ 1110569 w 1110568"/>
                <a:gd name="connsiteY3" fmla="*/ 549420 h 549416"/>
                <a:gd name="connsiteX4" fmla="*/ 549361 w 1110568"/>
                <a:gd name="connsiteY4" fmla="*/ 35 h 549416"/>
                <a:gd name="connsiteX5" fmla="*/ 0 w 1110568"/>
                <a:gd name="connsiteY5" fmla="*/ 549420 h 549416"/>
                <a:gd name="connsiteX6" fmla="*/ 128125 w 1110568"/>
                <a:gd name="connsiteY6" fmla="*/ 549420 h 549416"/>
                <a:gd name="connsiteX7" fmla="*/ 555378 w 1110568"/>
                <a:gd name="connsiteY7" fmla="*/ 122230 h 54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0568" h="549416">
                  <a:moveTo>
                    <a:pt x="555127" y="122230"/>
                  </a:moveTo>
                  <a:cubicBezTo>
                    <a:pt x="791007" y="122126"/>
                    <a:pt x="982318" y="313273"/>
                    <a:pt x="982443" y="549169"/>
                  </a:cubicBezTo>
                  <a:cubicBezTo>
                    <a:pt x="982443" y="549251"/>
                    <a:pt x="982443" y="549338"/>
                    <a:pt x="982443" y="549420"/>
                  </a:cubicBezTo>
                  <a:lnTo>
                    <a:pt x="1110569" y="549420"/>
                  </a:lnTo>
                  <a:cubicBezTo>
                    <a:pt x="1107310" y="242745"/>
                    <a:pt x="856072" y="-3223"/>
                    <a:pt x="549361" y="35"/>
                  </a:cubicBezTo>
                  <a:cubicBezTo>
                    <a:pt x="247287" y="3244"/>
                    <a:pt x="3197" y="247343"/>
                    <a:pt x="0" y="549420"/>
                  </a:cubicBezTo>
                  <a:lnTo>
                    <a:pt x="128125" y="549420"/>
                  </a:lnTo>
                  <a:cubicBezTo>
                    <a:pt x="128188" y="313479"/>
                    <a:pt x="319436" y="122230"/>
                    <a:pt x="555378" y="122230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3" name="Freeform: Shape 14">
              <a:extLst>
                <a:ext uri="{FF2B5EF4-FFF2-40B4-BE49-F238E27FC236}">
                  <a16:creationId xmlns:a16="http://schemas.microsoft.com/office/drawing/2014/main" id="{C5E8D7AC-46D0-E8A8-C0F2-6D30BC35250B}"/>
                </a:ext>
              </a:extLst>
            </p:cNvPr>
            <p:cNvSpPr/>
            <p:nvPr/>
          </p:nvSpPr>
          <p:spPr>
            <a:xfrm>
              <a:off x="10781301" y="3043494"/>
              <a:ext cx="769003" cy="768817"/>
            </a:xfrm>
            <a:custGeom>
              <a:avLst/>
              <a:gdLst>
                <a:gd name="connsiteX0" fmla="*/ 250 w 769004"/>
                <a:gd name="connsiteY0" fmla="*/ 3 h 768817"/>
                <a:gd name="connsiteX1" fmla="*/ 769005 w 769004"/>
                <a:gd name="connsiteY1" fmla="*/ 768757 h 768817"/>
                <a:gd name="connsiteX2" fmla="*/ 769005 w 769004"/>
                <a:gd name="connsiteY2" fmla="*/ 768820 h 768817"/>
                <a:gd name="connsiteX3" fmla="*/ 640691 w 769004"/>
                <a:gd name="connsiteY3" fmla="*/ 768820 h 768817"/>
                <a:gd name="connsiteX4" fmla="*/ 187 w 769004"/>
                <a:gd name="connsiteY4" fmla="*/ 128191 h 768817"/>
                <a:gd name="connsiteX5" fmla="*/ 0 w 769004"/>
                <a:gd name="connsiteY5" fmla="*/ 128191 h 768817"/>
                <a:gd name="connsiteX6" fmla="*/ 0 w 769004"/>
                <a:gd name="connsiteY6" fmla="*/ 3 h 76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9004" h="768817">
                  <a:moveTo>
                    <a:pt x="250" y="3"/>
                  </a:moveTo>
                  <a:cubicBezTo>
                    <a:pt x="424808" y="3"/>
                    <a:pt x="769005" y="344186"/>
                    <a:pt x="769005" y="768757"/>
                  </a:cubicBezTo>
                  <a:cubicBezTo>
                    <a:pt x="769005" y="768776"/>
                    <a:pt x="769005" y="768801"/>
                    <a:pt x="769005" y="768820"/>
                  </a:cubicBezTo>
                  <a:lnTo>
                    <a:pt x="640691" y="768820"/>
                  </a:lnTo>
                  <a:cubicBezTo>
                    <a:pt x="640754" y="415045"/>
                    <a:pt x="353975" y="128226"/>
                    <a:pt x="187" y="128191"/>
                  </a:cubicBezTo>
                  <a:cubicBezTo>
                    <a:pt x="125" y="128191"/>
                    <a:pt x="63" y="128191"/>
                    <a:pt x="0" y="128191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4A999A-29A6-F216-5211-2BC1F8FBFD6B}"/>
              </a:ext>
            </a:extLst>
          </p:cNvPr>
          <p:cNvSpPr/>
          <p:nvPr userDrawn="1"/>
        </p:nvSpPr>
        <p:spPr>
          <a:xfrm>
            <a:off x="11811955" y="113637"/>
            <a:ext cx="388210" cy="329036"/>
          </a:xfrm>
          <a:prstGeom prst="rect">
            <a:avLst/>
          </a:prstGeom>
          <a:solidFill>
            <a:srgbClr val="F7BB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7112AC0E-81AA-20D8-4884-383C690BBDD8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839227" y="219847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C8C1AF25-19F6-4086-329C-65EDCF26ACC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ltGray">
          <a:xfrm>
            <a:off x="1255662" y="85794"/>
            <a:ext cx="10556293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>
            <a:lvl1pPr>
              <a:buClr>
                <a:schemeClr val="tx1"/>
              </a:buClr>
              <a:defRPr lang="en-US" sz="160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B71E2-D2DD-6266-C40C-CCDF5543E67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96" y="88948"/>
            <a:ext cx="684393" cy="43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3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498521-945B-C339-E3DA-1B5DB9758572}"/>
              </a:ext>
            </a:extLst>
          </p:cNvPr>
          <p:cNvGrpSpPr/>
          <p:nvPr/>
        </p:nvGrpSpPr>
        <p:grpSpPr>
          <a:xfrm>
            <a:off x="-61151" y="-15863"/>
            <a:ext cx="6157151" cy="6872332"/>
            <a:chOff x="761998" y="-21498"/>
            <a:chExt cx="9235727" cy="1030849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14AD95-F7F3-B0B4-7FA7-23043184F595}"/>
                </a:ext>
              </a:extLst>
            </p:cNvPr>
            <p:cNvGrpSpPr/>
            <p:nvPr/>
          </p:nvGrpSpPr>
          <p:grpSpPr>
            <a:xfrm>
              <a:off x="761998" y="-21498"/>
              <a:ext cx="9235727" cy="10308498"/>
              <a:chOff x="-672193" y="-21498"/>
              <a:chExt cx="9235727" cy="1030849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7D7C739-1A6A-E5A9-5A75-7D9ADB3BEC70}"/>
                  </a:ext>
                </a:extLst>
              </p:cNvPr>
              <p:cNvGrpSpPr/>
              <p:nvPr/>
            </p:nvGrpSpPr>
            <p:grpSpPr>
              <a:xfrm>
                <a:off x="-672193" y="-21498"/>
                <a:ext cx="9235727" cy="10308498"/>
                <a:chOff x="-623430" y="419100"/>
                <a:chExt cx="8549925" cy="9543039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4F3400B8-8409-BDEE-4361-C00B9E1DAF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2621" b="8504"/>
                <a:stretch/>
              </p:blipFill>
              <p:spPr>
                <a:xfrm>
                  <a:off x="-623429" y="419100"/>
                  <a:ext cx="8549924" cy="9543039"/>
                </a:xfrm>
                <a:prstGeom prst="rect">
                  <a:avLst/>
                </a:prstGeom>
              </p:spPr>
            </p:pic>
            <p:sp>
              <p:nvSpPr>
                <p:cNvPr id="12" name="Flowchart: Delay 11">
                  <a:extLst>
                    <a:ext uri="{FF2B5EF4-FFF2-40B4-BE49-F238E27FC236}">
                      <a16:creationId xmlns:a16="http://schemas.microsoft.com/office/drawing/2014/main" id="{FE9983B0-3A9F-5240-E031-6299598C34F8}"/>
                    </a:ext>
                  </a:extLst>
                </p:cNvPr>
                <p:cNvSpPr/>
                <p:nvPr/>
              </p:nvSpPr>
              <p:spPr>
                <a:xfrm>
                  <a:off x="-623430" y="3543300"/>
                  <a:ext cx="4533345" cy="1828800"/>
                </a:xfrm>
                <a:prstGeom prst="flowChartDelay">
                  <a:avLst/>
                </a:prstGeom>
                <a:solidFill>
                  <a:srgbClr val="178B8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 sz="1200"/>
                </a:p>
              </p:txBody>
            </p: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D83D349-0273-9BC7-8A0C-D7EA85ED654E}"/>
                  </a:ext>
                </a:extLst>
              </p:cNvPr>
              <p:cNvSpPr/>
              <p:nvPr/>
            </p:nvSpPr>
            <p:spPr>
              <a:xfrm>
                <a:off x="-410130" y="266700"/>
                <a:ext cx="3096062" cy="2362200"/>
              </a:xfrm>
              <a:prstGeom prst="rect">
                <a:avLst/>
              </a:prstGeom>
              <a:solidFill>
                <a:srgbClr val="178B8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sz="1200"/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842CDF-314C-7728-FC7C-78CEF441EEAA}"/>
                </a:ext>
              </a:extLst>
            </p:cNvPr>
            <p:cNvSpPr/>
            <p:nvPr/>
          </p:nvSpPr>
          <p:spPr>
            <a:xfrm>
              <a:off x="761998" y="-21498"/>
              <a:ext cx="3581401" cy="6462695"/>
            </a:xfrm>
            <a:prstGeom prst="roundRect">
              <a:avLst>
                <a:gd name="adj" fmla="val 0"/>
              </a:avLst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991349" y="1459359"/>
            <a:ext cx="4536435" cy="28647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4"/>
              </a:lnSpc>
            </a:pPr>
            <a:endParaRPr lang="en-US" sz="3200" b="1" i="0" u="none" dirty="0">
              <a:solidFill>
                <a:srgbClr val="009999"/>
              </a:solidFill>
              <a:latin typeface="+mj-lt"/>
            </a:endParaRPr>
          </a:p>
          <a:p>
            <a:pPr algn="l">
              <a:lnSpc>
                <a:spcPts val="4484"/>
              </a:lnSpc>
            </a:pPr>
            <a:r>
              <a:rPr lang="en-US" sz="3200" b="1" i="0" u="none" dirty="0">
                <a:solidFill>
                  <a:srgbClr val="009999"/>
                </a:solidFill>
                <a:latin typeface="+mj-lt"/>
              </a:rPr>
              <a:t>FLASH PERFORMANCE REPORT INFRASTRUKTUR BTS BAKTI</a:t>
            </a: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CE0C4-FEE6-ED6C-C17A-82D19E126906}"/>
              </a:ext>
            </a:extLst>
          </p:cNvPr>
          <p:cNvSpPr txBox="1"/>
          <p:nvPr/>
        </p:nvSpPr>
        <p:spPr>
          <a:xfrm>
            <a:off x="406400" y="2567641"/>
            <a:ext cx="259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1200" dirty="0">
                <a:solidFill>
                  <a:schemeClr val="bg1"/>
                </a:solidFill>
                <a:latin typeface="Montserrat" pitchFamily="2" charset="0"/>
              </a:rPr>
              <a:t>PEMERATAAN KONEKTIVITAS DIGITAL DALAM MENDUKUNG PRODUKTIVITAS MASYARAKAT MENUJU INDONESIA MAJU 2045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F416A83-37F7-0924-5B09-FE47A344C03E}"/>
              </a:ext>
            </a:extLst>
          </p:cNvPr>
          <p:cNvGrpSpPr/>
          <p:nvPr/>
        </p:nvGrpSpPr>
        <p:grpSpPr>
          <a:xfrm>
            <a:off x="6996017" y="4863642"/>
            <a:ext cx="4133890" cy="101600"/>
            <a:chOff x="9448800" y="5448300"/>
            <a:chExt cx="6200835" cy="1524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9205CC-199D-68BC-66D9-B30087112613}"/>
                </a:ext>
              </a:extLst>
            </p:cNvPr>
            <p:cNvCxnSpPr>
              <a:cxnSpLocks/>
            </p:cNvCxnSpPr>
            <p:nvPr/>
          </p:nvCxnSpPr>
          <p:spPr>
            <a:xfrm>
              <a:off x="9559019" y="5524500"/>
              <a:ext cx="6090616" cy="0"/>
            </a:xfrm>
            <a:prstGeom prst="line">
              <a:avLst/>
            </a:prstGeom>
            <a:ln w="28575">
              <a:solidFill>
                <a:srgbClr val="178B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00AD8F-F521-8930-47FD-57D28CADF999}"/>
                </a:ext>
              </a:extLst>
            </p:cNvPr>
            <p:cNvSpPr/>
            <p:nvPr/>
          </p:nvSpPr>
          <p:spPr>
            <a:xfrm>
              <a:off x="9448800" y="5448300"/>
              <a:ext cx="152400" cy="152400"/>
            </a:xfrm>
            <a:prstGeom prst="ellipse">
              <a:avLst/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5310FE9D-2816-D94C-BC8E-35D55DA33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453608"/>
            <a:ext cx="2064041" cy="6569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E2B201-2300-4BF6-AF8F-4BEB0009BCA3}"/>
              </a:ext>
            </a:extLst>
          </p:cNvPr>
          <p:cNvSpPr txBox="1"/>
          <p:nvPr/>
        </p:nvSpPr>
        <p:spPr>
          <a:xfrm>
            <a:off x="6996017" y="5082975"/>
            <a:ext cx="78521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500" b="1" i="0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Kejadian</a:t>
            </a:r>
            <a:r>
              <a:rPr lang="en-US" sz="1500" b="1" i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</a:t>
            </a:r>
            <a:endParaRPr lang="en-US" sz="1500" b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endParaRPr sz="1500" b="1" i="0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1D437-BDD7-4D2E-A06F-5A68C6EB0566}"/>
              </a:ext>
            </a:extLst>
          </p:cNvPr>
          <p:cNvSpPr txBox="1"/>
          <p:nvPr/>
        </p:nvSpPr>
        <p:spPr>
          <a:xfrm>
            <a:off x="6991349" y="5344978"/>
            <a:ext cx="2374048" cy="51937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Periode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Analisis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: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                                          </a:t>
            </a:r>
          </a:p>
          <a:p>
            <a:pPr algn="l"/>
            <a:endParaRPr lang="en-US" sz="1125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r>
              <a:rPr lang="en-US"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Query 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Data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BAKTIOSS</a:t>
            </a:r>
            <a:endParaRPr sz="1125" b="0" i="1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C005E-2144-40AC-B98E-62F89F7FA2BE}"/>
              </a:ext>
            </a:extLst>
          </p:cNvPr>
          <p:cNvSpPr txBox="1"/>
          <p:nvPr/>
        </p:nvSpPr>
        <p:spPr>
          <a:xfrm>
            <a:off x="7775346" y="5038642"/>
            <a:ext cx="31653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jenis_kejadian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}}|{{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detail_kejadian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500" dirty="0">
              <a:latin typeface="+mj-lt"/>
            </a:endParaRPr>
          </a:p>
          <a:p>
            <a:endParaRPr lang="en-US" sz="15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E11C5-E0C3-4AFD-A437-CDE04C53E43A}"/>
              </a:ext>
            </a:extLst>
          </p:cNvPr>
          <p:cNvSpPr txBox="1"/>
          <p:nvPr/>
        </p:nvSpPr>
        <p:spPr>
          <a:xfrm>
            <a:off x="7867398" y="5286987"/>
            <a:ext cx="1293944" cy="266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13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waktu_kejadian</a:t>
            </a:r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13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D67FC-E856-47B8-9A68-9B7855A5814F}"/>
              </a:ext>
            </a:extLst>
          </p:cNvPr>
          <p:cNvSpPr txBox="1"/>
          <p:nvPr/>
        </p:nvSpPr>
        <p:spPr>
          <a:xfrm>
            <a:off x="6916347" y="3776323"/>
            <a:ext cx="17297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9999"/>
                </a:solidFill>
                <a:latin typeface="+mj-lt"/>
              </a:rPr>
              <a:t>{{</a:t>
            </a:r>
            <a:r>
              <a:rPr lang="en-US" sz="3200" b="1" dirty="0" err="1">
                <a:solidFill>
                  <a:srgbClr val="009999"/>
                </a:solidFill>
                <a:latin typeface="+mj-lt"/>
              </a:rPr>
              <a:t>lokasi</a:t>
            </a:r>
            <a:r>
              <a:rPr lang="en-US" sz="3200" b="1" dirty="0">
                <a:solidFill>
                  <a:srgbClr val="009999"/>
                </a:solidFill>
                <a:latin typeface="+mj-lt"/>
              </a:rPr>
              <a:t>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45B2B2">
                <a:alpha val="3922"/>
              </a:srgbClr>
            </a:gs>
            <a:gs pos="4000">
              <a:schemeClr val="bg1">
                <a:lumMod val="95000"/>
              </a:schemeClr>
            </a:gs>
            <a:gs pos="34000">
              <a:srgbClr val="33CCCC">
                <a:alpha val="7843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F8F99-3823-417E-6AC0-24BB50396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7895126-185E-A066-2F64-C53820A5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Ringkasan Laporan Performansi BTS BAKTI</a:t>
            </a:r>
            <a:endParaRPr lang="en-ID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A1A4DF-681A-E301-9399-3AEE7549D465}"/>
              </a:ext>
            </a:extLst>
          </p:cNvPr>
          <p:cNvGrpSpPr/>
          <p:nvPr/>
        </p:nvGrpSpPr>
        <p:grpSpPr>
          <a:xfrm>
            <a:off x="102567" y="666886"/>
            <a:ext cx="5392608" cy="4312224"/>
            <a:chOff x="179422" y="692319"/>
            <a:chExt cx="5291304" cy="424771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4B91F26-0897-8800-EB57-E30EF3626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9422" y="692319"/>
              <a:ext cx="5291304" cy="424771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4FFE6E2-C1A1-0402-8BDD-C9F2D8602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747" y="748100"/>
              <a:ext cx="847515" cy="1297293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4E1FF0C-6EB4-4C1E-9CD2-4B5695C97159}"/>
              </a:ext>
            </a:extLst>
          </p:cNvPr>
          <p:cNvGrpSpPr/>
          <p:nvPr/>
        </p:nvGrpSpPr>
        <p:grpSpPr>
          <a:xfrm>
            <a:off x="159970" y="5031042"/>
            <a:ext cx="11934845" cy="1969255"/>
            <a:chOff x="179420" y="5405554"/>
            <a:chExt cx="11934845" cy="1969255"/>
          </a:xfrm>
        </p:grpSpPr>
        <p:sp>
          <p:nvSpPr>
            <p:cNvPr id="71" name="Rounded Rectangle 2">
              <a:extLst>
                <a:ext uri="{FF2B5EF4-FFF2-40B4-BE49-F238E27FC236}">
                  <a16:creationId xmlns:a16="http://schemas.microsoft.com/office/drawing/2014/main" id="{D6BD7CEC-88FE-451C-BB26-C9909EFB9A33}"/>
                </a:ext>
              </a:extLst>
            </p:cNvPr>
            <p:cNvSpPr/>
            <p:nvPr/>
          </p:nvSpPr>
          <p:spPr>
            <a:xfrm>
              <a:off x="179420" y="5405554"/>
              <a:ext cx="11934845" cy="1795207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25FC9B3-BB80-4969-9670-A24790CF56BB}"/>
                </a:ext>
              </a:extLst>
            </p:cNvPr>
            <p:cNvSpPr txBox="1"/>
            <p:nvPr/>
          </p:nvSpPr>
          <p:spPr>
            <a:xfrm>
              <a:off x="430179" y="5468137"/>
              <a:ext cx="11306175" cy="219075"/>
            </a:xfrm>
            <a:prstGeom prst="rect">
              <a:avLst/>
            </a:prstGeom>
            <a:noFill/>
          </p:spPr>
          <p:txBody>
            <a:bodyPr wrap="none" lIns="24765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Kesimpulan &amp;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Analisis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Tren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Layanan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D090B5D-10E7-4B70-B4C1-4681B836315C}"/>
                </a:ext>
              </a:extLst>
            </p:cNvPr>
            <p:cNvSpPr txBox="1"/>
            <p:nvPr/>
          </p:nvSpPr>
          <p:spPr>
            <a:xfrm>
              <a:off x="239110" y="5682038"/>
              <a:ext cx="11875155" cy="169277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lang="en-US" sz="1100" dirty="0" err="1"/>
                <a:t>Berdasarkan</a:t>
              </a:r>
              <a:r>
                <a:rPr lang="en-US" sz="1100" dirty="0"/>
                <a:t> </a:t>
              </a:r>
              <a:r>
                <a:rPr lang="en-US" sz="1100" dirty="0" err="1"/>
                <a:t>hasil</a:t>
              </a:r>
              <a:r>
                <a:rPr lang="en-US" sz="1100" dirty="0"/>
                <a:t> </a:t>
              </a:r>
              <a:r>
                <a:rPr lang="en-US" sz="1100" dirty="0" err="1"/>
                <a:t>pantauan</a:t>
              </a:r>
              <a:r>
                <a:rPr lang="en-US" sz="1100" dirty="0"/>
                <a:t> </a:t>
              </a:r>
              <a:r>
                <a:rPr lang="en-US" sz="1100" dirty="0" err="1"/>
                <a:t>infrastruktur</a:t>
              </a:r>
              <a:r>
                <a:rPr lang="en-US" sz="1100" dirty="0"/>
                <a:t> </a:t>
              </a:r>
              <a:r>
                <a:rPr lang="en-US" sz="1100" dirty="0" err="1"/>
                <a:t>telekomunikasi</a:t>
              </a:r>
              <a:r>
                <a:rPr lang="en-US" sz="1100" dirty="0"/>
                <a:t> </a:t>
              </a:r>
              <a:r>
                <a:rPr lang="en-US" sz="1100" dirty="0" err="1"/>
                <a:t>terhadap</a:t>
              </a:r>
              <a:r>
                <a:rPr lang="en-US" sz="1100" dirty="0"/>
                <a:t> </a:t>
              </a:r>
              <a:r>
                <a:rPr lang="en-US" sz="1100" dirty="0" err="1"/>
                <a:t>kejadian</a:t>
              </a:r>
              <a:r>
                <a:rPr lang="en-US" sz="1100" dirty="0"/>
                <a:t> </a:t>
              </a:r>
              <a:r>
                <a:rPr lang="en-US" sz="1100" dirty="0" err="1"/>
                <a:t>Gempa</a:t>
              </a:r>
              <a:r>
                <a:rPr lang="en-US" sz="1100" dirty="0"/>
                <a:t> </a:t>
              </a:r>
              <a:r>
                <a:rPr lang="en-US" sz="1100" dirty="0" err="1"/>
                <a:t>Bumi</a:t>
              </a:r>
              <a:r>
                <a:rPr lang="en-US" sz="1100" dirty="0"/>
                <a:t> (6.2 Mag) yang </a:t>
              </a:r>
              <a:r>
                <a:rPr lang="en-US" sz="1100" dirty="0" err="1"/>
                <a:t>terjadi</a:t>
              </a:r>
              <a:r>
                <a:rPr lang="en-US" sz="1100" dirty="0"/>
                <a:t> pada September 2026 </a:t>
              </a:r>
              <a:r>
                <a:rPr lang="en-US" sz="1100" dirty="0" err="1"/>
                <a:t>dengan</a:t>
              </a:r>
              <a:r>
                <a:rPr lang="en-US" sz="1100" dirty="0"/>
                <a:t> </a:t>
              </a:r>
              <a:r>
                <a:rPr lang="en-US" sz="1100" dirty="0" err="1"/>
                <a:t>titik</a:t>
              </a:r>
              <a:r>
                <a:rPr lang="en-US" sz="1100" dirty="0"/>
                <a:t> </a:t>
              </a:r>
              <a:r>
                <a:rPr lang="en-US" sz="1100" dirty="0" err="1"/>
                <a:t>fokus</a:t>
              </a:r>
              <a:r>
                <a:rPr lang="en-US" sz="1100" dirty="0"/>
                <a:t> </a:t>
              </a:r>
              <a:r>
                <a:rPr lang="en-US" sz="1100" dirty="0" err="1"/>
                <a:t>Kabupaten</a:t>
              </a:r>
              <a:r>
                <a:rPr lang="en-US" sz="1100" dirty="0"/>
                <a:t> PEGUNUNGAN BINTANG, </a:t>
              </a:r>
              <a:r>
                <a:rPr lang="en-US" sz="1100" dirty="0" err="1"/>
                <a:t>dapat</a:t>
              </a:r>
              <a:r>
                <a:rPr lang="en-US" sz="1100" dirty="0"/>
                <a:t> </a:t>
              </a:r>
              <a:r>
                <a:rPr lang="en-US" sz="1100" dirty="0" err="1"/>
                <a:t>disimpulkan</a:t>
              </a:r>
              <a:r>
                <a:rPr lang="en-US" sz="1100" dirty="0"/>
                <a:t> </a:t>
              </a:r>
              <a:r>
                <a:rPr lang="en-US" sz="1100" dirty="0" err="1"/>
                <a:t>bahwa</a:t>
              </a:r>
              <a:r>
                <a:rPr lang="en-US" sz="1100" dirty="0"/>
                <a:t>:</a:t>
              </a:r>
            </a:p>
            <a:p>
              <a:pPr marL="228600" indent="-228600">
                <a:buAutoNum type="arabicPeriod"/>
              </a:pPr>
              <a:r>
                <a:rPr lang="en-US" sz="1100" b="1" dirty="0" err="1"/>
                <a:t>Dampak</a:t>
              </a:r>
              <a:r>
                <a:rPr lang="en-US" sz="1100" b="1" dirty="0"/>
                <a:t> </a:t>
              </a:r>
              <a:r>
                <a:rPr lang="en-US" sz="1100" b="1" dirty="0" err="1"/>
                <a:t>Infrastruktur</a:t>
              </a:r>
              <a:r>
                <a:rPr lang="en-US" sz="1100" b="1" dirty="0"/>
                <a:t>:</a:t>
              </a:r>
              <a:r>
                <a:rPr lang="en-US" sz="1100" dirty="0"/>
                <a:t> </a:t>
              </a:r>
            </a:p>
            <a:p>
              <a:r>
                <a:rPr lang="en-US" sz="1100" dirty="0" err="1"/>
                <a:t>Terdapat</a:t>
              </a:r>
              <a:r>
                <a:rPr lang="en-US" sz="1100" dirty="0"/>
                <a:t> {{</a:t>
              </a:r>
              <a:r>
                <a:rPr lang="en-US" sz="1100" dirty="0" err="1"/>
                <a:t>total_site</a:t>
              </a:r>
              <a:r>
                <a:rPr lang="en-US" sz="1100" dirty="0"/>
                <a:t>}} site BAKTI yang </a:t>
              </a:r>
              <a:r>
                <a:rPr lang="en-US" sz="1100" dirty="0" err="1"/>
                <a:t>masuk</a:t>
              </a:r>
              <a:r>
                <a:rPr lang="en-US" sz="1100" dirty="0"/>
                <a:t> </a:t>
              </a:r>
              <a:r>
                <a:rPr lang="en-US" sz="1100" dirty="0" err="1"/>
                <a:t>ke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radius </a:t>
              </a:r>
              <a:r>
                <a:rPr lang="en-US" sz="1100" dirty="0" err="1"/>
                <a:t>terdampak</a:t>
              </a:r>
              <a:r>
                <a:rPr lang="en-US" sz="1100" dirty="0"/>
                <a:t>. </a:t>
              </a:r>
              <a:r>
                <a:rPr lang="en-US" sz="1100" dirty="0" err="1"/>
                <a:t>Saat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, </a:t>
              </a:r>
              <a:r>
                <a:rPr lang="en-US" sz="1100" dirty="0" err="1"/>
                <a:t>sebanyak</a:t>
              </a:r>
              <a:r>
                <a:rPr lang="en-US" sz="1100" dirty="0"/>
                <a:t> {{</a:t>
              </a:r>
              <a:r>
                <a:rPr lang="en-US" sz="1100" dirty="0" err="1"/>
                <a:t>site_up</a:t>
              </a:r>
              <a:r>
                <a:rPr lang="en-US" sz="1100" dirty="0"/>
                <a:t>}} site </a:t>
              </a:r>
              <a:r>
                <a:rPr lang="en-US" sz="1100" dirty="0" err="1"/>
                <a:t>terpantau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</a:t>
              </a:r>
              <a:r>
                <a:rPr lang="en-US" sz="1100" dirty="0" err="1"/>
                <a:t>kondisi</a:t>
              </a:r>
              <a:r>
                <a:rPr lang="en-US" sz="1100" dirty="0"/>
                <a:t> normal (UP), </a:t>
              </a:r>
              <a:r>
                <a:rPr lang="en-US" sz="1100" dirty="0" err="1"/>
                <a:t>sedangkan</a:t>
              </a:r>
              <a:r>
                <a:rPr lang="en-US" sz="1100" dirty="0"/>
                <a:t> {{</a:t>
              </a:r>
              <a:r>
                <a:rPr lang="en-US" sz="1100" dirty="0" err="1"/>
                <a:t>site_down</a:t>
              </a:r>
              <a:r>
                <a:rPr lang="en-US" sz="1100" dirty="0"/>
                <a:t>}} site </a:t>
              </a:r>
              <a:r>
                <a:rPr lang="en-US" sz="1100" dirty="0" err="1"/>
                <a:t>mengalami</a:t>
              </a:r>
              <a:r>
                <a:rPr lang="en-US" sz="1100" dirty="0"/>
                <a:t> </a:t>
              </a:r>
              <a:r>
                <a:rPr lang="en-US" sz="1100" dirty="0" err="1"/>
                <a:t>gangguan</a:t>
              </a:r>
              <a:r>
                <a:rPr lang="en-US" sz="1100" dirty="0"/>
                <a:t> (DOWN) dan </a:t>
              </a:r>
              <a:r>
                <a:rPr lang="en-US" sz="1100" dirty="0" err="1"/>
                <a:t>memerlukan</a:t>
              </a:r>
              <a:r>
                <a:rPr lang="en-US" sz="1100" dirty="0"/>
                <a:t> </a:t>
              </a:r>
              <a:r>
                <a:rPr lang="en-US" sz="1100" dirty="0" err="1"/>
                <a:t>eskalasi</a:t>
              </a:r>
              <a:r>
                <a:rPr lang="en-US" sz="1100" dirty="0"/>
                <a:t> </a:t>
              </a:r>
              <a:r>
                <a:rPr lang="en-US" sz="1100" dirty="0" err="1"/>
                <a:t>pemulihan</a:t>
              </a:r>
              <a:r>
                <a:rPr lang="en-US" sz="1100" dirty="0"/>
                <a:t> </a:t>
              </a:r>
              <a:r>
                <a:rPr lang="en-US" sz="1100" dirty="0" err="1"/>
                <a:t>segera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2. </a:t>
              </a:r>
              <a:r>
                <a:rPr lang="en-US" sz="1100" b="1" dirty="0" err="1"/>
                <a:t>Cakupan</a:t>
              </a:r>
              <a:r>
                <a:rPr lang="en-US" sz="1100" b="1" dirty="0"/>
                <a:t> Wilayah:</a:t>
              </a:r>
            </a:p>
            <a:p>
              <a:r>
                <a:rPr lang="en-US" sz="1100" dirty="0" err="1"/>
                <a:t>Gangguan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 </a:t>
              </a:r>
              <a:r>
                <a:rPr lang="en-US" sz="1100" dirty="0" err="1"/>
                <a:t>memberikan</a:t>
              </a:r>
              <a:r>
                <a:rPr lang="en-US" sz="1100" dirty="0"/>
                <a:t> </a:t>
              </a:r>
              <a:r>
                <a:rPr lang="en-US" sz="1100" dirty="0" err="1"/>
                <a:t>imbas</a:t>
              </a:r>
              <a:r>
                <a:rPr lang="en-US" sz="1100" dirty="0"/>
                <a:t> pada </a:t>
              </a:r>
              <a:r>
                <a:rPr lang="en-US" sz="1100" dirty="0" err="1"/>
                <a:t>layanan</a:t>
              </a:r>
              <a:r>
                <a:rPr lang="en-US" sz="1100" dirty="0"/>
                <a:t> </a:t>
              </a:r>
              <a:r>
                <a:rPr lang="en-US" sz="1100" dirty="0" err="1"/>
                <a:t>komunikasi</a:t>
              </a:r>
              <a:r>
                <a:rPr lang="en-US" sz="1100" dirty="0"/>
                <a:t> </a:t>
              </a:r>
              <a:r>
                <a:rPr lang="en-US" sz="1100" dirty="0" err="1"/>
                <a:t>publik</a:t>
              </a:r>
              <a:r>
                <a:rPr lang="en-US" sz="1100" dirty="0"/>
                <a:t> yang </a:t>
              </a:r>
              <a:r>
                <a:rPr lang="en-US" sz="1100" dirty="0" err="1"/>
                <a:t>mencakup</a:t>
              </a:r>
              <a:r>
                <a:rPr lang="en-US" sz="1100" dirty="0"/>
                <a:t> {{</a:t>
              </a:r>
              <a:r>
                <a:rPr lang="en-US" sz="1100" dirty="0" err="1"/>
                <a:t>n_kab</a:t>
              </a:r>
              <a:r>
                <a:rPr lang="en-US" sz="1100" dirty="0"/>
                <a:t>}} </a:t>
              </a:r>
              <a:r>
                <a:rPr lang="en-US" sz="1100" dirty="0" err="1"/>
                <a:t>Kabupaten</a:t>
              </a:r>
              <a:r>
                <a:rPr lang="en-US" sz="1100" dirty="0"/>
                <a:t> dan {{</a:t>
              </a:r>
              <a:r>
                <a:rPr lang="en-US" sz="1100" dirty="0" err="1"/>
                <a:t>n_kec</a:t>
              </a:r>
              <a:r>
                <a:rPr lang="en-US" sz="1100" dirty="0"/>
                <a:t>}} </a:t>
              </a:r>
              <a:r>
                <a:rPr lang="en-US" sz="1100" dirty="0" err="1"/>
                <a:t>Kecamatan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3. </a:t>
              </a:r>
              <a:r>
                <a:rPr lang="en-US" sz="1100" b="1" dirty="0" err="1"/>
                <a:t>Kapasitas</a:t>
              </a:r>
              <a:r>
                <a:rPr lang="en-US" sz="1100" b="1" dirty="0"/>
                <a:t> </a:t>
              </a:r>
              <a:r>
                <a:rPr lang="en-US" sz="1100" b="1" dirty="0" err="1"/>
                <a:t>Layanan</a:t>
              </a:r>
              <a:r>
                <a:rPr lang="en-US" sz="1100" b="1" dirty="0"/>
                <a:t>:</a:t>
              </a:r>
            </a:p>
            <a:p>
              <a:r>
                <a:rPr lang="en-US" sz="1100" dirty="0" err="1"/>
                <a:t>Meski</a:t>
              </a:r>
              <a:r>
                <a:rPr lang="en-US" sz="1100" dirty="0"/>
                <a:t> </a:t>
              </a:r>
              <a:r>
                <a:rPr lang="en-US" sz="1100" dirty="0" err="1"/>
                <a:t>terjadi</a:t>
              </a:r>
              <a:r>
                <a:rPr lang="en-US" sz="1100" dirty="0"/>
                <a:t> </a:t>
              </a:r>
              <a:r>
                <a:rPr lang="en-US" sz="1100" dirty="0" err="1"/>
                <a:t>kendala</a:t>
              </a:r>
              <a:r>
                <a:rPr lang="en-US" sz="1100" dirty="0"/>
                <a:t>, </a:t>
              </a:r>
              <a:r>
                <a:rPr lang="en-US" sz="1100" dirty="0" err="1"/>
                <a:t>sisa</a:t>
              </a:r>
              <a:r>
                <a:rPr lang="en-US" sz="1100" dirty="0"/>
                <a:t> site yang </a:t>
              </a:r>
              <a:r>
                <a:rPr lang="en-US" sz="1100" dirty="0" err="1"/>
                <a:t>beroperasi</a:t>
              </a:r>
              <a:r>
                <a:rPr lang="en-US" sz="1100" dirty="0"/>
                <a:t> </a:t>
              </a:r>
              <a:r>
                <a:rPr lang="en-US" sz="1100" dirty="0" err="1"/>
                <a:t>masih</a:t>
              </a:r>
              <a:r>
                <a:rPr lang="en-US" sz="1100" dirty="0"/>
                <a:t> </a:t>
              </a:r>
              <a:r>
                <a:rPr lang="en-US" sz="1100" dirty="0" err="1"/>
                <a:t>menampung</a:t>
              </a:r>
              <a:r>
                <a:rPr lang="en-US" sz="1100" dirty="0"/>
                <a:t> </a:t>
              </a:r>
              <a:r>
                <a:rPr lang="en-US" sz="1100" dirty="0" err="1"/>
                <a:t>beban</a:t>
              </a:r>
              <a:r>
                <a:rPr lang="en-US" sz="1100" dirty="0"/>
                <a:t> traffic </a:t>
              </a:r>
              <a:r>
                <a:rPr lang="en-US" sz="1100" dirty="0" err="1"/>
                <a:t>harian</a:t>
              </a:r>
              <a:r>
                <a:rPr lang="en-US" sz="1100" dirty="0"/>
                <a:t> rata-rata </a:t>
              </a:r>
              <a:r>
                <a:rPr lang="en-US" sz="1100" dirty="0" err="1"/>
                <a:t>sebesar</a:t>
              </a:r>
              <a:r>
                <a:rPr lang="en-US" sz="1100" dirty="0"/>
                <a:t> {{</a:t>
              </a:r>
              <a:r>
                <a:rPr lang="en-US" sz="1100" dirty="0" err="1"/>
                <a:t>daily_traffic_gb</a:t>
              </a:r>
              <a:r>
                <a:rPr lang="en-US" sz="1100" dirty="0"/>
                <a:t>}} GB dan </a:t>
              </a:r>
              <a:r>
                <a:rPr lang="en-US" sz="1100" dirty="0" err="1"/>
                <a:t>melayani</a:t>
              </a:r>
              <a:r>
                <a:rPr lang="en-US" sz="1100" dirty="0"/>
                <a:t> </a:t>
              </a:r>
              <a:r>
                <a:rPr lang="en-US" sz="1100" dirty="0" err="1"/>
                <a:t>sekitar</a:t>
              </a:r>
              <a:r>
                <a:rPr lang="en-US" sz="1100" dirty="0"/>
                <a:t> {{</a:t>
              </a:r>
              <a:r>
                <a:rPr lang="en-US" sz="1100" dirty="0" err="1"/>
                <a:t>active_users</a:t>
              </a:r>
              <a:r>
                <a:rPr lang="en-US" sz="1100" dirty="0"/>
                <a:t>}} </a:t>
              </a:r>
              <a:r>
                <a:rPr lang="en-US" sz="1100" dirty="0" err="1"/>
                <a:t>pengguna</a:t>
              </a:r>
              <a:r>
                <a:rPr lang="en-US" sz="1100" dirty="0"/>
                <a:t> </a:t>
              </a:r>
              <a:r>
                <a:rPr lang="en-US" sz="1100" dirty="0" err="1"/>
                <a:t>aktif</a:t>
              </a:r>
              <a:r>
                <a:rPr lang="en-US" sz="1100" dirty="0"/>
                <a:t> (peak users).</a:t>
              </a:r>
            </a:p>
            <a:p>
              <a:endParaRPr lang="en-US" sz="1100" dirty="0" err="1"/>
            </a:p>
          </p:txBody>
        </p:sp>
        <p:pic>
          <p:nvPicPr>
            <p:cNvPr id="76" name="Picture 75" descr="image.png">
              <a:extLst>
                <a:ext uri="{FF2B5EF4-FFF2-40B4-BE49-F238E27FC236}">
                  <a16:creationId xmlns:a16="http://schemas.microsoft.com/office/drawing/2014/main" id="{AA67B94B-9D76-4FC9-9676-15B36CAFF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5646" y="5498847"/>
              <a:ext cx="171450" cy="171450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D63DC9C-5987-4712-92A1-D1767207A168}"/>
              </a:ext>
            </a:extLst>
          </p:cNvPr>
          <p:cNvSpPr/>
          <p:nvPr/>
        </p:nvSpPr>
        <p:spPr>
          <a:xfrm>
            <a:off x="684737" y="2461345"/>
            <a:ext cx="446692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Perlu</a:t>
            </a:r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 Manual</a:t>
            </a:r>
          </a:p>
          <a:p>
            <a:pPr algn="ctr"/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Capture Dari </a:t>
            </a:r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Streamlit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A84B74-9692-4E1F-96CC-A4ED0A51903E}"/>
              </a:ext>
            </a:extLst>
          </p:cNvPr>
          <p:cNvSpPr/>
          <p:nvPr/>
        </p:nvSpPr>
        <p:spPr>
          <a:xfrm>
            <a:off x="16809715" y="687511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">
            <a:extLst>
              <a:ext uri="{FF2B5EF4-FFF2-40B4-BE49-F238E27FC236}">
                <a16:creationId xmlns:a16="http://schemas.microsoft.com/office/drawing/2014/main" id="{5A8DD734-2E78-4F9A-9AC5-C89975C47EA2}"/>
              </a:ext>
            </a:extLst>
          </p:cNvPr>
          <p:cNvSpPr/>
          <p:nvPr/>
        </p:nvSpPr>
        <p:spPr>
          <a:xfrm>
            <a:off x="5553548" y="1921825"/>
            <a:ext cx="3257538" cy="135682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B3470242-3539-48C6-B2E5-BAF82B2F0B0C}"/>
              </a:ext>
            </a:extLst>
          </p:cNvPr>
          <p:cNvSpPr/>
          <p:nvPr/>
        </p:nvSpPr>
        <p:spPr>
          <a:xfrm>
            <a:off x="8092441" y="2142089"/>
            <a:ext cx="574252" cy="185284"/>
          </a:xfrm>
          <a:prstGeom prst="roundRect">
            <a:avLst>
              <a:gd name="adj" fmla="val 2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27">
            <a:extLst>
              <a:ext uri="{FF2B5EF4-FFF2-40B4-BE49-F238E27FC236}">
                <a16:creationId xmlns:a16="http://schemas.microsoft.com/office/drawing/2014/main" id="{6487B48B-66A5-4899-A93A-033DD25DB0B0}"/>
              </a:ext>
            </a:extLst>
          </p:cNvPr>
          <p:cNvSpPr/>
          <p:nvPr/>
        </p:nvSpPr>
        <p:spPr>
          <a:xfrm>
            <a:off x="5697942" y="2476891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28">
            <a:extLst>
              <a:ext uri="{FF2B5EF4-FFF2-40B4-BE49-F238E27FC236}">
                <a16:creationId xmlns:a16="http://schemas.microsoft.com/office/drawing/2014/main" id="{25E322D1-A90B-46AB-8E06-5C33DBBF3090}"/>
              </a:ext>
            </a:extLst>
          </p:cNvPr>
          <p:cNvSpPr/>
          <p:nvPr/>
        </p:nvSpPr>
        <p:spPr>
          <a:xfrm>
            <a:off x="7216972" y="2476891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676BB71-F01F-4A5A-BE16-9660DE96559B}"/>
              </a:ext>
            </a:extLst>
          </p:cNvPr>
          <p:cNvSpPr txBox="1"/>
          <p:nvPr/>
        </p:nvSpPr>
        <p:spPr>
          <a:xfrm>
            <a:off x="5697942" y="2146494"/>
            <a:ext cx="1091622" cy="2026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Program BTS 4G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36D5FA2-F6E9-43AC-875D-778DCF8E9EBC}"/>
              </a:ext>
            </a:extLst>
          </p:cNvPr>
          <p:cNvSpPr txBox="1"/>
          <p:nvPr/>
        </p:nvSpPr>
        <p:spPr>
          <a:xfrm>
            <a:off x="8027170" y="2152838"/>
            <a:ext cx="704794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75" b="1" dirty="0">
                <a:solidFill>
                  <a:srgbClr val="0369A1"/>
                </a:solidFill>
                <a:latin typeface="Plus Jakarta Sans"/>
              </a:rPr>
              <a:t>{{n_4g}} Site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084AD9F-43ED-43A5-A865-C12D7DDD0360}"/>
              </a:ext>
            </a:extLst>
          </p:cNvPr>
          <p:cNvSpPr txBox="1"/>
          <p:nvPr/>
        </p:nvSpPr>
        <p:spPr>
          <a:xfrm>
            <a:off x="5767252" y="2582618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VSAT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EA44B72-EBA1-4860-AF8B-B57E2BB56345}"/>
              </a:ext>
            </a:extLst>
          </p:cNvPr>
          <p:cNvSpPr txBox="1"/>
          <p:nvPr/>
        </p:nvSpPr>
        <p:spPr>
          <a:xfrm>
            <a:off x="7286281" y="2582618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Microwave</a:t>
            </a:r>
          </a:p>
        </p:txBody>
      </p:sp>
      <p:sp>
        <p:nvSpPr>
          <p:cNvPr id="137" name="Rounded Rectangle 4">
            <a:extLst>
              <a:ext uri="{FF2B5EF4-FFF2-40B4-BE49-F238E27FC236}">
                <a16:creationId xmlns:a16="http://schemas.microsoft.com/office/drawing/2014/main" id="{CB3A887C-7FE3-4802-8468-B29425920BD8}"/>
              </a:ext>
            </a:extLst>
          </p:cNvPr>
          <p:cNvSpPr/>
          <p:nvPr/>
        </p:nvSpPr>
        <p:spPr>
          <a:xfrm>
            <a:off x="7201208" y="895486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7AA343A-E745-4FDA-8DC0-F57D01BDE5CF}"/>
              </a:ext>
            </a:extLst>
          </p:cNvPr>
          <p:cNvSpPr/>
          <p:nvPr/>
        </p:nvSpPr>
        <p:spPr>
          <a:xfrm>
            <a:off x="7201208" y="1857956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C5F8FAC6-A1E2-4462-989D-61A469EDA15F}"/>
              </a:ext>
            </a:extLst>
          </p:cNvPr>
          <p:cNvSpPr/>
          <p:nvPr/>
        </p:nvSpPr>
        <p:spPr>
          <a:xfrm>
            <a:off x="7201208" y="895486"/>
            <a:ext cx="1570360" cy="36320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720E600-B3C5-4A15-8454-0D18068963B0}"/>
              </a:ext>
            </a:extLst>
          </p:cNvPr>
          <p:cNvSpPr/>
          <p:nvPr/>
        </p:nvSpPr>
        <p:spPr>
          <a:xfrm>
            <a:off x="7201208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73C6177-52D4-4409-9028-79FA81350CA9}"/>
              </a:ext>
            </a:extLst>
          </p:cNvPr>
          <p:cNvSpPr/>
          <p:nvPr/>
        </p:nvSpPr>
        <p:spPr>
          <a:xfrm>
            <a:off x="8765816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4">
            <a:extLst>
              <a:ext uri="{FF2B5EF4-FFF2-40B4-BE49-F238E27FC236}">
                <a16:creationId xmlns:a16="http://schemas.microsoft.com/office/drawing/2014/main" id="{B1DD1A35-2CBC-403D-827D-A1D779C77096}"/>
              </a:ext>
            </a:extLst>
          </p:cNvPr>
          <p:cNvSpPr/>
          <p:nvPr/>
        </p:nvSpPr>
        <p:spPr>
          <a:xfrm>
            <a:off x="5547796" y="895486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3A154F0-AB3A-4C8B-BBF0-9D3895E3264F}"/>
              </a:ext>
            </a:extLst>
          </p:cNvPr>
          <p:cNvSpPr/>
          <p:nvPr/>
        </p:nvSpPr>
        <p:spPr>
          <a:xfrm>
            <a:off x="5547796" y="1857956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9F708FE-28A3-4644-B8EC-12A85395B44C}"/>
              </a:ext>
            </a:extLst>
          </p:cNvPr>
          <p:cNvSpPr/>
          <p:nvPr/>
        </p:nvSpPr>
        <p:spPr>
          <a:xfrm>
            <a:off x="5547796" y="895486"/>
            <a:ext cx="1570360" cy="36320"/>
          </a:xfrm>
          <a:prstGeom prst="rect">
            <a:avLst/>
          </a:prstGeom>
          <a:solidFill>
            <a:srgbClr val="00B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695B1E6-61A0-474D-A2BB-3188ADFCA832}"/>
              </a:ext>
            </a:extLst>
          </p:cNvPr>
          <p:cNvSpPr/>
          <p:nvPr/>
        </p:nvSpPr>
        <p:spPr>
          <a:xfrm>
            <a:off x="5547796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F21C6A9-9384-4781-AF09-F44C9B21C4C4}"/>
              </a:ext>
            </a:extLst>
          </p:cNvPr>
          <p:cNvSpPr/>
          <p:nvPr/>
        </p:nvSpPr>
        <p:spPr>
          <a:xfrm>
            <a:off x="7112404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2530E6D-8D8D-43E8-8B84-86CD73923E4C}"/>
              </a:ext>
            </a:extLst>
          </p:cNvPr>
          <p:cNvSpPr txBox="1"/>
          <p:nvPr/>
        </p:nvSpPr>
        <p:spPr>
          <a:xfrm>
            <a:off x="5755332" y="983057"/>
            <a:ext cx="119075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Total Site </a:t>
            </a:r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Terdampak</a:t>
            </a:r>
            <a:endParaRPr sz="105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4AF367A-DF9A-47D2-A0C8-8855518BB002}"/>
              </a:ext>
            </a:extLst>
          </p:cNvPr>
          <p:cNvSpPr txBox="1"/>
          <p:nvPr/>
        </p:nvSpPr>
        <p:spPr>
          <a:xfrm>
            <a:off x="7579753" y="975366"/>
            <a:ext cx="9194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Site Up (Normal)</a:t>
            </a:r>
          </a:p>
        </p:txBody>
      </p:sp>
      <p:sp>
        <p:nvSpPr>
          <p:cNvPr id="144" name="Rounded Rectangle 4">
            <a:extLst>
              <a:ext uri="{FF2B5EF4-FFF2-40B4-BE49-F238E27FC236}">
                <a16:creationId xmlns:a16="http://schemas.microsoft.com/office/drawing/2014/main" id="{73D5FFE4-7B82-4035-8B19-A7A838F5A725}"/>
              </a:ext>
            </a:extLst>
          </p:cNvPr>
          <p:cNvSpPr/>
          <p:nvPr/>
        </p:nvSpPr>
        <p:spPr>
          <a:xfrm>
            <a:off x="8875062" y="908190"/>
            <a:ext cx="1570360" cy="956887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98484106-5D16-4BEC-9BE5-57A2ACEF85B9}"/>
              </a:ext>
            </a:extLst>
          </p:cNvPr>
          <p:cNvSpPr/>
          <p:nvPr/>
        </p:nvSpPr>
        <p:spPr>
          <a:xfrm>
            <a:off x="8875062" y="1855997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E63EE394-3C70-4E1E-A2F9-44376EB2AF58}"/>
              </a:ext>
            </a:extLst>
          </p:cNvPr>
          <p:cNvSpPr/>
          <p:nvPr/>
        </p:nvSpPr>
        <p:spPr>
          <a:xfrm>
            <a:off x="8875062" y="893527"/>
            <a:ext cx="1570360" cy="3632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F86712F-DA3B-4029-990A-F38719A7215D}"/>
              </a:ext>
            </a:extLst>
          </p:cNvPr>
          <p:cNvSpPr/>
          <p:nvPr/>
        </p:nvSpPr>
        <p:spPr>
          <a:xfrm>
            <a:off x="8875062" y="893527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67B407F5-D28E-4EC1-8A94-BBAFABB84E43}"/>
              </a:ext>
            </a:extLst>
          </p:cNvPr>
          <p:cNvSpPr/>
          <p:nvPr/>
        </p:nvSpPr>
        <p:spPr>
          <a:xfrm>
            <a:off x="10439670" y="893527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FCC1B38-FFF0-493B-941A-33385249651C}"/>
              </a:ext>
            </a:extLst>
          </p:cNvPr>
          <p:cNvSpPr txBox="1"/>
          <p:nvPr/>
        </p:nvSpPr>
        <p:spPr>
          <a:xfrm>
            <a:off x="9119891" y="995760"/>
            <a:ext cx="1219128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Site Down (</a:t>
            </a:r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Kritis</a:t>
            </a:r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)</a:t>
            </a:r>
          </a:p>
        </p:txBody>
      </p:sp>
      <p:sp>
        <p:nvSpPr>
          <p:cNvPr id="151" name="Rounded Rectangle 4">
            <a:extLst>
              <a:ext uri="{FF2B5EF4-FFF2-40B4-BE49-F238E27FC236}">
                <a16:creationId xmlns:a16="http://schemas.microsoft.com/office/drawing/2014/main" id="{D9959F14-1828-4167-BC86-8FDEDC03A61A}"/>
              </a:ext>
            </a:extLst>
          </p:cNvPr>
          <p:cNvSpPr/>
          <p:nvPr/>
        </p:nvSpPr>
        <p:spPr>
          <a:xfrm>
            <a:off x="10553815" y="886670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0006407-7946-46BA-9BEC-B5102F139AFD}"/>
              </a:ext>
            </a:extLst>
          </p:cNvPr>
          <p:cNvSpPr/>
          <p:nvPr/>
        </p:nvSpPr>
        <p:spPr>
          <a:xfrm>
            <a:off x="10553815" y="1849140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BFA495C-3CA3-43D9-A9BF-DD72C9A57978}"/>
              </a:ext>
            </a:extLst>
          </p:cNvPr>
          <p:cNvSpPr/>
          <p:nvPr/>
        </p:nvSpPr>
        <p:spPr>
          <a:xfrm>
            <a:off x="10553815" y="886670"/>
            <a:ext cx="1570360" cy="36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77C390D-AF0B-4836-BD5F-DA7AFF6E97BE}"/>
              </a:ext>
            </a:extLst>
          </p:cNvPr>
          <p:cNvSpPr/>
          <p:nvPr/>
        </p:nvSpPr>
        <p:spPr>
          <a:xfrm>
            <a:off x="10553815" y="886670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809263C4-EF15-43B4-8DB9-F206F919ED8C}"/>
              </a:ext>
            </a:extLst>
          </p:cNvPr>
          <p:cNvSpPr/>
          <p:nvPr/>
        </p:nvSpPr>
        <p:spPr>
          <a:xfrm>
            <a:off x="12118423" y="886670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96C213F-7D2F-4945-9FA0-88E144D5C6AD}"/>
              </a:ext>
            </a:extLst>
          </p:cNvPr>
          <p:cNvSpPr txBox="1"/>
          <p:nvPr/>
        </p:nvSpPr>
        <p:spPr>
          <a:xfrm>
            <a:off x="11034141" y="984454"/>
            <a:ext cx="79138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Unmonitor</a:t>
            </a:r>
            <a:endParaRPr sz="105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158" name="Rounded Rectangle 8">
            <a:extLst>
              <a:ext uri="{FF2B5EF4-FFF2-40B4-BE49-F238E27FC236}">
                <a16:creationId xmlns:a16="http://schemas.microsoft.com/office/drawing/2014/main" id="{EC517A3D-1A7B-45E4-AFFB-7D676A31F3C1}"/>
              </a:ext>
            </a:extLst>
          </p:cNvPr>
          <p:cNvSpPr/>
          <p:nvPr/>
        </p:nvSpPr>
        <p:spPr>
          <a:xfrm>
            <a:off x="8886031" y="1913837"/>
            <a:ext cx="3257538" cy="135682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ounded Rectangle 27">
            <a:extLst>
              <a:ext uri="{FF2B5EF4-FFF2-40B4-BE49-F238E27FC236}">
                <a16:creationId xmlns:a16="http://schemas.microsoft.com/office/drawing/2014/main" id="{F89CE68F-0FE6-4195-BF71-FC2D3CA40B38}"/>
              </a:ext>
            </a:extLst>
          </p:cNvPr>
          <p:cNvSpPr/>
          <p:nvPr/>
        </p:nvSpPr>
        <p:spPr>
          <a:xfrm>
            <a:off x="9030425" y="2468903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28">
            <a:extLst>
              <a:ext uri="{FF2B5EF4-FFF2-40B4-BE49-F238E27FC236}">
                <a16:creationId xmlns:a16="http://schemas.microsoft.com/office/drawing/2014/main" id="{C7C05DD2-E01E-468E-AFD3-75770AC14EFF}"/>
              </a:ext>
            </a:extLst>
          </p:cNvPr>
          <p:cNvSpPr/>
          <p:nvPr/>
        </p:nvSpPr>
        <p:spPr>
          <a:xfrm>
            <a:off x="10549455" y="2468903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07EC662E-BBDA-444F-AFA3-A5374CE54612}"/>
              </a:ext>
            </a:extLst>
          </p:cNvPr>
          <p:cNvSpPr txBox="1"/>
          <p:nvPr/>
        </p:nvSpPr>
        <p:spPr>
          <a:xfrm>
            <a:off x="9030425" y="2138506"/>
            <a:ext cx="1257460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350" b="1" i="0" u="none" dirty="0">
                <a:solidFill>
                  <a:srgbClr val="0F172A"/>
                </a:solidFill>
                <a:latin typeface="Plus Jakarta Sans"/>
              </a:rPr>
              <a:t>Program BTS USO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D655836-1B0B-47EE-A7D0-D59BC15FA288}"/>
              </a:ext>
            </a:extLst>
          </p:cNvPr>
          <p:cNvSpPr txBox="1"/>
          <p:nvPr/>
        </p:nvSpPr>
        <p:spPr>
          <a:xfrm>
            <a:off x="9099735" y="2574630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VSAT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C126740A-3018-43DE-96C1-EEA828AB6B8E}"/>
              </a:ext>
            </a:extLst>
          </p:cNvPr>
          <p:cNvSpPr txBox="1"/>
          <p:nvPr/>
        </p:nvSpPr>
        <p:spPr>
          <a:xfrm>
            <a:off x="10618764" y="2574630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Microwave</a:t>
            </a:r>
          </a:p>
        </p:txBody>
      </p:sp>
      <p:sp>
        <p:nvSpPr>
          <p:cNvPr id="168" name="Rounded Rectangle 29">
            <a:extLst>
              <a:ext uri="{FF2B5EF4-FFF2-40B4-BE49-F238E27FC236}">
                <a16:creationId xmlns:a16="http://schemas.microsoft.com/office/drawing/2014/main" id="{AB32B926-AD7F-498C-910B-FF124A329CF4}"/>
              </a:ext>
            </a:extLst>
          </p:cNvPr>
          <p:cNvSpPr/>
          <p:nvPr/>
        </p:nvSpPr>
        <p:spPr>
          <a:xfrm>
            <a:off x="11370525" y="2104584"/>
            <a:ext cx="628650" cy="228600"/>
          </a:xfrm>
          <a:prstGeom prst="roundRect">
            <a:avLst>
              <a:gd name="adj" fmla="val 25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0" name="Picture 169">
            <a:extLst>
              <a:ext uri="{FF2B5EF4-FFF2-40B4-BE49-F238E27FC236}">
                <a16:creationId xmlns:a16="http://schemas.microsoft.com/office/drawing/2014/main" id="{0532FF74-FECF-456C-9363-4989327CBB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574" y="2531052"/>
            <a:ext cx="426538" cy="457200"/>
          </a:xfrm>
          <a:prstGeom prst="rect">
            <a:avLst/>
          </a:prstGeom>
        </p:spPr>
      </p:pic>
      <p:pic>
        <p:nvPicPr>
          <p:cNvPr id="171" name="Picture 170">
            <a:extLst>
              <a:ext uri="{FF2B5EF4-FFF2-40B4-BE49-F238E27FC236}">
                <a16:creationId xmlns:a16="http://schemas.microsoft.com/office/drawing/2014/main" id="{E6BDAFA5-0AE7-48E1-B249-6D7B5EFF22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6780" y="2539755"/>
            <a:ext cx="426538" cy="450568"/>
          </a:xfrm>
          <a:prstGeom prst="rect">
            <a:avLst/>
          </a:prstGeom>
        </p:spPr>
      </p:pic>
      <p:pic>
        <p:nvPicPr>
          <p:cNvPr id="172" name="Picture 171">
            <a:extLst>
              <a:ext uri="{FF2B5EF4-FFF2-40B4-BE49-F238E27FC236}">
                <a16:creationId xmlns:a16="http://schemas.microsoft.com/office/drawing/2014/main" id="{F241F7F4-E470-4B85-B266-C2D301E580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84172" y="2531052"/>
            <a:ext cx="426538" cy="457200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8F6CAB44-656C-439C-B012-D945E7D316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621378" y="2539755"/>
            <a:ext cx="426538" cy="450568"/>
          </a:xfrm>
          <a:prstGeom prst="rect">
            <a:avLst/>
          </a:prstGeom>
        </p:spPr>
      </p:pic>
      <p:sp>
        <p:nvSpPr>
          <p:cNvPr id="174" name="TextBox 173">
            <a:extLst>
              <a:ext uri="{FF2B5EF4-FFF2-40B4-BE49-F238E27FC236}">
                <a16:creationId xmlns:a16="http://schemas.microsoft.com/office/drawing/2014/main" id="{C597114A-6161-4228-BE4C-E9D20A338F6D}"/>
              </a:ext>
            </a:extLst>
          </p:cNvPr>
          <p:cNvSpPr txBox="1"/>
          <p:nvPr/>
        </p:nvSpPr>
        <p:spPr>
          <a:xfrm>
            <a:off x="5578968" y="648668"/>
            <a:ext cx="3192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Status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Jaringan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lang="en-US" sz="1400" b="1" i="1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dan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Klasifikasi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Site BAKTI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2983CB3-7344-472C-BF35-2965A5502555}"/>
              </a:ext>
            </a:extLst>
          </p:cNvPr>
          <p:cNvGrpSpPr/>
          <p:nvPr/>
        </p:nvGrpSpPr>
        <p:grpSpPr>
          <a:xfrm>
            <a:off x="5598362" y="3863258"/>
            <a:ext cx="6545207" cy="1104266"/>
            <a:chOff x="5547668" y="4328378"/>
            <a:chExt cx="6810741" cy="110426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F8AF982-1D9A-4C62-9369-EC9E9C0B3BD4}"/>
                </a:ext>
              </a:extLst>
            </p:cNvPr>
            <p:cNvGrpSpPr/>
            <p:nvPr/>
          </p:nvGrpSpPr>
          <p:grpSpPr>
            <a:xfrm>
              <a:off x="5547668" y="4336366"/>
              <a:ext cx="2453930" cy="1094006"/>
              <a:chOff x="5547667" y="4336366"/>
              <a:chExt cx="4084699" cy="1094006"/>
            </a:xfrm>
          </p:grpSpPr>
          <p:sp>
            <p:nvSpPr>
              <p:cNvPr id="185" name="Rounded Rectangle 5">
                <a:extLst>
                  <a:ext uri="{FF2B5EF4-FFF2-40B4-BE49-F238E27FC236}">
                    <a16:creationId xmlns:a16="http://schemas.microsoft.com/office/drawing/2014/main" id="{64EF9BF7-6443-4DEF-99CC-4B0E09C3D0D9}"/>
                  </a:ext>
                </a:extLst>
              </p:cNvPr>
              <p:cNvSpPr/>
              <p:nvPr/>
            </p:nvSpPr>
            <p:spPr>
              <a:xfrm>
                <a:off x="5547667" y="4336366"/>
                <a:ext cx="3530649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5096055-8511-413C-8F49-3919C0D9FCE6}"/>
                  </a:ext>
                </a:extLst>
              </p:cNvPr>
              <p:cNvSpPr txBox="1"/>
              <p:nvPr/>
            </p:nvSpPr>
            <p:spPr>
              <a:xfrm>
                <a:off x="5766742" y="4555441"/>
                <a:ext cx="3865624" cy="171450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Total Traffic 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Akumulasi</a:t>
                </a:r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 (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Periode</a:t>
                </a:r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)</a:t>
                </a: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F93193DE-D230-4890-804B-20CD4936517A}"/>
                  </a:ext>
                </a:extLst>
              </p:cNvPr>
              <p:cNvSpPr txBox="1"/>
              <p:nvPr/>
            </p:nvSpPr>
            <p:spPr>
              <a:xfrm>
                <a:off x="5599768" y="4784041"/>
                <a:ext cx="3478548" cy="6463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006666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006666"/>
                    </a:solidFill>
                    <a:latin typeface="Plus Jakarta Sans"/>
                  </a:rPr>
                  <a:t>total_traffic_gb</a:t>
                </a:r>
                <a:r>
                  <a:rPr lang="en-US" sz="2100" b="1" dirty="0">
                    <a:solidFill>
                      <a:srgbClr val="006666"/>
                    </a:solidFill>
                    <a:latin typeface="Plus Jakarta Sans"/>
                  </a:rPr>
                  <a:t>}} GB</a:t>
                </a:r>
                <a:endParaRPr sz="2100" b="1" dirty="0">
                  <a:solidFill>
                    <a:srgbClr val="006666"/>
                  </a:solidFill>
                  <a:latin typeface="Plus Jakarta Sans"/>
                </a:endParaRP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AE66BF0-B8E9-48D6-82F3-CEE0FB864CAA}"/>
                </a:ext>
              </a:extLst>
            </p:cNvPr>
            <p:cNvGrpSpPr/>
            <p:nvPr/>
          </p:nvGrpSpPr>
          <p:grpSpPr>
            <a:xfrm>
              <a:off x="7802389" y="4328378"/>
              <a:ext cx="2194315" cy="1094006"/>
              <a:chOff x="7800358" y="4336366"/>
              <a:chExt cx="3530649" cy="1094006"/>
            </a:xfrm>
          </p:grpSpPr>
          <p:sp>
            <p:nvSpPr>
              <p:cNvPr id="186" name="Rounded Rectangle 6">
                <a:extLst>
                  <a:ext uri="{FF2B5EF4-FFF2-40B4-BE49-F238E27FC236}">
                    <a16:creationId xmlns:a16="http://schemas.microsoft.com/office/drawing/2014/main" id="{7143173C-2E81-40D4-A75C-67B259759FEE}"/>
                  </a:ext>
                </a:extLst>
              </p:cNvPr>
              <p:cNvSpPr/>
              <p:nvPr/>
            </p:nvSpPr>
            <p:spPr>
              <a:xfrm>
                <a:off x="7800358" y="4336366"/>
                <a:ext cx="3530649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5176E996-20ED-497F-A850-DE1397B7FAC3}"/>
                  </a:ext>
                </a:extLst>
              </p:cNvPr>
              <p:cNvSpPr txBox="1"/>
              <p:nvPr/>
            </p:nvSpPr>
            <p:spPr>
              <a:xfrm>
                <a:off x="7800358" y="4555441"/>
                <a:ext cx="3530647" cy="16370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Daily Average Traffic 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Harian</a:t>
                </a:r>
                <a:endParaRPr sz="1050" b="0" i="0" u="none" dirty="0">
                  <a:solidFill>
                    <a:srgbClr val="64748B"/>
                  </a:solidFill>
                  <a:latin typeface="Plus Jakarta Sans"/>
                </a:endParaRP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B4B66668-8EDD-45D9-B2D6-EB9B736902E5}"/>
                  </a:ext>
                </a:extLst>
              </p:cNvPr>
              <p:cNvSpPr txBox="1"/>
              <p:nvPr/>
            </p:nvSpPr>
            <p:spPr>
              <a:xfrm>
                <a:off x="8019433" y="4784041"/>
                <a:ext cx="3311574" cy="6463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0F172A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0F172A"/>
                    </a:solidFill>
                    <a:latin typeface="Plus Jakarta Sans"/>
                  </a:rPr>
                  <a:t>daily_traffic_gb</a:t>
                </a:r>
                <a:r>
                  <a:rPr lang="en-US" sz="2100" b="1" dirty="0">
                    <a:solidFill>
                      <a:srgbClr val="0F172A"/>
                    </a:solidFill>
                    <a:latin typeface="Plus Jakarta Sans"/>
                  </a:rPr>
                  <a:t>}} GB</a:t>
                </a:r>
                <a:endParaRPr sz="2100" b="1" dirty="0">
                  <a:solidFill>
                    <a:srgbClr val="0F172A"/>
                  </a:solidFill>
                  <a:latin typeface="Plus Jakarta Sans"/>
                </a:endParaRP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8E68375-1158-4F46-A4B7-7C29E141952B}"/>
                </a:ext>
              </a:extLst>
            </p:cNvPr>
            <p:cNvGrpSpPr/>
            <p:nvPr/>
          </p:nvGrpSpPr>
          <p:grpSpPr>
            <a:xfrm>
              <a:off x="10130346" y="4328503"/>
              <a:ext cx="2228063" cy="1104141"/>
              <a:chOff x="10210481" y="4336366"/>
              <a:chExt cx="2228063" cy="1079698"/>
            </a:xfrm>
          </p:grpSpPr>
          <p:sp>
            <p:nvSpPr>
              <p:cNvPr id="187" name="Rounded Rectangle 7">
                <a:extLst>
                  <a:ext uri="{FF2B5EF4-FFF2-40B4-BE49-F238E27FC236}">
                    <a16:creationId xmlns:a16="http://schemas.microsoft.com/office/drawing/2014/main" id="{387C523C-37AE-4063-ACDE-B59AC4D5389E}"/>
                  </a:ext>
                </a:extLst>
              </p:cNvPr>
              <p:cNvSpPr/>
              <p:nvPr/>
            </p:nvSpPr>
            <p:spPr>
              <a:xfrm>
                <a:off x="10210481" y="4336366"/>
                <a:ext cx="2194315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3C5472F-71D5-4B62-98E4-E7553D0C12CE}"/>
                  </a:ext>
                </a:extLst>
              </p:cNvPr>
              <p:cNvSpPr txBox="1"/>
              <p:nvPr/>
            </p:nvSpPr>
            <p:spPr>
              <a:xfrm>
                <a:off x="10210482" y="4555441"/>
                <a:ext cx="2228062" cy="16158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Daily Avg Peak Active Users</a:t>
                </a: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AAE80062-C625-48D0-A2CE-18A4C4C7C27C}"/>
                  </a:ext>
                </a:extLst>
              </p:cNvPr>
              <p:cNvSpPr txBox="1"/>
              <p:nvPr/>
            </p:nvSpPr>
            <p:spPr>
              <a:xfrm>
                <a:off x="10210481" y="4784041"/>
                <a:ext cx="2194315" cy="63202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16A34A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16A34A"/>
                    </a:solidFill>
                    <a:latin typeface="Plus Jakarta Sans"/>
                  </a:rPr>
                  <a:t>active_users</a:t>
                </a:r>
                <a:r>
                  <a:rPr lang="en-US" sz="2100" b="1" dirty="0">
                    <a:solidFill>
                      <a:srgbClr val="16A34A"/>
                    </a:solidFill>
                    <a:latin typeface="Plus Jakarta Sans"/>
                  </a:rPr>
                  <a:t>}} Users</a:t>
                </a:r>
                <a:endParaRPr sz="2100" b="1" dirty="0">
                  <a:solidFill>
                    <a:srgbClr val="16A34A"/>
                  </a:solidFill>
                  <a:latin typeface="Plus Jakarta Sans"/>
                </a:endParaRPr>
              </a:p>
            </p:txBody>
          </p:sp>
        </p:grpSp>
      </p:grpSp>
      <p:sp>
        <p:nvSpPr>
          <p:cNvPr id="194" name="TextBox 193">
            <a:extLst>
              <a:ext uri="{FF2B5EF4-FFF2-40B4-BE49-F238E27FC236}">
                <a16:creationId xmlns:a16="http://schemas.microsoft.com/office/drawing/2014/main" id="{D8636088-7785-49FD-AE7E-F16D8C442A09}"/>
              </a:ext>
            </a:extLst>
          </p:cNvPr>
          <p:cNvSpPr txBox="1"/>
          <p:nvPr/>
        </p:nvSpPr>
        <p:spPr>
          <a:xfrm>
            <a:off x="5578461" y="3528616"/>
            <a:ext cx="365375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Metrik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Traffic </a:t>
            </a:r>
            <a:r>
              <a:rPr lang="en-US" sz="1400" b="1" i="1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dan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Analisis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Produktivitas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Layanan</a:t>
            </a:r>
            <a:endParaRPr sz="1400" b="1" i="1" u="none" dirty="0">
              <a:solidFill>
                <a:schemeClr val="bg1">
                  <a:lumMod val="50000"/>
                </a:schemeClr>
              </a:solidFill>
              <a:latin typeface="Plus Jakarta Sans"/>
            </a:endParaRPr>
          </a:p>
        </p:txBody>
      </p:sp>
      <p:pic>
        <p:nvPicPr>
          <p:cNvPr id="195" name="Graphic 194" descr="Children with solid fill">
            <a:extLst>
              <a:ext uri="{FF2B5EF4-FFF2-40B4-BE49-F238E27FC236}">
                <a16:creationId xmlns:a16="http://schemas.microsoft.com/office/drawing/2014/main" id="{324E5F3C-0C3C-457A-9849-9978B92172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32218" y="3217034"/>
            <a:ext cx="794090" cy="7940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D12763B-7292-40F5-A6CA-4035E055E6DD}"/>
              </a:ext>
            </a:extLst>
          </p:cNvPr>
          <p:cNvSpPr txBox="1"/>
          <p:nvPr/>
        </p:nvSpPr>
        <p:spPr>
          <a:xfrm>
            <a:off x="5340061" y="1260787"/>
            <a:ext cx="2000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{{</a:t>
            </a:r>
            <a:r>
              <a:rPr lang="en-US" sz="2000" b="1" dirty="0" err="1"/>
              <a:t>total_site</a:t>
            </a:r>
            <a:r>
              <a:rPr lang="en-US" sz="2000" b="1" dirty="0"/>
              <a:t>}} Site</a:t>
            </a:r>
            <a:endParaRPr lang="en-US" sz="20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27F70B-82DC-4AD8-AFB8-A0D0B0222617}"/>
              </a:ext>
            </a:extLst>
          </p:cNvPr>
          <p:cNvSpPr txBox="1"/>
          <p:nvPr/>
        </p:nvSpPr>
        <p:spPr>
          <a:xfrm>
            <a:off x="7325758" y="1260479"/>
            <a:ext cx="17781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{{</a:t>
            </a:r>
            <a:r>
              <a:rPr lang="en-US" sz="2000" b="1" dirty="0" err="1">
                <a:solidFill>
                  <a:srgbClr val="00B050"/>
                </a:solidFill>
              </a:rPr>
              <a:t>site_up</a:t>
            </a:r>
            <a:r>
              <a:rPr lang="en-US" sz="2000" b="1" dirty="0">
                <a:solidFill>
                  <a:srgbClr val="00B050"/>
                </a:solidFill>
              </a:rPr>
              <a:t>}} Site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C3C6B6-6D3B-4388-96C7-7C332C6F0121}"/>
              </a:ext>
            </a:extLst>
          </p:cNvPr>
          <p:cNvSpPr txBox="1"/>
          <p:nvPr/>
        </p:nvSpPr>
        <p:spPr>
          <a:xfrm>
            <a:off x="8978580" y="1280210"/>
            <a:ext cx="1903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{{</a:t>
            </a:r>
            <a:r>
              <a:rPr lang="en-US" b="1" dirty="0" err="1">
                <a:solidFill>
                  <a:srgbClr val="FF0000"/>
                </a:solidFill>
              </a:rPr>
              <a:t>site_down</a:t>
            </a:r>
            <a:r>
              <a:rPr lang="en-US" b="1" dirty="0">
                <a:solidFill>
                  <a:srgbClr val="FF0000"/>
                </a:solidFill>
              </a:rPr>
              <a:t>}}</a:t>
            </a:r>
            <a:r>
              <a:rPr lang="en-US" dirty="0">
                <a:solidFill>
                  <a:srgbClr val="FF0000"/>
                </a:solidFill>
              </a:rPr>
              <a:t> Site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844091-A950-4C3A-BE32-D8D9FE13896B}"/>
              </a:ext>
            </a:extLst>
          </p:cNvPr>
          <p:cNvSpPr txBox="1"/>
          <p:nvPr/>
        </p:nvSpPr>
        <p:spPr>
          <a:xfrm>
            <a:off x="10829863" y="1260759"/>
            <a:ext cx="2131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{{</a:t>
            </a:r>
            <a:r>
              <a:rPr lang="en-US" sz="2000" b="1" dirty="0" err="1"/>
              <a:t>unmonitor</a:t>
            </a:r>
            <a:r>
              <a:rPr lang="en-US" sz="2000" b="1" dirty="0"/>
              <a:t>}} Site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D1DFE6-4EA7-4009-86D1-5E9313754334}"/>
              </a:ext>
            </a:extLst>
          </p:cNvPr>
          <p:cNvSpPr txBox="1"/>
          <p:nvPr/>
        </p:nvSpPr>
        <p:spPr>
          <a:xfrm>
            <a:off x="5639569" y="2704442"/>
            <a:ext cx="140301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{{g4_vsat}} Site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CE48F83-0D0F-479C-A569-25DA18D41761}"/>
              </a:ext>
            </a:extLst>
          </p:cNvPr>
          <p:cNvSpPr txBox="1"/>
          <p:nvPr/>
        </p:nvSpPr>
        <p:spPr>
          <a:xfrm>
            <a:off x="7185193" y="2683273"/>
            <a:ext cx="14533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{{g4_mw}} Site</a:t>
            </a:r>
            <a:endParaRPr lang="en-US" sz="1500" b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095AF18C-5346-452C-B3A4-931C80045C39}"/>
              </a:ext>
            </a:extLst>
          </p:cNvPr>
          <p:cNvSpPr txBox="1"/>
          <p:nvPr/>
        </p:nvSpPr>
        <p:spPr>
          <a:xfrm>
            <a:off x="8961774" y="2694379"/>
            <a:ext cx="149758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</a:t>
            </a:r>
            <a:r>
              <a:rPr lang="en-US" sz="1500" b="1" dirty="0" err="1"/>
              <a:t>uso_vsat</a:t>
            </a:r>
            <a:r>
              <a:rPr lang="en-US" sz="1500" b="1" dirty="0"/>
              <a:t>}} Site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0C81FE5C-FD80-47FA-A9A5-DD3A5EC4C487}"/>
              </a:ext>
            </a:extLst>
          </p:cNvPr>
          <p:cNvSpPr txBox="1"/>
          <p:nvPr/>
        </p:nvSpPr>
        <p:spPr>
          <a:xfrm>
            <a:off x="10495980" y="2683273"/>
            <a:ext cx="14680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</a:t>
            </a:r>
            <a:r>
              <a:rPr lang="en-US" sz="1500" b="1" dirty="0" err="1"/>
              <a:t>uso_mw</a:t>
            </a:r>
            <a:r>
              <a:rPr lang="en-US" sz="1500" b="1" dirty="0"/>
              <a:t>}} Site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88A0D5A8-1430-4CDF-93EA-2F4E1A703BCF}"/>
              </a:ext>
            </a:extLst>
          </p:cNvPr>
          <p:cNvSpPr txBox="1"/>
          <p:nvPr/>
        </p:nvSpPr>
        <p:spPr>
          <a:xfrm>
            <a:off x="11338995" y="2133936"/>
            <a:ext cx="75797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975" b="1" dirty="0">
                <a:solidFill>
                  <a:srgbClr val="15803D"/>
                </a:solidFill>
                <a:latin typeface="Plus Jakarta Sans"/>
              </a:rPr>
              <a:t>{{</a:t>
            </a:r>
            <a:r>
              <a:rPr lang="en-US" sz="975" b="1" dirty="0" err="1">
                <a:solidFill>
                  <a:srgbClr val="15803D"/>
                </a:solidFill>
                <a:latin typeface="Plus Jakarta Sans"/>
              </a:rPr>
              <a:t>n_uso</a:t>
            </a:r>
            <a:r>
              <a:rPr lang="en-US" sz="975" b="1" dirty="0">
                <a:solidFill>
                  <a:srgbClr val="15803D"/>
                </a:solidFill>
                <a:latin typeface="Plus Jakarta Sans"/>
              </a:rPr>
              <a:t>}} Site</a:t>
            </a:r>
            <a:endParaRPr sz="975" b="1" dirty="0">
              <a:solidFill>
                <a:srgbClr val="15803D"/>
              </a:solidFill>
              <a:latin typeface="Plus Jakarta Sans"/>
            </a:endParaRPr>
          </a:p>
        </p:txBody>
      </p:sp>
    </p:spTree>
    <p:extLst>
      <p:ext uri="{BB962C8B-B14F-4D97-AF65-F5344CB8AC3E}">
        <p14:creationId xmlns:p14="http://schemas.microsoft.com/office/powerpoint/2010/main" val="1119029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Tren Productivity Layanan BTS Bakti</a:t>
            </a:r>
            <a:endParaRPr lang="en-ID" dirty="0"/>
          </a:p>
        </p:txBody>
      </p:sp>
      <p:pic>
        <p:nvPicPr>
          <p:cNvPr id="71" name="Graphic 70">
            <a:extLst>
              <a:ext uri="{FF2B5EF4-FFF2-40B4-BE49-F238E27FC236}">
                <a16:creationId xmlns:a16="http://schemas.microsoft.com/office/drawing/2014/main" id="{6182134B-3BAA-8FD4-280F-BCB33DB46D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79421" y="646983"/>
            <a:ext cx="5822203" cy="278201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0F6E0FA5-1236-1768-7A16-F8C9895430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90378" y="646983"/>
            <a:ext cx="5822203" cy="278201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C0B098A-48E2-EDE5-F5D1-62EFB8F453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9421" y="3605468"/>
            <a:ext cx="5822203" cy="2782016"/>
          </a:xfrm>
          <a:prstGeom prst="rect">
            <a:avLst/>
          </a:prstGeom>
        </p:spPr>
      </p:pic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303ED831-9AE0-4541-A495-423D08BEBDA3}"/>
              </a:ext>
            </a:extLst>
          </p:cNvPr>
          <p:cNvSpPr/>
          <p:nvPr/>
        </p:nvSpPr>
        <p:spPr>
          <a:xfrm>
            <a:off x="6190378" y="3605468"/>
            <a:ext cx="5944472" cy="2655632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1770D5-E2A4-4E96-B938-0CB2D3464253}"/>
              </a:ext>
            </a:extLst>
          </p:cNvPr>
          <p:cNvSpPr txBox="1"/>
          <p:nvPr/>
        </p:nvSpPr>
        <p:spPr>
          <a:xfrm>
            <a:off x="6441137" y="3733680"/>
            <a:ext cx="11306175" cy="219075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Kesimpulan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Analisis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Layanan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5C7A8C-0673-4BD4-AC71-164B80287FF7}"/>
              </a:ext>
            </a:extLst>
          </p:cNvPr>
          <p:cNvSpPr txBox="1"/>
          <p:nvPr/>
        </p:nvSpPr>
        <p:spPr>
          <a:xfrm>
            <a:off x="6250068" y="3992031"/>
            <a:ext cx="5818561" cy="236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100" dirty="0" err="1"/>
              <a:t>Berdasarkan</a:t>
            </a:r>
            <a:r>
              <a:rPr lang="en-US" sz="1100" dirty="0"/>
              <a:t> </a:t>
            </a:r>
            <a:r>
              <a:rPr lang="en-US" sz="1100" dirty="0" err="1"/>
              <a:t>hasil</a:t>
            </a:r>
            <a:r>
              <a:rPr lang="en-US" sz="1100" dirty="0"/>
              <a:t> </a:t>
            </a:r>
            <a:r>
              <a:rPr lang="en-US" sz="1100" dirty="0" err="1"/>
              <a:t>pantauan</a:t>
            </a:r>
            <a:r>
              <a:rPr lang="en-US" sz="1100" dirty="0"/>
              <a:t> </a:t>
            </a:r>
            <a:r>
              <a:rPr lang="en-US" sz="1100" dirty="0" err="1"/>
              <a:t>infrastruktur</a:t>
            </a:r>
            <a:r>
              <a:rPr lang="en-US" sz="1100" dirty="0"/>
              <a:t> </a:t>
            </a:r>
            <a:r>
              <a:rPr lang="en-US" sz="1100" dirty="0" err="1"/>
              <a:t>telekomunikasi</a:t>
            </a:r>
            <a:r>
              <a:rPr lang="en-US" sz="1100" dirty="0"/>
              <a:t> </a:t>
            </a:r>
            <a:r>
              <a:rPr lang="en-US" sz="1100" dirty="0" err="1"/>
              <a:t>terhadap</a:t>
            </a:r>
            <a:r>
              <a:rPr lang="en-US" sz="1100" dirty="0"/>
              <a:t> </a:t>
            </a:r>
            <a:r>
              <a:rPr lang="en-US" sz="1100" dirty="0" err="1"/>
              <a:t>kejadian</a:t>
            </a:r>
            <a:r>
              <a:rPr lang="en-US" sz="1100" dirty="0"/>
              <a:t> </a:t>
            </a:r>
            <a:r>
              <a:rPr lang="en-US" sz="1100" dirty="0" err="1"/>
              <a:t>Gempa</a:t>
            </a:r>
            <a:r>
              <a:rPr lang="en-US" sz="1100" dirty="0"/>
              <a:t> </a:t>
            </a:r>
            <a:r>
              <a:rPr lang="en-US" sz="1100" dirty="0" err="1"/>
              <a:t>Bumi</a:t>
            </a:r>
            <a:r>
              <a:rPr lang="en-US" sz="1100" dirty="0"/>
              <a:t> (6.2 Mag) yang </a:t>
            </a:r>
            <a:r>
              <a:rPr lang="en-US" sz="1100" dirty="0" err="1"/>
              <a:t>terjadi</a:t>
            </a:r>
            <a:r>
              <a:rPr lang="en-US" sz="1100" dirty="0"/>
              <a:t> pada September 2026 </a:t>
            </a:r>
            <a:r>
              <a:rPr lang="en-US" sz="1100" dirty="0" err="1"/>
              <a:t>dengan</a:t>
            </a:r>
            <a:r>
              <a:rPr lang="en-US" sz="1100" dirty="0"/>
              <a:t> </a:t>
            </a:r>
            <a:r>
              <a:rPr lang="en-US" sz="1100" dirty="0" err="1"/>
              <a:t>titik</a:t>
            </a:r>
            <a:r>
              <a:rPr lang="en-US" sz="1100" dirty="0"/>
              <a:t> </a:t>
            </a:r>
            <a:r>
              <a:rPr lang="en-US" sz="1100" dirty="0" err="1"/>
              <a:t>fokus</a:t>
            </a:r>
            <a:r>
              <a:rPr lang="en-US" sz="1100" dirty="0"/>
              <a:t> </a:t>
            </a:r>
            <a:r>
              <a:rPr lang="en-US" sz="1100" dirty="0" err="1"/>
              <a:t>Kabupaten</a:t>
            </a:r>
            <a:r>
              <a:rPr lang="en-US" sz="1100" dirty="0"/>
              <a:t> PEGUNUNGAN BINTANG, </a:t>
            </a:r>
            <a:r>
              <a:rPr lang="en-US" sz="1100" dirty="0" err="1"/>
              <a:t>dapat</a:t>
            </a:r>
            <a:r>
              <a:rPr lang="en-US" sz="1100" dirty="0"/>
              <a:t> </a:t>
            </a:r>
            <a:r>
              <a:rPr lang="en-US" sz="1100" dirty="0" err="1"/>
              <a:t>disimpulkan</a:t>
            </a:r>
            <a:r>
              <a:rPr lang="en-US" sz="1100" dirty="0"/>
              <a:t> </a:t>
            </a:r>
            <a:r>
              <a:rPr lang="en-US" sz="1100" dirty="0" err="1"/>
              <a:t>bahwa</a:t>
            </a:r>
            <a:r>
              <a:rPr lang="en-US" sz="1100" dirty="0"/>
              <a:t>:</a:t>
            </a:r>
          </a:p>
          <a:p>
            <a:pPr marL="228600" indent="-228600">
              <a:buAutoNum type="arabicPeriod"/>
            </a:pPr>
            <a:r>
              <a:rPr lang="en-US" sz="1100" b="1" dirty="0" err="1"/>
              <a:t>Dampak</a:t>
            </a:r>
            <a:r>
              <a:rPr lang="en-US" sz="1100" b="1" dirty="0"/>
              <a:t> </a:t>
            </a:r>
            <a:r>
              <a:rPr lang="en-US" sz="1100" b="1" dirty="0" err="1"/>
              <a:t>Infrastruktur</a:t>
            </a:r>
            <a:r>
              <a:rPr lang="en-US" sz="1100" b="1" dirty="0"/>
              <a:t>:</a:t>
            </a:r>
            <a:r>
              <a:rPr lang="en-US" sz="1100" dirty="0"/>
              <a:t> </a:t>
            </a:r>
          </a:p>
          <a:p>
            <a:r>
              <a:rPr lang="en-US" sz="1100" dirty="0" err="1"/>
              <a:t>Terdapat</a:t>
            </a:r>
            <a:r>
              <a:rPr lang="en-US" sz="1100" dirty="0"/>
              <a:t> {{</a:t>
            </a:r>
            <a:r>
              <a:rPr lang="en-US" sz="1100" dirty="0" err="1"/>
              <a:t>total_site</a:t>
            </a:r>
            <a:r>
              <a:rPr lang="en-US" sz="1100" dirty="0"/>
              <a:t>}} site BAKTI yang </a:t>
            </a:r>
            <a:r>
              <a:rPr lang="en-US" sz="1100" dirty="0" err="1"/>
              <a:t>masuk</a:t>
            </a:r>
            <a:r>
              <a:rPr lang="en-US" sz="1100" dirty="0"/>
              <a:t> </a:t>
            </a:r>
            <a:r>
              <a:rPr lang="en-US" sz="1100" dirty="0" err="1"/>
              <a:t>ke</a:t>
            </a:r>
            <a:r>
              <a:rPr lang="en-US" sz="1100" dirty="0"/>
              <a:t> </a:t>
            </a:r>
            <a:r>
              <a:rPr lang="en-US" sz="1100" dirty="0" err="1"/>
              <a:t>dalam</a:t>
            </a:r>
            <a:r>
              <a:rPr lang="en-US" sz="1100" dirty="0"/>
              <a:t> radius </a:t>
            </a:r>
            <a:r>
              <a:rPr lang="en-US" sz="1100" dirty="0" err="1"/>
              <a:t>terdampak</a:t>
            </a:r>
            <a:r>
              <a:rPr lang="en-US" sz="1100" dirty="0"/>
              <a:t>. </a:t>
            </a:r>
            <a:r>
              <a:rPr lang="en-US" sz="1100" dirty="0" err="1"/>
              <a:t>Saat</a:t>
            </a:r>
            <a:r>
              <a:rPr lang="en-US" sz="1100" dirty="0"/>
              <a:t> </a:t>
            </a:r>
            <a:r>
              <a:rPr lang="en-US" sz="1100" dirty="0" err="1"/>
              <a:t>ini</a:t>
            </a:r>
            <a:r>
              <a:rPr lang="en-US" sz="1100" dirty="0"/>
              <a:t>, </a:t>
            </a:r>
            <a:r>
              <a:rPr lang="en-US" sz="1100" dirty="0" err="1"/>
              <a:t>sebanyak</a:t>
            </a:r>
            <a:r>
              <a:rPr lang="en-US" sz="1100" dirty="0"/>
              <a:t> {{</a:t>
            </a:r>
            <a:r>
              <a:rPr lang="en-US" sz="1100" dirty="0" err="1"/>
              <a:t>site_up</a:t>
            </a:r>
            <a:r>
              <a:rPr lang="en-US" sz="1100" dirty="0"/>
              <a:t>}} site </a:t>
            </a:r>
            <a:r>
              <a:rPr lang="en-US" sz="1100" dirty="0" err="1"/>
              <a:t>terpantau</a:t>
            </a:r>
            <a:r>
              <a:rPr lang="en-US" sz="1100" dirty="0"/>
              <a:t> </a:t>
            </a:r>
            <a:r>
              <a:rPr lang="en-US" sz="1100" dirty="0" err="1"/>
              <a:t>dalam</a:t>
            </a:r>
            <a:r>
              <a:rPr lang="en-US" sz="1100" dirty="0"/>
              <a:t> </a:t>
            </a:r>
            <a:r>
              <a:rPr lang="en-US" sz="1100" dirty="0" err="1"/>
              <a:t>kondisi</a:t>
            </a:r>
            <a:r>
              <a:rPr lang="en-US" sz="1100" dirty="0"/>
              <a:t> normal (UP), </a:t>
            </a:r>
            <a:r>
              <a:rPr lang="en-US" sz="1100" dirty="0" err="1"/>
              <a:t>sedangkan</a:t>
            </a:r>
            <a:r>
              <a:rPr lang="en-US" sz="1100" dirty="0"/>
              <a:t> {{</a:t>
            </a:r>
            <a:r>
              <a:rPr lang="en-US" sz="1100" dirty="0" err="1"/>
              <a:t>site_down</a:t>
            </a:r>
            <a:r>
              <a:rPr lang="en-US" sz="1100" dirty="0"/>
              <a:t>}} site </a:t>
            </a:r>
            <a:r>
              <a:rPr lang="en-US" sz="1100" dirty="0" err="1"/>
              <a:t>mengalami</a:t>
            </a:r>
            <a:r>
              <a:rPr lang="en-US" sz="1100" dirty="0"/>
              <a:t> </a:t>
            </a:r>
            <a:r>
              <a:rPr lang="en-US" sz="1100" dirty="0" err="1"/>
              <a:t>gangguan</a:t>
            </a:r>
            <a:r>
              <a:rPr lang="en-US" sz="1100" dirty="0"/>
              <a:t> (DOWN) dan </a:t>
            </a:r>
            <a:r>
              <a:rPr lang="en-US" sz="1100" dirty="0" err="1"/>
              <a:t>memerlukan</a:t>
            </a:r>
            <a:r>
              <a:rPr lang="en-US" sz="1100" dirty="0"/>
              <a:t> </a:t>
            </a:r>
            <a:r>
              <a:rPr lang="en-US" sz="1100" dirty="0" err="1"/>
              <a:t>eskalasi</a:t>
            </a:r>
            <a:r>
              <a:rPr lang="en-US" sz="1100" dirty="0"/>
              <a:t> </a:t>
            </a:r>
            <a:r>
              <a:rPr lang="en-US" sz="1100" dirty="0" err="1"/>
              <a:t>pemulihan</a:t>
            </a:r>
            <a:r>
              <a:rPr lang="en-US" sz="1100" dirty="0"/>
              <a:t> </a:t>
            </a:r>
            <a:r>
              <a:rPr lang="en-US" sz="1100" dirty="0" err="1"/>
              <a:t>segera</a:t>
            </a:r>
            <a:r>
              <a:rPr lang="en-US" sz="1100" dirty="0"/>
              <a:t>.</a:t>
            </a:r>
          </a:p>
          <a:p>
            <a:r>
              <a:rPr lang="en-US" sz="1100" b="1" dirty="0"/>
              <a:t>2. </a:t>
            </a:r>
            <a:r>
              <a:rPr lang="en-US" sz="1100" b="1" dirty="0" err="1"/>
              <a:t>Cakupan</a:t>
            </a:r>
            <a:r>
              <a:rPr lang="en-US" sz="1100" b="1" dirty="0"/>
              <a:t> Wilayah:</a:t>
            </a:r>
          </a:p>
          <a:p>
            <a:r>
              <a:rPr lang="en-US" sz="1100" dirty="0" err="1"/>
              <a:t>Gangguan</a:t>
            </a:r>
            <a:r>
              <a:rPr lang="en-US" sz="1100" dirty="0"/>
              <a:t> </a:t>
            </a:r>
            <a:r>
              <a:rPr lang="en-US" sz="1100" dirty="0" err="1"/>
              <a:t>ini</a:t>
            </a:r>
            <a:r>
              <a:rPr lang="en-US" sz="1100" dirty="0"/>
              <a:t> </a:t>
            </a:r>
            <a:r>
              <a:rPr lang="en-US" sz="1100" dirty="0" err="1"/>
              <a:t>memberikan</a:t>
            </a:r>
            <a:r>
              <a:rPr lang="en-US" sz="1100" dirty="0"/>
              <a:t> </a:t>
            </a:r>
            <a:r>
              <a:rPr lang="en-US" sz="1100" dirty="0" err="1"/>
              <a:t>imbas</a:t>
            </a:r>
            <a:r>
              <a:rPr lang="en-US" sz="1100" dirty="0"/>
              <a:t> pada </a:t>
            </a:r>
            <a:r>
              <a:rPr lang="en-US" sz="1100" dirty="0" err="1"/>
              <a:t>layanan</a:t>
            </a:r>
            <a:r>
              <a:rPr lang="en-US" sz="1100" dirty="0"/>
              <a:t> </a:t>
            </a:r>
            <a:r>
              <a:rPr lang="en-US" sz="1100" dirty="0" err="1"/>
              <a:t>komunikasi</a:t>
            </a:r>
            <a:r>
              <a:rPr lang="en-US" sz="1100" dirty="0"/>
              <a:t> </a:t>
            </a:r>
            <a:r>
              <a:rPr lang="en-US" sz="1100" dirty="0" err="1"/>
              <a:t>publik</a:t>
            </a:r>
            <a:r>
              <a:rPr lang="en-US" sz="1100" dirty="0"/>
              <a:t> yang </a:t>
            </a:r>
            <a:r>
              <a:rPr lang="en-US" sz="1100" dirty="0" err="1"/>
              <a:t>mencakup</a:t>
            </a:r>
            <a:r>
              <a:rPr lang="en-US" sz="1100" dirty="0"/>
              <a:t> {{</a:t>
            </a:r>
            <a:r>
              <a:rPr lang="en-US" sz="1100" dirty="0" err="1"/>
              <a:t>n_kab</a:t>
            </a:r>
            <a:r>
              <a:rPr lang="en-US" sz="1100" dirty="0"/>
              <a:t>}} </a:t>
            </a:r>
            <a:r>
              <a:rPr lang="en-US" sz="1100" dirty="0" err="1"/>
              <a:t>Kabupaten</a:t>
            </a:r>
            <a:r>
              <a:rPr lang="en-US" sz="1100" dirty="0"/>
              <a:t> dan {{</a:t>
            </a:r>
            <a:r>
              <a:rPr lang="en-US" sz="1100" dirty="0" err="1"/>
              <a:t>n_kec</a:t>
            </a:r>
            <a:r>
              <a:rPr lang="en-US" sz="1100" dirty="0"/>
              <a:t>}} </a:t>
            </a:r>
            <a:r>
              <a:rPr lang="en-US" sz="1100" dirty="0" err="1"/>
              <a:t>Kecamatan</a:t>
            </a:r>
            <a:r>
              <a:rPr lang="en-US" sz="1100" dirty="0"/>
              <a:t>.</a:t>
            </a:r>
          </a:p>
          <a:p>
            <a:r>
              <a:rPr lang="en-US" sz="1100" b="1" dirty="0"/>
              <a:t>3. </a:t>
            </a:r>
            <a:r>
              <a:rPr lang="en-US" sz="1100" b="1" dirty="0" err="1"/>
              <a:t>Kapasitas</a:t>
            </a:r>
            <a:r>
              <a:rPr lang="en-US" sz="1100" b="1" dirty="0"/>
              <a:t> </a:t>
            </a:r>
            <a:r>
              <a:rPr lang="en-US" sz="1100" b="1" dirty="0" err="1"/>
              <a:t>Layanan</a:t>
            </a:r>
            <a:r>
              <a:rPr lang="en-US" sz="1100" b="1" dirty="0"/>
              <a:t>:</a:t>
            </a:r>
          </a:p>
          <a:p>
            <a:r>
              <a:rPr lang="en-US" sz="1100" dirty="0" err="1"/>
              <a:t>Meski</a:t>
            </a:r>
            <a:r>
              <a:rPr lang="en-US" sz="1100" dirty="0"/>
              <a:t> </a:t>
            </a:r>
            <a:r>
              <a:rPr lang="en-US" sz="1100" dirty="0" err="1"/>
              <a:t>terjadi</a:t>
            </a:r>
            <a:r>
              <a:rPr lang="en-US" sz="1100" dirty="0"/>
              <a:t> </a:t>
            </a:r>
            <a:r>
              <a:rPr lang="en-US" sz="1100" dirty="0" err="1"/>
              <a:t>kendala</a:t>
            </a:r>
            <a:r>
              <a:rPr lang="en-US" sz="1100" dirty="0"/>
              <a:t>, </a:t>
            </a:r>
            <a:r>
              <a:rPr lang="en-US" sz="1100" dirty="0" err="1"/>
              <a:t>sisa</a:t>
            </a:r>
            <a:r>
              <a:rPr lang="en-US" sz="1100" dirty="0"/>
              <a:t> site yang </a:t>
            </a:r>
            <a:r>
              <a:rPr lang="en-US" sz="1100" dirty="0" err="1"/>
              <a:t>beroperasi</a:t>
            </a:r>
            <a:r>
              <a:rPr lang="en-US" sz="1100" dirty="0"/>
              <a:t> </a:t>
            </a:r>
            <a:r>
              <a:rPr lang="en-US" sz="1100" dirty="0" err="1"/>
              <a:t>masih</a:t>
            </a:r>
            <a:r>
              <a:rPr lang="en-US" sz="1100" dirty="0"/>
              <a:t> </a:t>
            </a:r>
            <a:r>
              <a:rPr lang="en-US" sz="1100" dirty="0" err="1"/>
              <a:t>menampung</a:t>
            </a:r>
            <a:r>
              <a:rPr lang="en-US" sz="1100" dirty="0"/>
              <a:t> </a:t>
            </a:r>
            <a:r>
              <a:rPr lang="en-US" sz="1100" dirty="0" err="1"/>
              <a:t>beban</a:t>
            </a:r>
            <a:r>
              <a:rPr lang="en-US" sz="1100" dirty="0"/>
              <a:t> traffic </a:t>
            </a:r>
            <a:r>
              <a:rPr lang="en-US" sz="1100" dirty="0" err="1"/>
              <a:t>harian</a:t>
            </a:r>
            <a:r>
              <a:rPr lang="en-US" sz="1100" dirty="0"/>
              <a:t> rata-rata </a:t>
            </a:r>
            <a:r>
              <a:rPr lang="en-US" sz="1100" dirty="0" err="1"/>
              <a:t>sebesar</a:t>
            </a:r>
            <a:r>
              <a:rPr lang="en-US" sz="1100" dirty="0"/>
              <a:t> {{</a:t>
            </a:r>
            <a:r>
              <a:rPr lang="en-US" sz="1100" dirty="0" err="1"/>
              <a:t>daily_traffic_gb</a:t>
            </a:r>
            <a:r>
              <a:rPr lang="en-US" sz="1100" dirty="0"/>
              <a:t>}} GB dan </a:t>
            </a:r>
            <a:r>
              <a:rPr lang="en-US" sz="1100" dirty="0" err="1"/>
              <a:t>melayani</a:t>
            </a:r>
            <a:r>
              <a:rPr lang="en-US" sz="1100" dirty="0"/>
              <a:t> </a:t>
            </a:r>
            <a:r>
              <a:rPr lang="en-US" sz="1100" dirty="0" err="1"/>
              <a:t>sekitar</a:t>
            </a:r>
            <a:r>
              <a:rPr lang="en-US" sz="1100" dirty="0"/>
              <a:t> {{</a:t>
            </a:r>
            <a:r>
              <a:rPr lang="en-US" sz="1100" dirty="0" err="1"/>
              <a:t>active_users</a:t>
            </a:r>
            <a:r>
              <a:rPr lang="en-US" sz="1100" dirty="0"/>
              <a:t>}} </a:t>
            </a:r>
            <a:r>
              <a:rPr lang="en-US" sz="1100" dirty="0" err="1"/>
              <a:t>pengguna</a:t>
            </a:r>
            <a:r>
              <a:rPr lang="en-US" sz="1100" dirty="0"/>
              <a:t> </a:t>
            </a:r>
            <a:r>
              <a:rPr lang="en-US" sz="1100" dirty="0" err="1"/>
              <a:t>aktif</a:t>
            </a:r>
            <a:r>
              <a:rPr lang="en-US" sz="1100" dirty="0"/>
              <a:t> (peak users).</a:t>
            </a:r>
          </a:p>
          <a:p>
            <a:endParaRPr lang="en-US" sz="1100" dirty="0" err="1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5B236CE3-4A12-471B-A02D-75D8FF9ECD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6604" y="3764390"/>
            <a:ext cx="171450" cy="1714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242873E-AE2C-4B8B-8EDA-4AE2F79DEF85}"/>
              </a:ext>
            </a:extLst>
          </p:cNvPr>
          <p:cNvSpPr/>
          <p:nvPr/>
        </p:nvSpPr>
        <p:spPr>
          <a:xfrm>
            <a:off x="1466865" y="977601"/>
            <a:ext cx="446692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Perlu</a:t>
            </a:r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 Manual</a:t>
            </a:r>
          </a:p>
          <a:p>
            <a:pPr algn="ctr"/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Capture Dari </a:t>
            </a:r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Streamlit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35349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515</Words>
  <Application>Microsoft Office PowerPoint</Application>
  <PresentationFormat>Widescreen</PresentationFormat>
  <Paragraphs>62</Paragraphs>
  <Slides>3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Montserrat</vt:lpstr>
      <vt:lpstr>Arial</vt:lpstr>
      <vt:lpstr>Calibri</vt:lpstr>
      <vt:lpstr>Yu Gothic</vt:lpstr>
      <vt:lpstr>Segoe UI</vt:lpstr>
      <vt:lpstr>Barlow</vt:lpstr>
      <vt:lpstr>Plus Jakarta Sans</vt:lpstr>
      <vt:lpstr>Office Theme</vt:lpstr>
      <vt:lpstr>think-cell Slide</vt:lpstr>
      <vt:lpstr>PowerPoint Presentation</vt:lpstr>
      <vt:lpstr>Ringkasan Laporan Performansi BTS BAKTI</vt:lpstr>
      <vt:lpstr>Tren Productivity Layanan BTS Bakti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ilham putra</cp:lastModifiedBy>
  <cp:revision>24</cp:revision>
  <dcterms:created xsi:type="dcterms:W3CDTF">2013-01-27T09:14:16Z</dcterms:created>
  <dcterms:modified xsi:type="dcterms:W3CDTF">2026-09-24T08:31:28Z</dcterms:modified>
  <cp:category/>
</cp:coreProperties>
</file>
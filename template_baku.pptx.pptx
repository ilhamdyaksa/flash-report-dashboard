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147474856" r:id="rId3"/>
    <p:sldId id="2147474857" r:id="rId4"/>
    <p:sldId id="2147474858" r:id="rId5"/>
  </p:sldIdLst>
  <p:sldSz cx="12192000" cy="6858000"/>
  <p:notesSz cx="6858000" cy="9144000"/>
  <p:embeddedFontLst>
    <p:embeddedFont>
      <p:font typeface="Barlow" panose="00000500000000000000" pitchFamily="2" charset="0"/>
      <p:regular r:id="rId7"/>
      <p:bold r:id="rId8"/>
      <p:italic r:id="rId9"/>
      <p:boldItalic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Plus Jakarta Sans"/>
      <p: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  <p:embeddedFont>
      <p:font typeface="Yu Gothic" panose="020B0400000000000000" pitchFamily="34" charset="-128"/>
      <p:regular r:id="rId24"/>
      <p:bold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33CCCC"/>
    <a:srgbClr val="45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6" autoAdjust="0"/>
    <p:restoredTop sz="82115" autoAdjust="0"/>
  </p:normalViewPr>
  <p:slideViewPr>
    <p:cSldViewPr snapToGrid="0" snapToObjects="1">
      <p:cViewPr varScale="1">
        <p:scale>
          <a:sx n="83" d="100"/>
          <a:sy n="83" d="100"/>
        </p:scale>
        <p:origin x="30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28" Type="http://schemas.openxmlformats.org/officeDocument/2006/relationships/theme" Target="theme/theme1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FF55DB-804C-42BF-85A9-7EC675B140D9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1569A0-6D7E-4193-BF44-2C9C6E1B5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29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21B5-83D5-434D-BA74-C93E08F55769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34259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EC0FD-4BB5-06CC-0293-CF279713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A2798-79D9-D646-320F-EED39F1EA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D40EC-A4B0-8A26-8C74-60EBC13AD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34812-5D33-A184-3F06-7F572324F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21B5-83D5-434D-BA74-C93E08F55769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9827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EC0FD-4BB5-06CC-0293-CF279713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9A2798-79D9-D646-320F-EED39F1EA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D40EC-A4B0-8A26-8C74-60EBC13AD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34812-5D33-A184-3F06-7F572324F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21B5-83D5-434D-BA74-C93E08F55769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8880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10" Type="http://schemas.openxmlformats.org/officeDocument/2006/relationships/image" Target="../media/image2.png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6187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think-cell Slide" r:id="rId8" imgW="413" imgH="416" progId="TCLayout.ActiveDocument.1">
                  <p:embed/>
                </p:oleObj>
              </mc:Choice>
              <mc:Fallback>
                <p:oleObj name="think-cell Slide" r:id="rId8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4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Source: …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304CBC1-1FFE-842D-AF77-4C0066BF916A}"/>
              </a:ext>
            </a:extLst>
          </p:cNvPr>
          <p:cNvSpPr/>
          <p:nvPr userDrawn="1"/>
        </p:nvSpPr>
        <p:spPr>
          <a:xfrm>
            <a:off x="948534" y="-1"/>
            <a:ext cx="11251631" cy="565568"/>
          </a:xfrm>
          <a:custGeom>
            <a:avLst/>
            <a:gdLst>
              <a:gd name="connsiteX0" fmla="*/ 0 w 11230500"/>
              <a:gd name="connsiteY0" fmla="*/ 0 h 565568"/>
              <a:gd name="connsiteX1" fmla="*/ 11230500 w 11230500"/>
              <a:gd name="connsiteY1" fmla="*/ 0 h 565568"/>
              <a:gd name="connsiteX2" fmla="*/ 11230500 w 11230500"/>
              <a:gd name="connsiteY2" fmla="*/ 565568 h 565568"/>
              <a:gd name="connsiteX3" fmla="*/ 237664 w 11230500"/>
              <a:gd name="connsiteY3" fmla="*/ 565568 h 565568"/>
              <a:gd name="connsiteX4" fmla="*/ 0 w 11230500"/>
              <a:gd name="connsiteY4" fmla="*/ 0 h 56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30500" h="565568">
                <a:moveTo>
                  <a:pt x="0" y="0"/>
                </a:moveTo>
                <a:lnTo>
                  <a:pt x="11230500" y="0"/>
                </a:lnTo>
                <a:lnTo>
                  <a:pt x="11230500" y="565568"/>
                </a:lnTo>
                <a:lnTo>
                  <a:pt x="237664" y="565568"/>
                </a:lnTo>
                <a:lnTo>
                  <a:pt x="0" y="0"/>
                </a:lnTo>
                <a:close/>
              </a:path>
            </a:pathLst>
          </a:custGeom>
          <a:solidFill>
            <a:srgbClr val="0D8885"/>
          </a:solidFill>
          <a:ln w="626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ID" dirty="0">
              <a:latin typeface="Barlow" panose="00000500000000000000" pitchFamily="2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5E0CF19-CFF4-3C2C-53F7-BE938C6EBAEC}"/>
              </a:ext>
            </a:extLst>
          </p:cNvPr>
          <p:cNvSpPr/>
          <p:nvPr userDrawn="1"/>
        </p:nvSpPr>
        <p:spPr>
          <a:xfrm>
            <a:off x="897226" y="-1"/>
            <a:ext cx="294162" cy="565568"/>
          </a:xfrm>
          <a:custGeom>
            <a:avLst/>
            <a:gdLst>
              <a:gd name="connsiteX0" fmla="*/ 0 w 294162"/>
              <a:gd name="connsiteY0" fmla="*/ 0 h 565568"/>
              <a:gd name="connsiteX1" fmla="*/ 56498 w 294162"/>
              <a:gd name="connsiteY1" fmla="*/ 0 h 565568"/>
              <a:gd name="connsiteX2" fmla="*/ 294162 w 294162"/>
              <a:gd name="connsiteY2" fmla="*/ 565568 h 565568"/>
              <a:gd name="connsiteX3" fmla="*/ 237664 w 294162"/>
              <a:gd name="connsiteY3" fmla="*/ 565568 h 565568"/>
              <a:gd name="connsiteX4" fmla="*/ 0 w 294162"/>
              <a:gd name="connsiteY4" fmla="*/ 0 h 565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162" h="565568">
                <a:moveTo>
                  <a:pt x="0" y="0"/>
                </a:moveTo>
                <a:lnTo>
                  <a:pt x="56498" y="0"/>
                </a:lnTo>
                <a:lnTo>
                  <a:pt x="294162" y="565568"/>
                </a:lnTo>
                <a:lnTo>
                  <a:pt x="237664" y="56556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  <a:ln w="6268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ID" dirty="0">
              <a:latin typeface="Barlow" panose="00000500000000000000" pitchFamily="2" charset="0"/>
            </a:endParaRPr>
          </a:p>
        </p:txBody>
      </p:sp>
      <p:grpSp>
        <p:nvGrpSpPr>
          <p:cNvPr id="6" name="Graphic 18">
            <a:extLst>
              <a:ext uri="{FF2B5EF4-FFF2-40B4-BE49-F238E27FC236}">
                <a16:creationId xmlns:a16="http://schemas.microsoft.com/office/drawing/2014/main" id="{352C51F7-4983-4630-E6EB-7C9482A9D799}"/>
              </a:ext>
            </a:extLst>
          </p:cNvPr>
          <p:cNvGrpSpPr/>
          <p:nvPr userDrawn="1"/>
        </p:nvGrpSpPr>
        <p:grpSpPr>
          <a:xfrm>
            <a:off x="10676978" y="5522"/>
            <a:ext cx="938936" cy="545267"/>
            <a:chOff x="10226421" y="3043494"/>
            <a:chExt cx="1323883" cy="768817"/>
          </a:xfrm>
          <a:solidFill>
            <a:srgbClr val="0A7771"/>
          </a:solidFill>
        </p:grpSpPr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FA34602D-1021-A147-741B-57A82D29B340}"/>
                </a:ext>
              </a:extLst>
            </p:cNvPr>
            <p:cNvSpPr/>
            <p:nvPr/>
          </p:nvSpPr>
          <p:spPr>
            <a:xfrm>
              <a:off x="10781551" y="3470558"/>
              <a:ext cx="341688" cy="341752"/>
            </a:xfrm>
            <a:custGeom>
              <a:avLst/>
              <a:gdLst>
                <a:gd name="connsiteX0" fmla="*/ 0 w 341689"/>
                <a:gd name="connsiteY0" fmla="*/ 3 h 341752"/>
                <a:gd name="connsiteX1" fmla="*/ 0 w 341689"/>
                <a:gd name="connsiteY1" fmla="*/ 128191 h 341752"/>
                <a:gd name="connsiteX2" fmla="*/ 213501 w 341689"/>
                <a:gd name="connsiteY2" fmla="*/ 341693 h 341752"/>
                <a:gd name="connsiteX3" fmla="*/ 213501 w 341689"/>
                <a:gd name="connsiteY3" fmla="*/ 341755 h 341752"/>
                <a:gd name="connsiteX4" fmla="*/ 341689 w 341689"/>
                <a:gd name="connsiteY4" fmla="*/ 341755 h 341752"/>
                <a:gd name="connsiteX5" fmla="*/ 0 w 341689"/>
                <a:gd name="connsiteY5" fmla="*/ 3 h 34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1689" h="341752">
                  <a:moveTo>
                    <a:pt x="0" y="3"/>
                  </a:moveTo>
                  <a:lnTo>
                    <a:pt x="0" y="128191"/>
                  </a:lnTo>
                  <a:cubicBezTo>
                    <a:pt x="117909" y="128191"/>
                    <a:pt x="213501" y="223778"/>
                    <a:pt x="213501" y="341693"/>
                  </a:cubicBezTo>
                  <a:cubicBezTo>
                    <a:pt x="213501" y="341711"/>
                    <a:pt x="213501" y="341736"/>
                    <a:pt x="213501" y="341755"/>
                  </a:cubicBezTo>
                  <a:lnTo>
                    <a:pt x="341689" y="341755"/>
                  </a:lnTo>
                  <a:cubicBezTo>
                    <a:pt x="341689" y="153035"/>
                    <a:pt x="188741" y="37"/>
                    <a:pt x="0" y="3"/>
                  </a:cubicBezTo>
                  <a:close/>
                </a:path>
              </a:pathLst>
            </a:custGeom>
            <a:solidFill>
              <a:srgbClr val="0A7771"/>
            </a:solidFill>
            <a:ln w="62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>
                <a:latin typeface="Barlow" panose="00000500000000000000" pitchFamily="2" charset="0"/>
              </a:endParaRPr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3DDAF9C1-6546-123D-19BF-787B34B727BE}"/>
                </a:ext>
              </a:extLst>
            </p:cNvPr>
            <p:cNvSpPr/>
            <p:nvPr/>
          </p:nvSpPr>
          <p:spPr>
            <a:xfrm>
              <a:off x="10226421" y="3262894"/>
              <a:ext cx="1110568" cy="549417"/>
            </a:xfrm>
            <a:custGeom>
              <a:avLst/>
              <a:gdLst>
                <a:gd name="connsiteX0" fmla="*/ 555127 w 1110568"/>
                <a:gd name="connsiteY0" fmla="*/ 122230 h 549416"/>
                <a:gd name="connsiteX1" fmla="*/ 982443 w 1110568"/>
                <a:gd name="connsiteY1" fmla="*/ 549169 h 549416"/>
                <a:gd name="connsiteX2" fmla="*/ 982443 w 1110568"/>
                <a:gd name="connsiteY2" fmla="*/ 549420 h 549416"/>
                <a:gd name="connsiteX3" fmla="*/ 1110569 w 1110568"/>
                <a:gd name="connsiteY3" fmla="*/ 549420 h 549416"/>
                <a:gd name="connsiteX4" fmla="*/ 549361 w 1110568"/>
                <a:gd name="connsiteY4" fmla="*/ 35 h 549416"/>
                <a:gd name="connsiteX5" fmla="*/ 0 w 1110568"/>
                <a:gd name="connsiteY5" fmla="*/ 549420 h 549416"/>
                <a:gd name="connsiteX6" fmla="*/ 128125 w 1110568"/>
                <a:gd name="connsiteY6" fmla="*/ 549420 h 549416"/>
                <a:gd name="connsiteX7" fmla="*/ 555378 w 1110568"/>
                <a:gd name="connsiteY7" fmla="*/ 122230 h 549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0568" h="549416">
                  <a:moveTo>
                    <a:pt x="555127" y="122230"/>
                  </a:moveTo>
                  <a:cubicBezTo>
                    <a:pt x="791007" y="122126"/>
                    <a:pt x="982318" y="313273"/>
                    <a:pt x="982443" y="549169"/>
                  </a:cubicBezTo>
                  <a:cubicBezTo>
                    <a:pt x="982443" y="549251"/>
                    <a:pt x="982443" y="549338"/>
                    <a:pt x="982443" y="549420"/>
                  </a:cubicBezTo>
                  <a:lnTo>
                    <a:pt x="1110569" y="549420"/>
                  </a:lnTo>
                  <a:cubicBezTo>
                    <a:pt x="1107310" y="242745"/>
                    <a:pt x="856072" y="-3223"/>
                    <a:pt x="549361" y="35"/>
                  </a:cubicBezTo>
                  <a:cubicBezTo>
                    <a:pt x="247287" y="3244"/>
                    <a:pt x="3197" y="247343"/>
                    <a:pt x="0" y="549420"/>
                  </a:cubicBezTo>
                  <a:lnTo>
                    <a:pt x="128125" y="549420"/>
                  </a:lnTo>
                  <a:cubicBezTo>
                    <a:pt x="128188" y="313479"/>
                    <a:pt x="319436" y="122230"/>
                    <a:pt x="555378" y="122230"/>
                  </a:cubicBezTo>
                  <a:close/>
                </a:path>
              </a:pathLst>
            </a:custGeom>
            <a:solidFill>
              <a:srgbClr val="0A7771"/>
            </a:solidFill>
            <a:ln w="62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>
                <a:latin typeface="Barlow" panose="00000500000000000000" pitchFamily="2" charset="0"/>
              </a:endParaRPr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C5E8D7AC-46D0-E8A8-C0F2-6D30BC35250B}"/>
                </a:ext>
              </a:extLst>
            </p:cNvPr>
            <p:cNvSpPr/>
            <p:nvPr/>
          </p:nvSpPr>
          <p:spPr>
            <a:xfrm>
              <a:off x="10781301" y="3043494"/>
              <a:ext cx="769003" cy="768817"/>
            </a:xfrm>
            <a:custGeom>
              <a:avLst/>
              <a:gdLst>
                <a:gd name="connsiteX0" fmla="*/ 250 w 769004"/>
                <a:gd name="connsiteY0" fmla="*/ 3 h 768817"/>
                <a:gd name="connsiteX1" fmla="*/ 769005 w 769004"/>
                <a:gd name="connsiteY1" fmla="*/ 768757 h 768817"/>
                <a:gd name="connsiteX2" fmla="*/ 769005 w 769004"/>
                <a:gd name="connsiteY2" fmla="*/ 768820 h 768817"/>
                <a:gd name="connsiteX3" fmla="*/ 640691 w 769004"/>
                <a:gd name="connsiteY3" fmla="*/ 768820 h 768817"/>
                <a:gd name="connsiteX4" fmla="*/ 187 w 769004"/>
                <a:gd name="connsiteY4" fmla="*/ 128191 h 768817"/>
                <a:gd name="connsiteX5" fmla="*/ 0 w 769004"/>
                <a:gd name="connsiteY5" fmla="*/ 128191 h 768817"/>
                <a:gd name="connsiteX6" fmla="*/ 0 w 769004"/>
                <a:gd name="connsiteY6" fmla="*/ 3 h 768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9004" h="768817">
                  <a:moveTo>
                    <a:pt x="250" y="3"/>
                  </a:moveTo>
                  <a:cubicBezTo>
                    <a:pt x="424808" y="3"/>
                    <a:pt x="769005" y="344186"/>
                    <a:pt x="769005" y="768757"/>
                  </a:cubicBezTo>
                  <a:cubicBezTo>
                    <a:pt x="769005" y="768776"/>
                    <a:pt x="769005" y="768801"/>
                    <a:pt x="769005" y="768820"/>
                  </a:cubicBezTo>
                  <a:lnTo>
                    <a:pt x="640691" y="768820"/>
                  </a:lnTo>
                  <a:cubicBezTo>
                    <a:pt x="640754" y="415045"/>
                    <a:pt x="353975" y="128226"/>
                    <a:pt x="187" y="128191"/>
                  </a:cubicBezTo>
                  <a:cubicBezTo>
                    <a:pt x="125" y="128191"/>
                    <a:pt x="63" y="128191"/>
                    <a:pt x="0" y="128191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0A7771"/>
            </a:solidFill>
            <a:ln w="62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D">
                <a:latin typeface="Barlow" panose="00000500000000000000" pitchFamily="2" charset="0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D4A999A-29A6-F216-5211-2BC1F8FBFD6B}"/>
              </a:ext>
            </a:extLst>
          </p:cNvPr>
          <p:cNvSpPr/>
          <p:nvPr userDrawn="1"/>
        </p:nvSpPr>
        <p:spPr>
          <a:xfrm>
            <a:off x="11811955" y="113637"/>
            <a:ext cx="388210" cy="329036"/>
          </a:xfrm>
          <a:prstGeom prst="rect">
            <a:avLst/>
          </a:prstGeom>
          <a:solidFill>
            <a:srgbClr val="F7BB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7112AC0E-81AA-20D8-4884-383C690BBDD8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839227" y="219847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ct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ct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C8C1AF25-19F6-4086-329C-65EDCF26ACCD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 bwMode="ltGray">
          <a:xfrm>
            <a:off x="1255662" y="85794"/>
            <a:ext cx="10556293" cy="384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ctr" anchorCtr="0">
            <a:noAutofit/>
          </a:bodyPr>
          <a:lstStyle>
            <a:lvl1pPr>
              <a:buClr>
                <a:schemeClr val="tx1"/>
              </a:buClr>
              <a:defRPr lang="en-US" sz="1600" b="1" dirty="0">
                <a:solidFill>
                  <a:schemeClr val="bg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FB71E2-D2DD-6266-C40C-CCDF5543E67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96" y="88948"/>
            <a:ext cx="684393" cy="43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3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62498521-945B-C339-E3DA-1B5DB9758572}"/>
              </a:ext>
            </a:extLst>
          </p:cNvPr>
          <p:cNvGrpSpPr/>
          <p:nvPr/>
        </p:nvGrpSpPr>
        <p:grpSpPr>
          <a:xfrm>
            <a:off x="-61151" y="-15863"/>
            <a:ext cx="6157151" cy="6872332"/>
            <a:chOff x="761998" y="-21498"/>
            <a:chExt cx="9235727" cy="1030849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A14AD95-F7F3-B0B4-7FA7-23043184F595}"/>
                </a:ext>
              </a:extLst>
            </p:cNvPr>
            <p:cNvGrpSpPr/>
            <p:nvPr/>
          </p:nvGrpSpPr>
          <p:grpSpPr>
            <a:xfrm>
              <a:off x="761998" y="-21498"/>
              <a:ext cx="9235727" cy="10308498"/>
              <a:chOff x="-672193" y="-21498"/>
              <a:chExt cx="9235727" cy="10308498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7D7C739-1A6A-E5A9-5A75-7D9ADB3BEC70}"/>
                  </a:ext>
                </a:extLst>
              </p:cNvPr>
              <p:cNvGrpSpPr/>
              <p:nvPr/>
            </p:nvGrpSpPr>
            <p:grpSpPr>
              <a:xfrm>
                <a:off x="-672193" y="-21498"/>
                <a:ext cx="9235727" cy="10308498"/>
                <a:chOff x="-623430" y="419100"/>
                <a:chExt cx="8549925" cy="9543039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4F3400B8-8409-BDEE-4361-C00B9E1DAF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2621" b="8504"/>
                <a:stretch/>
              </p:blipFill>
              <p:spPr>
                <a:xfrm>
                  <a:off x="-623429" y="419100"/>
                  <a:ext cx="8549924" cy="9543039"/>
                </a:xfrm>
                <a:prstGeom prst="rect">
                  <a:avLst/>
                </a:prstGeom>
              </p:spPr>
            </p:pic>
            <p:sp>
              <p:nvSpPr>
                <p:cNvPr id="12" name="Flowchart: Delay 11">
                  <a:extLst>
                    <a:ext uri="{FF2B5EF4-FFF2-40B4-BE49-F238E27FC236}">
                      <a16:creationId xmlns:a16="http://schemas.microsoft.com/office/drawing/2014/main" id="{FE9983B0-3A9F-5240-E031-6299598C34F8}"/>
                    </a:ext>
                  </a:extLst>
                </p:cNvPr>
                <p:cNvSpPr/>
                <p:nvPr/>
              </p:nvSpPr>
              <p:spPr>
                <a:xfrm>
                  <a:off x="-623430" y="3543300"/>
                  <a:ext cx="4533345" cy="1828800"/>
                </a:xfrm>
                <a:prstGeom prst="flowChartDelay">
                  <a:avLst/>
                </a:prstGeom>
                <a:solidFill>
                  <a:srgbClr val="178B8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D" sz="1200"/>
                </a:p>
              </p:txBody>
            </p:sp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D83D349-0273-9BC7-8A0C-D7EA85ED654E}"/>
                  </a:ext>
                </a:extLst>
              </p:cNvPr>
              <p:cNvSpPr/>
              <p:nvPr/>
            </p:nvSpPr>
            <p:spPr>
              <a:xfrm>
                <a:off x="-410130" y="266700"/>
                <a:ext cx="3096062" cy="2362200"/>
              </a:xfrm>
              <a:prstGeom prst="rect">
                <a:avLst/>
              </a:prstGeom>
              <a:solidFill>
                <a:srgbClr val="178B8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 sz="1200"/>
              </a:p>
            </p:txBody>
          </p:sp>
        </p:grp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11842CDF-314C-7728-FC7C-78CEF441EEAA}"/>
                </a:ext>
              </a:extLst>
            </p:cNvPr>
            <p:cNvSpPr/>
            <p:nvPr/>
          </p:nvSpPr>
          <p:spPr>
            <a:xfrm>
              <a:off x="761998" y="-21498"/>
              <a:ext cx="3581401" cy="6462695"/>
            </a:xfrm>
            <a:prstGeom prst="roundRect">
              <a:avLst>
                <a:gd name="adj" fmla="val 0"/>
              </a:avLst>
            </a:prstGeom>
            <a:solidFill>
              <a:srgbClr val="178B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20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991349" y="1038622"/>
            <a:ext cx="4491943" cy="3455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200" b="1" i="0" u="none" dirty="0">
                <a:solidFill>
                  <a:srgbClr val="009999"/>
                </a:solidFill>
                <a:latin typeface="+mj-lt"/>
              </a:rPr>
              <a:t>FLASH PERFORMANCE REPORT INFRASTRUKTUR BTS BAKTI</a:t>
            </a:r>
          </a:p>
          <a:p>
            <a:pPr>
              <a:lnSpc>
                <a:spcPts val="4484"/>
              </a:lnSpc>
            </a:pPr>
            <a:r>
              <a:rPr lang="en-US" sz="3200" b="1" dirty="0">
                <a:solidFill>
                  <a:srgbClr val="009999"/>
                </a:solidFill>
                <a:latin typeface="+mj-lt"/>
              </a:rPr>
              <a:t>{{</a:t>
            </a:r>
            <a:r>
              <a:rPr lang="en-US" sz="3200" b="1" dirty="0" err="1">
                <a:solidFill>
                  <a:srgbClr val="009999"/>
                </a:solidFill>
                <a:latin typeface="+mj-lt"/>
              </a:rPr>
              <a:t>lokasi</a:t>
            </a:r>
            <a:r>
              <a:rPr lang="en-US" sz="3200" b="1" dirty="0">
                <a:solidFill>
                  <a:srgbClr val="009999"/>
                </a:solidFill>
                <a:latin typeface="+mj-lt"/>
              </a:rPr>
              <a:t>}}</a:t>
            </a:r>
          </a:p>
          <a:p>
            <a:pPr algn="l">
              <a:lnSpc>
                <a:spcPts val="4484"/>
              </a:lnSpc>
            </a:pPr>
            <a:endParaRPr lang="en-US" sz="3200" b="1" i="0" u="none" dirty="0">
              <a:solidFill>
                <a:srgbClr val="009999"/>
              </a:solidFill>
              <a:latin typeface="+mj-lt"/>
            </a:endParaRPr>
          </a:p>
          <a:p>
            <a:pPr>
              <a:lnSpc>
                <a:spcPts val="4840"/>
              </a:lnSpc>
              <a:spcBef>
                <a:spcPct val="0"/>
              </a:spcBef>
            </a:pPr>
            <a:endParaRPr lang="en-US" sz="3200" b="1" dirty="0">
              <a:solidFill>
                <a:srgbClr val="009999"/>
              </a:solidFill>
              <a:latin typeface="+mj-lt"/>
              <a:sym typeface="Arial Nova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5CE0C4-FEE6-ED6C-C17A-82D19E126906}"/>
              </a:ext>
            </a:extLst>
          </p:cNvPr>
          <p:cNvSpPr txBox="1"/>
          <p:nvPr/>
        </p:nvSpPr>
        <p:spPr>
          <a:xfrm>
            <a:off x="406400" y="2567641"/>
            <a:ext cx="259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200" dirty="0">
                <a:solidFill>
                  <a:schemeClr val="bg1"/>
                </a:solidFill>
                <a:latin typeface="Montserrat" pitchFamily="2" charset="0"/>
              </a:rPr>
              <a:t>PEMERATAAN KONEKTIVITAS DIGITAL DALAM MENDUKUNG PRODUKTIVITAS MASYARAKAT MENUJU INDONESIA MAJU 2045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416A83-37F7-0924-5B09-FE47A344C03E}"/>
              </a:ext>
            </a:extLst>
          </p:cNvPr>
          <p:cNvGrpSpPr/>
          <p:nvPr/>
        </p:nvGrpSpPr>
        <p:grpSpPr>
          <a:xfrm>
            <a:off x="6996017" y="4863642"/>
            <a:ext cx="4133890" cy="101600"/>
            <a:chOff x="9448800" y="5448300"/>
            <a:chExt cx="6200835" cy="1524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59205CC-199D-68BC-66D9-B30087112613}"/>
                </a:ext>
              </a:extLst>
            </p:cNvPr>
            <p:cNvCxnSpPr>
              <a:cxnSpLocks/>
            </p:cNvCxnSpPr>
            <p:nvPr/>
          </p:nvCxnSpPr>
          <p:spPr>
            <a:xfrm>
              <a:off x="9559019" y="5524500"/>
              <a:ext cx="6090616" cy="0"/>
            </a:xfrm>
            <a:prstGeom prst="line">
              <a:avLst/>
            </a:prstGeom>
            <a:ln w="28575">
              <a:solidFill>
                <a:srgbClr val="178B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400AD8F-F521-8930-47FD-57D28CADF999}"/>
                </a:ext>
              </a:extLst>
            </p:cNvPr>
            <p:cNvSpPr/>
            <p:nvPr/>
          </p:nvSpPr>
          <p:spPr>
            <a:xfrm>
              <a:off x="9448800" y="5448300"/>
              <a:ext cx="152400" cy="152400"/>
            </a:xfrm>
            <a:prstGeom prst="ellipse">
              <a:avLst/>
            </a:prstGeom>
            <a:solidFill>
              <a:srgbClr val="178B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20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5310FE9D-2816-D94C-BC8E-35D55DA330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453608"/>
            <a:ext cx="2064041" cy="6569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AE2B201-2300-4BF6-AF8F-4BEB0009BCA3}"/>
              </a:ext>
            </a:extLst>
          </p:cNvPr>
          <p:cNvSpPr txBox="1"/>
          <p:nvPr/>
        </p:nvSpPr>
        <p:spPr>
          <a:xfrm>
            <a:off x="6996017" y="5082975"/>
            <a:ext cx="78521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00" b="1" i="0" u="none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Kejadian</a:t>
            </a:r>
            <a:r>
              <a:rPr lang="en-US" sz="1500" b="1" i="0" u="none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:</a:t>
            </a:r>
            <a:endParaRPr lang="en-US" sz="15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pPr algn="l"/>
            <a:endParaRPr sz="1500" b="1" i="0" u="none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91D437-BDD7-4D2E-A06F-5A68C6EB0566}"/>
              </a:ext>
            </a:extLst>
          </p:cNvPr>
          <p:cNvSpPr txBox="1"/>
          <p:nvPr/>
        </p:nvSpPr>
        <p:spPr>
          <a:xfrm>
            <a:off x="6991349" y="5344978"/>
            <a:ext cx="2456955" cy="5309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1" u="none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Periode</a:t>
            </a:r>
            <a:r>
              <a:rPr sz="1125" b="0" i="1" u="none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r>
              <a:rPr sz="1125" b="0" i="1" u="none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Analisis</a:t>
            </a:r>
            <a:r>
              <a:rPr sz="1125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: </a:t>
            </a:r>
            <a:r>
              <a:rPr lang="en-US" sz="1125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                                  </a:t>
            </a:r>
          </a:p>
          <a:p>
            <a:pPr algn="l"/>
            <a:endParaRPr lang="en-US" sz="1125" dirty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pPr algn="l"/>
            <a:r>
              <a:rPr lang="en-US" sz="1125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Query </a:t>
            </a:r>
            <a:r>
              <a:rPr sz="1125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Data </a:t>
            </a:r>
            <a:r>
              <a:rPr lang="en-US" sz="1125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diambil</a:t>
            </a:r>
            <a:r>
              <a:rPr lang="en-US" sz="1125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: {{</a:t>
            </a:r>
            <a:r>
              <a:rPr lang="en-US" sz="1125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timestamp_data</a:t>
            </a:r>
            <a:r>
              <a:rPr lang="en-US" sz="1125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}}</a:t>
            </a:r>
            <a:endParaRPr sz="1125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BC005E-2144-40AC-B98E-62F89F7FA2BE}"/>
              </a:ext>
            </a:extLst>
          </p:cNvPr>
          <p:cNvSpPr txBox="1"/>
          <p:nvPr/>
        </p:nvSpPr>
        <p:spPr>
          <a:xfrm>
            <a:off x="7775346" y="5038642"/>
            <a:ext cx="316535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{{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jenis_kejadian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}}|{{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detail_kejadian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}}</a:t>
            </a:r>
            <a:endParaRPr lang="en-US" sz="1500" dirty="0">
              <a:latin typeface="+mj-lt"/>
            </a:endParaRPr>
          </a:p>
          <a:p>
            <a:endParaRPr lang="en-US" sz="15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E11C5-E0C3-4AFD-A437-CDE04C53E43A}"/>
              </a:ext>
            </a:extLst>
          </p:cNvPr>
          <p:cNvSpPr txBox="1"/>
          <p:nvPr/>
        </p:nvSpPr>
        <p:spPr>
          <a:xfrm>
            <a:off x="7867398" y="5286987"/>
            <a:ext cx="1293944" cy="2662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3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{{</a:t>
            </a:r>
            <a:r>
              <a:rPr lang="en-US" sz="113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waktu_kejadian</a:t>
            </a:r>
            <a:r>
              <a:rPr lang="en-US" sz="113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}}</a:t>
            </a:r>
            <a:endParaRPr lang="en-US" sz="113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45B2B2">
                <a:alpha val="3922"/>
              </a:srgbClr>
            </a:gs>
            <a:gs pos="4000">
              <a:schemeClr val="bg1">
                <a:lumMod val="95000"/>
              </a:schemeClr>
            </a:gs>
            <a:gs pos="34000">
              <a:srgbClr val="33CCCC">
                <a:alpha val="7843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F8F99-3823-417E-6AC0-24BB50396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57895126-185E-A066-2F64-C53820A5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662" y="85794"/>
            <a:ext cx="10556293" cy="384721"/>
          </a:xfrm>
        </p:spPr>
        <p:txBody>
          <a:bodyPr/>
          <a:lstStyle/>
          <a:p>
            <a:pPr algn="l"/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Ringkasan Laporan Performansi BTS BAKTI</a:t>
            </a:r>
            <a:endParaRPr lang="en-ID" dirty="0"/>
          </a:p>
        </p:txBody>
      </p:sp>
      <p:sp>
        <p:nvSpPr>
          <p:cNvPr id="71" name="Rounded Rectangle 2">
            <a:extLst>
              <a:ext uri="{FF2B5EF4-FFF2-40B4-BE49-F238E27FC236}">
                <a16:creationId xmlns:a16="http://schemas.microsoft.com/office/drawing/2014/main" id="{D6BD7CEC-88FE-451C-BB26-C9909EFB9A33}"/>
              </a:ext>
            </a:extLst>
          </p:cNvPr>
          <p:cNvSpPr/>
          <p:nvPr/>
        </p:nvSpPr>
        <p:spPr>
          <a:xfrm>
            <a:off x="109625" y="5486464"/>
            <a:ext cx="11997630" cy="1327382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endParaRPr lang="en-US" sz="1000" dirty="0">
              <a:solidFill>
                <a:schemeClr val="tx1"/>
              </a:solidFill>
            </a:endParaRPr>
          </a:p>
          <a:p>
            <a:r>
              <a:rPr lang="en-US" sz="1000" dirty="0" err="1">
                <a:solidFill>
                  <a:schemeClr val="tx1"/>
                </a:solidFill>
              </a:rPr>
              <a:t>Berdasarkan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hasil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pantauan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infrastruktur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telekomunikasi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terhadap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kejadian</a:t>
            </a:r>
            <a:r>
              <a:rPr lang="en-US" sz="1000" dirty="0">
                <a:solidFill>
                  <a:schemeClr val="tx1"/>
                </a:solidFill>
              </a:rPr>
              <a:t> {{</a:t>
            </a:r>
            <a:r>
              <a:rPr lang="en-US" sz="1000" dirty="0" err="1">
                <a:solidFill>
                  <a:schemeClr val="tx1"/>
                </a:solidFill>
              </a:rPr>
              <a:t>jenis_kejadian</a:t>
            </a:r>
            <a:r>
              <a:rPr lang="en-US" sz="1000" dirty="0">
                <a:solidFill>
                  <a:schemeClr val="tx1"/>
                </a:solidFill>
              </a:rPr>
              <a:t>}} {{</a:t>
            </a:r>
            <a:r>
              <a:rPr lang="en-US" sz="1000" dirty="0" err="1">
                <a:solidFill>
                  <a:schemeClr val="tx1"/>
                </a:solidFill>
              </a:rPr>
              <a:t>detail_kejadian</a:t>
            </a:r>
            <a:r>
              <a:rPr lang="en-US" sz="1000" dirty="0">
                <a:solidFill>
                  <a:schemeClr val="tx1"/>
                </a:solidFill>
              </a:rPr>
              <a:t>}} yang </a:t>
            </a:r>
            <a:r>
              <a:rPr lang="en-US" sz="1000" dirty="0" err="1">
                <a:solidFill>
                  <a:schemeClr val="tx1"/>
                </a:solidFill>
              </a:rPr>
              <a:t>terjadi</a:t>
            </a:r>
            <a:r>
              <a:rPr lang="en-US" sz="1000" dirty="0">
                <a:solidFill>
                  <a:schemeClr val="tx1"/>
                </a:solidFill>
              </a:rPr>
              <a:t> pada {{</a:t>
            </a:r>
            <a:r>
              <a:rPr lang="en-US" sz="1000" dirty="0" err="1">
                <a:solidFill>
                  <a:schemeClr val="tx1"/>
                </a:solidFill>
              </a:rPr>
              <a:t>waktu_kejadian</a:t>
            </a:r>
            <a:r>
              <a:rPr lang="en-US" sz="1000" dirty="0">
                <a:solidFill>
                  <a:schemeClr val="tx1"/>
                </a:solidFill>
              </a:rPr>
              <a:t>}} </a:t>
            </a:r>
            <a:r>
              <a:rPr lang="en-US" sz="1000" dirty="0" err="1">
                <a:solidFill>
                  <a:schemeClr val="tx1"/>
                </a:solidFill>
              </a:rPr>
              <a:t>dengan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titik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fokus</a:t>
            </a:r>
            <a:r>
              <a:rPr lang="en-US" sz="1000" dirty="0">
                <a:solidFill>
                  <a:schemeClr val="tx1"/>
                </a:solidFill>
              </a:rPr>
              <a:t> {{</a:t>
            </a:r>
            <a:r>
              <a:rPr lang="en-US" sz="1000" dirty="0" err="1">
                <a:solidFill>
                  <a:schemeClr val="tx1"/>
                </a:solidFill>
              </a:rPr>
              <a:t>lokasi</a:t>
            </a:r>
            <a:r>
              <a:rPr lang="en-US" sz="1000" dirty="0">
                <a:solidFill>
                  <a:schemeClr val="tx1"/>
                </a:solidFill>
              </a:rPr>
              <a:t>}}, </a:t>
            </a:r>
            <a:r>
              <a:rPr lang="en-US" sz="1000" dirty="0" err="1">
                <a:solidFill>
                  <a:schemeClr val="tx1"/>
                </a:solidFill>
              </a:rPr>
              <a:t>dapat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disimpulkan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bahwa</a:t>
            </a:r>
            <a:r>
              <a:rPr lang="en-US" sz="1000" dirty="0">
                <a:solidFill>
                  <a:schemeClr val="tx1"/>
                </a:solidFill>
              </a:rPr>
              <a:t>:</a:t>
            </a:r>
          </a:p>
          <a:p>
            <a:pPr marL="228600" indent="-228600">
              <a:buAutoNum type="arabicPeriod"/>
            </a:pPr>
            <a:r>
              <a:rPr lang="en-US" sz="1000" b="1" dirty="0" err="1">
                <a:solidFill>
                  <a:schemeClr val="tx1"/>
                </a:solidFill>
              </a:rPr>
              <a:t>Dampak</a:t>
            </a:r>
            <a:r>
              <a:rPr lang="en-US" sz="1000" b="1" dirty="0">
                <a:solidFill>
                  <a:schemeClr val="tx1"/>
                </a:solidFill>
              </a:rPr>
              <a:t> </a:t>
            </a:r>
            <a:r>
              <a:rPr lang="en-US" sz="1000" b="1" dirty="0" err="1">
                <a:solidFill>
                  <a:schemeClr val="tx1"/>
                </a:solidFill>
              </a:rPr>
              <a:t>Infrastruktur</a:t>
            </a:r>
            <a:r>
              <a:rPr lang="en-US" sz="1000" b="1" dirty="0">
                <a:solidFill>
                  <a:schemeClr val="tx1"/>
                </a:solidFill>
              </a:rPr>
              <a:t>: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</a:p>
          <a:p>
            <a:r>
              <a:rPr lang="en-US" sz="1000" dirty="0" err="1">
                <a:solidFill>
                  <a:schemeClr val="tx1"/>
                </a:solidFill>
              </a:rPr>
              <a:t>Terdapat</a:t>
            </a:r>
            <a:r>
              <a:rPr lang="en-US" sz="1000" dirty="0">
                <a:solidFill>
                  <a:schemeClr val="tx1"/>
                </a:solidFill>
              </a:rPr>
              <a:t> {{</a:t>
            </a:r>
            <a:r>
              <a:rPr lang="en-US" sz="1000" dirty="0" err="1">
                <a:solidFill>
                  <a:schemeClr val="tx1"/>
                </a:solidFill>
              </a:rPr>
              <a:t>total_site</a:t>
            </a:r>
            <a:r>
              <a:rPr lang="en-US" sz="1000" dirty="0">
                <a:solidFill>
                  <a:schemeClr val="tx1"/>
                </a:solidFill>
              </a:rPr>
              <a:t>}} site BAKTI yang </a:t>
            </a:r>
            <a:r>
              <a:rPr lang="en-US" sz="1000" dirty="0" err="1">
                <a:solidFill>
                  <a:schemeClr val="tx1"/>
                </a:solidFill>
              </a:rPr>
              <a:t>masuk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ke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dalam</a:t>
            </a:r>
            <a:r>
              <a:rPr lang="en-US" sz="1000" dirty="0">
                <a:solidFill>
                  <a:schemeClr val="tx1"/>
                </a:solidFill>
              </a:rPr>
              <a:t> radius </a:t>
            </a:r>
            <a:r>
              <a:rPr lang="en-US" sz="1000" dirty="0" err="1">
                <a:solidFill>
                  <a:schemeClr val="tx1"/>
                </a:solidFill>
              </a:rPr>
              <a:t>terdampak</a:t>
            </a:r>
            <a:r>
              <a:rPr lang="en-US" sz="1000" dirty="0">
                <a:solidFill>
                  <a:schemeClr val="tx1"/>
                </a:solidFill>
              </a:rPr>
              <a:t>. </a:t>
            </a:r>
            <a:r>
              <a:rPr lang="en-US" sz="1000" dirty="0" err="1">
                <a:solidFill>
                  <a:schemeClr val="tx1"/>
                </a:solidFill>
              </a:rPr>
              <a:t>Saat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ini</a:t>
            </a:r>
            <a:r>
              <a:rPr lang="en-US" sz="1000" dirty="0">
                <a:solidFill>
                  <a:schemeClr val="tx1"/>
                </a:solidFill>
              </a:rPr>
              <a:t>, </a:t>
            </a:r>
            <a:r>
              <a:rPr lang="en-US" sz="1000" dirty="0" err="1">
                <a:solidFill>
                  <a:schemeClr val="tx1"/>
                </a:solidFill>
              </a:rPr>
              <a:t>sebanyak</a:t>
            </a:r>
            <a:r>
              <a:rPr lang="en-US" sz="1000" dirty="0">
                <a:solidFill>
                  <a:schemeClr val="tx1"/>
                </a:solidFill>
              </a:rPr>
              <a:t> {{</a:t>
            </a:r>
            <a:r>
              <a:rPr lang="en-US" sz="1000" dirty="0" err="1">
                <a:solidFill>
                  <a:schemeClr val="tx1"/>
                </a:solidFill>
              </a:rPr>
              <a:t>site_up</a:t>
            </a:r>
            <a:r>
              <a:rPr lang="en-US" sz="1000" dirty="0">
                <a:solidFill>
                  <a:schemeClr val="tx1"/>
                </a:solidFill>
              </a:rPr>
              <a:t>}} site </a:t>
            </a:r>
            <a:r>
              <a:rPr lang="en-US" sz="1000" dirty="0" err="1">
                <a:solidFill>
                  <a:schemeClr val="tx1"/>
                </a:solidFill>
              </a:rPr>
              <a:t>terpantau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dalam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kondisi</a:t>
            </a:r>
            <a:r>
              <a:rPr lang="en-US" sz="1000" dirty="0">
                <a:solidFill>
                  <a:schemeClr val="tx1"/>
                </a:solidFill>
              </a:rPr>
              <a:t> normal (UP), </a:t>
            </a:r>
            <a:r>
              <a:rPr lang="en-US" sz="1000" dirty="0" err="1">
                <a:solidFill>
                  <a:schemeClr val="tx1"/>
                </a:solidFill>
              </a:rPr>
              <a:t>sedangkan</a:t>
            </a:r>
            <a:r>
              <a:rPr lang="en-US" sz="1000" dirty="0">
                <a:solidFill>
                  <a:schemeClr val="tx1"/>
                </a:solidFill>
              </a:rPr>
              <a:t> {{</a:t>
            </a:r>
            <a:r>
              <a:rPr lang="en-US" sz="1000" dirty="0" err="1">
                <a:solidFill>
                  <a:schemeClr val="tx1"/>
                </a:solidFill>
              </a:rPr>
              <a:t>site_down</a:t>
            </a:r>
            <a:r>
              <a:rPr lang="en-US" sz="1000" dirty="0">
                <a:solidFill>
                  <a:schemeClr val="tx1"/>
                </a:solidFill>
              </a:rPr>
              <a:t>}} site </a:t>
            </a:r>
            <a:r>
              <a:rPr lang="en-US" sz="1000" dirty="0" err="1">
                <a:solidFill>
                  <a:schemeClr val="tx1"/>
                </a:solidFill>
              </a:rPr>
              <a:t>mengalami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gangguan</a:t>
            </a:r>
            <a:r>
              <a:rPr lang="en-US" sz="1000" dirty="0">
                <a:solidFill>
                  <a:schemeClr val="tx1"/>
                </a:solidFill>
              </a:rPr>
              <a:t> (DOWN) dan </a:t>
            </a:r>
            <a:r>
              <a:rPr lang="en-US" sz="1000" dirty="0" err="1">
                <a:solidFill>
                  <a:schemeClr val="tx1"/>
                </a:solidFill>
              </a:rPr>
              <a:t>memerlukan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eskalasi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pemulihan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segera</a:t>
            </a:r>
            <a:r>
              <a:rPr lang="en-US" sz="1000" dirty="0">
                <a:solidFill>
                  <a:schemeClr val="tx1"/>
                </a:solidFill>
              </a:rPr>
              <a:t>.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2. </a:t>
            </a:r>
            <a:r>
              <a:rPr lang="en-US" sz="1000" b="1" dirty="0" err="1">
                <a:solidFill>
                  <a:schemeClr val="tx1"/>
                </a:solidFill>
              </a:rPr>
              <a:t>Cakupan</a:t>
            </a:r>
            <a:r>
              <a:rPr lang="en-US" sz="1000" b="1" dirty="0">
                <a:solidFill>
                  <a:schemeClr val="tx1"/>
                </a:solidFill>
              </a:rPr>
              <a:t> Wilayah:</a:t>
            </a:r>
          </a:p>
          <a:p>
            <a:r>
              <a:rPr lang="en-US" sz="1000" dirty="0" err="1">
                <a:solidFill>
                  <a:schemeClr val="tx1"/>
                </a:solidFill>
              </a:rPr>
              <a:t>Gangguan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ini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memberikan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imbas</a:t>
            </a:r>
            <a:r>
              <a:rPr lang="en-US" sz="1000" dirty="0">
                <a:solidFill>
                  <a:schemeClr val="tx1"/>
                </a:solidFill>
              </a:rPr>
              <a:t> pada </a:t>
            </a:r>
            <a:r>
              <a:rPr lang="en-US" sz="1000" dirty="0" err="1">
                <a:solidFill>
                  <a:schemeClr val="tx1"/>
                </a:solidFill>
              </a:rPr>
              <a:t>layanan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komunikasi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publik</a:t>
            </a:r>
            <a:r>
              <a:rPr lang="en-US" sz="1000" dirty="0">
                <a:solidFill>
                  <a:schemeClr val="tx1"/>
                </a:solidFill>
              </a:rPr>
              <a:t> yang </a:t>
            </a:r>
            <a:r>
              <a:rPr lang="en-US" sz="1000" dirty="0" err="1">
                <a:solidFill>
                  <a:schemeClr val="tx1"/>
                </a:solidFill>
              </a:rPr>
              <a:t>mencakup</a:t>
            </a:r>
            <a:r>
              <a:rPr lang="en-US" sz="1000" dirty="0">
                <a:solidFill>
                  <a:schemeClr val="tx1"/>
                </a:solidFill>
              </a:rPr>
              <a:t> {{</a:t>
            </a:r>
            <a:r>
              <a:rPr lang="en-US" sz="1000" dirty="0" err="1">
                <a:solidFill>
                  <a:schemeClr val="tx1"/>
                </a:solidFill>
              </a:rPr>
              <a:t>n_kab</a:t>
            </a:r>
            <a:r>
              <a:rPr lang="en-US" sz="1000" dirty="0">
                <a:solidFill>
                  <a:schemeClr val="tx1"/>
                </a:solidFill>
              </a:rPr>
              <a:t>}} </a:t>
            </a:r>
            <a:r>
              <a:rPr lang="en-US" sz="1000" dirty="0" err="1">
                <a:solidFill>
                  <a:schemeClr val="tx1"/>
                </a:solidFill>
              </a:rPr>
              <a:t>Kabupaten</a:t>
            </a:r>
            <a:r>
              <a:rPr lang="en-US" sz="1000" dirty="0">
                <a:solidFill>
                  <a:schemeClr val="tx1"/>
                </a:solidFill>
              </a:rPr>
              <a:t> dan {{</a:t>
            </a:r>
            <a:r>
              <a:rPr lang="en-US" sz="1000" dirty="0" err="1">
                <a:solidFill>
                  <a:schemeClr val="tx1"/>
                </a:solidFill>
              </a:rPr>
              <a:t>n_kec</a:t>
            </a:r>
            <a:r>
              <a:rPr lang="en-US" sz="1000" dirty="0">
                <a:solidFill>
                  <a:schemeClr val="tx1"/>
                </a:solidFill>
              </a:rPr>
              <a:t>}} </a:t>
            </a:r>
            <a:r>
              <a:rPr lang="en-US" sz="1000" dirty="0" err="1">
                <a:solidFill>
                  <a:schemeClr val="tx1"/>
                </a:solidFill>
              </a:rPr>
              <a:t>Kecamatan</a:t>
            </a:r>
            <a:r>
              <a:rPr lang="en-US" sz="1000" dirty="0">
                <a:solidFill>
                  <a:schemeClr val="tx1"/>
                </a:solidFill>
              </a:rPr>
              <a:t>.</a:t>
            </a:r>
          </a:p>
          <a:p>
            <a:r>
              <a:rPr lang="en-US" sz="1000" b="1" dirty="0">
                <a:solidFill>
                  <a:schemeClr val="tx1"/>
                </a:solidFill>
              </a:rPr>
              <a:t>3. </a:t>
            </a:r>
            <a:r>
              <a:rPr lang="en-US" sz="1000" b="1" dirty="0" err="1">
                <a:solidFill>
                  <a:schemeClr val="tx1"/>
                </a:solidFill>
              </a:rPr>
              <a:t>Kapasitas</a:t>
            </a:r>
            <a:r>
              <a:rPr lang="en-US" sz="1000" b="1" dirty="0">
                <a:solidFill>
                  <a:schemeClr val="tx1"/>
                </a:solidFill>
              </a:rPr>
              <a:t> </a:t>
            </a:r>
            <a:r>
              <a:rPr lang="en-US" sz="1000" b="1" dirty="0" err="1">
                <a:solidFill>
                  <a:schemeClr val="tx1"/>
                </a:solidFill>
              </a:rPr>
              <a:t>Layanan</a:t>
            </a:r>
            <a:r>
              <a:rPr lang="en-US" sz="1000" b="1" dirty="0">
                <a:solidFill>
                  <a:schemeClr val="tx1"/>
                </a:solidFill>
              </a:rPr>
              <a:t>:</a:t>
            </a:r>
          </a:p>
          <a:p>
            <a:r>
              <a:rPr lang="en-US" sz="1000" dirty="0" err="1">
                <a:solidFill>
                  <a:schemeClr val="tx1"/>
                </a:solidFill>
              </a:rPr>
              <a:t>Meski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terjadi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kendala</a:t>
            </a:r>
            <a:r>
              <a:rPr lang="en-US" sz="1000" dirty="0">
                <a:solidFill>
                  <a:schemeClr val="tx1"/>
                </a:solidFill>
              </a:rPr>
              <a:t>, </a:t>
            </a:r>
            <a:r>
              <a:rPr lang="en-US" sz="1000" dirty="0" err="1">
                <a:solidFill>
                  <a:schemeClr val="tx1"/>
                </a:solidFill>
              </a:rPr>
              <a:t>sisa</a:t>
            </a:r>
            <a:r>
              <a:rPr lang="en-US" sz="1000" dirty="0">
                <a:solidFill>
                  <a:schemeClr val="tx1"/>
                </a:solidFill>
              </a:rPr>
              <a:t> site yang </a:t>
            </a:r>
            <a:r>
              <a:rPr lang="en-US" sz="1000" dirty="0" err="1">
                <a:solidFill>
                  <a:schemeClr val="tx1"/>
                </a:solidFill>
              </a:rPr>
              <a:t>beroperasi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masih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menampung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beban</a:t>
            </a:r>
            <a:r>
              <a:rPr lang="en-US" sz="1000" dirty="0">
                <a:solidFill>
                  <a:schemeClr val="tx1"/>
                </a:solidFill>
              </a:rPr>
              <a:t> traffic </a:t>
            </a:r>
            <a:r>
              <a:rPr lang="en-US" sz="1000" dirty="0" err="1">
                <a:solidFill>
                  <a:schemeClr val="tx1"/>
                </a:solidFill>
              </a:rPr>
              <a:t>harian</a:t>
            </a:r>
            <a:r>
              <a:rPr lang="en-US" sz="1000" dirty="0">
                <a:solidFill>
                  <a:schemeClr val="tx1"/>
                </a:solidFill>
              </a:rPr>
              <a:t> rata-rata </a:t>
            </a:r>
            <a:r>
              <a:rPr lang="en-US" sz="1000" dirty="0" err="1">
                <a:solidFill>
                  <a:schemeClr val="tx1"/>
                </a:solidFill>
              </a:rPr>
              <a:t>sebesar</a:t>
            </a:r>
            <a:r>
              <a:rPr lang="en-US" sz="1000" dirty="0">
                <a:solidFill>
                  <a:schemeClr val="tx1"/>
                </a:solidFill>
              </a:rPr>
              <a:t> {{</a:t>
            </a:r>
            <a:r>
              <a:rPr lang="en-US" sz="1000" dirty="0" err="1">
                <a:solidFill>
                  <a:schemeClr val="tx1"/>
                </a:solidFill>
              </a:rPr>
              <a:t>daily_traffic_gb</a:t>
            </a:r>
            <a:r>
              <a:rPr lang="en-US" sz="1000" dirty="0">
                <a:solidFill>
                  <a:schemeClr val="tx1"/>
                </a:solidFill>
              </a:rPr>
              <a:t>}} GB dan </a:t>
            </a:r>
            <a:r>
              <a:rPr lang="en-US" sz="1000" dirty="0" err="1">
                <a:solidFill>
                  <a:schemeClr val="tx1"/>
                </a:solidFill>
              </a:rPr>
              <a:t>melayani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sekitar</a:t>
            </a:r>
            <a:r>
              <a:rPr lang="en-US" sz="1000" dirty="0">
                <a:solidFill>
                  <a:schemeClr val="tx1"/>
                </a:solidFill>
              </a:rPr>
              <a:t> {{</a:t>
            </a:r>
            <a:r>
              <a:rPr lang="en-US" sz="1000" dirty="0" err="1">
                <a:solidFill>
                  <a:schemeClr val="tx1"/>
                </a:solidFill>
              </a:rPr>
              <a:t>active_users</a:t>
            </a:r>
            <a:r>
              <a:rPr lang="en-US" sz="1000" dirty="0">
                <a:solidFill>
                  <a:schemeClr val="tx1"/>
                </a:solidFill>
              </a:rPr>
              <a:t>}} </a:t>
            </a:r>
            <a:r>
              <a:rPr lang="en-US" sz="1000" dirty="0" err="1">
                <a:solidFill>
                  <a:schemeClr val="tx1"/>
                </a:solidFill>
              </a:rPr>
              <a:t>pengguna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aktif</a:t>
            </a:r>
            <a:r>
              <a:rPr lang="en-US" sz="1000" dirty="0">
                <a:solidFill>
                  <a:schemeClr val="tx1"/>
                </a:solidFill>
              </a:rPr>
              <a:t> (peak users).</a:t>
            </a:r>
          </a:p>
          <a:p>
            <a:endParaRPr lang="en-US" sz="1000" dirty="0">
              <a:solidFill>
                <a:schemeClr val="tx1"/>
              </a:solidFill>
            </a:endParaRPr>
          </a:p>
          <a:p>
            <a:pPr algn="ctr"/>
            <a:endParaRPr sz="1000" dirty="0">
              <a:solidFill>
                <a:schemeClr val="tx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25FC9B3-BB80-4969-9670-A24790CF56BB}"/>
              </a:ext>
            </a:extLst>
          </p:cNvPr>
          <p:cNvSpPr txBox="1"/>
          <p:nvPr/>
        </p:nvSpPr>
        <p:spPr>
          <a:xfrm>
            <a:off x="96481" y="5307331"/>
            <a:ext cx="2819233" cy="207749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Kesimpulan &amp; </a:t>
            </a:r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Analisis</a:t>
            </a: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Tren</a:t>
            </a:r>
            <a:r>
              <a:rPr sz="135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350" b="1" i="0" u="none" dirty="0" err="1">
                <a:solidFill>
                  <a:srgbClr val="0F172A"/>
                </a:solidFill>
                <a:latin typeface="Plus Jakarta Sans"/>
              </a:rPr>
              <a:t>Layanan</a:t>
            </a:r>
            <a:endParaRPr sz="1350" b="1" i="0" u="none" dirty="0">
              <a:solidFill>
                <a:srgbClr val="0F172A"/>
              </a:solidFill>
              <a:latin typeface="Plus Jakarta Sans"/>
            </a:endParaRPr>
          </a:p>
        </p:txBody>
      </p:sp>
      <p:pic>
        <p:nvPicPr>
          <p:cNvPr id="76" name="Picture 75" descr="image.png">
            <a:extLst>
              <a:ext uri="{FF2B5EF4-FFF2-40B4-BE49-F238E27FC236}">
                <a16:creationId xmlns:a16="http://schemas.microsoft.com/office/drawing/2014/main" id="{AA67B94B-9D76-4FC9-9676-15B36CAFF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96" y="5352046"/>
            <a:ext cx="171450" cy="150962"/>
          </a:xfrm>
          <a:prstGeom prst="rect">
            <a:avLst/>
          </a:prstGeom>
        </p:spPr>
      </p:pic>
      <p:sp>
        <p:nvSpPr>
          <p:cNvPr id="109" name="Rectangle 108">
            <a:extLst>
              <a:ext uri="{FF2B5EF4-FFF2-40B4-BE49-F238E27FC236}">
                <a16:creationId xmlns:a16="http://schemas.microsoft.com/office/drawing/2014/main" id="{EBA84B74-9692-4E1F-96CC-A4ED0A51903E}"/>
              </a:ext>
            </a:extLst>
          </p:cNvPr>
          <p:cNvSpPr/>
          <p:nvPr/>
        </p:nvSpPr>
        <p:spPr>
          <a:xfrm>
            <a:off x="16809715" y="687511"/>
            <a:ext cx="9525" cy="10191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H_MAP">
            <a:extLst>
              <a:ext uri="{FF2B5EF4-FFF2-40B4-BE49-F238E27FC236}">
                <a16:creationId xmlns:a16="http://schemas.microsoft.com/office/drawing/2014/main" id="{121D5487-3A84-4161-97AE-F3058AC05C50}"/>
              </a:ext>
            </a:extLst>
          </p:cNvPr>
          <p:cNvSpPr>
            <a:spLocks/>
          </p:cNvSpPr>
          <p:nvPr/>
        </p:nvSpPr>
        <p:spPr>
          <a:xfrm>
            <a:off x="97185" y="655494"/>
            <a:ext cx="5375150" cy="4664591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PH_MAP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1EC635-D31E-4251-B702-740415F380E5}"/>
              </a:ext>
            </a:extLst>
          </p:cNvPr>
          <p:cNvGrpSpPr/>
          <p:nvPr/>
        </p:nvGrpSpPr>
        <p:grpSpPr>
          <a:xfrm>
            <a:off x="5363705" y="578151"/>
            <a:ext cx="6740164" cy="4940536"/>
            <a:chOff x="5340061" y="648668"/>
            <a:chExt cx="6740164" cy="4940536"/>
          </a:xfrm>
        </p:grpSpPr>
        <p:sp>
          <p:nvSpPr>
            <p:cNvPr id="204" name="Rounded Rectangle 29">
              <a:extLst>
                <a:ext uri="{FF2B5EF4-FFF2-40B4-BE49-F238E27FC236}">
                  <a16:creationId xmlns:a16="http://schemas.microsoft.com/office/drawing/2014/main" id="{C3893E79-0B74-459B-BF34-B9176FFAD7CE}"/>
                </a:ext>
              </a:extLst>
            </p:cNvPr>
            <p:cNvSpPr/>
            <p:nvPr/>
          </p:nvSpPr>
          <p:spPr>
            <a:xfrm>
              <a:off x="10493360" y="1129888"/>
              <a:ext cx="1060450" cy="306140"/>
            </a:xfrm>
            <a:prstGeom prst="roundRect">
              <a:avLst>
                <a:gd name="adj" fmla="val 25000"/>
              </a:avLst>
            </a:prstGeom>
            <a:solidFill>
              <a:srgbClr val="F0FD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0" name="Rounded Rectangle 8">
              <a:extLst>
                <a:ext uri="{FF2B5EF4-FFF2-40B4-BE49-F238E27FC236}">
                  <a16:creationId xmlns:a16="http://schemas.microsoft.com/office/drawing/2014/main" id="{80CB919A-DD0A-4A24-89F8-46EAF47E2642}"/>
                </a:ext>
              </a:extLst>
            </p:cNvPr>
            <p:cNvSpPr/>
            <p:nvPr/>
          </p:nvSpPr>
          <p:spPr>
            <a:xfrm>
              <a:off x="10084959" y="879249"/>
              <a:ext cx="1964787" cy="996847"/>
            </a:xfrm>
            <a:prstGeom prst="roundRect">
              <a:avLst>
                <a:gd name="adj" fmla="val 779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9AD7B958-B696-429F-B813-459F2F85F52A}"/>
                </a:ext>
              </a:extLst>
            </p:cNvPr>
            <p:cNvSpPr txBox="1"/>
            <p:nvPr/>
          </p:nvSpPr>
          <p:spPr>
            <a:xfrm>
              <a:off x="10463533" y="1114404"/>
              <a:ext cx="1296493" cy="7386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15803D"/>
                  </a:solidFill>
                  <a:latin typeface="Plus Jakarta Sans"/>
                </a:rPr>
                <a:t>{{</a:t>
              </a:r>
              <a:r>
                <a:rPr lang="en-US" sz="2400" b="1" dirty="0" err="1">
                  <a:solidFill>
                    <a:srgbClr val="15803D"/>
                  </a:solidFill>
                  <a:latin typeface="Plus Jakarta Sans"/>
                </a:rPr>
                <a:t>n_uso</a:t>
              </a:r>
              <a:r>
                <a:rPr lang="en-US" sz="2400" b="1" dirty="0">
                  <a:solidFill>
                    <a:srgbClr val="15803D"/>
                  </a:solidFill>
                  <a:latin typeface="Plus Jakarta Sans"/>
                </a:rPr>
                <a:t>}} Site</a:t>
              </a:r>
            </a:p>
          </p:txBody>
        </p:sp>
        <p:sp>
          <p:nvSpPr>
            <p:cNvPr id="157" name="Rounded Rectangle 27">
              <a:extLst>
                <a:ext uri="{FF2B5EF4-FFF2-40B4-BE49-F238E27FC236}">
                  <a16:creationId xmlns:a16="http://schemas.microsoft.com/office/drawing/2014/main" id="{6983D4BE-F288-4887-9424-D08B75FF46C7}"/>
                </a:ext>
              </a:extLst>
            </p:cNvPr>
            <p:cNvSpPr/>
            <p:nvPr/>
          </p:nvSpPr>
          <p:spPr>
            <a:xfrm>
              <a:off x="8089119" y="1473925"/>
              <a:ext cx="871734" cy="367340"/>
            </a:xfrm>
            <a:prstGeom prst="roundRect">
              <a:avLst>
                <a:gd name="adj" fmla="val 12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5" name="Rounded Rectangle 27">
              <a:extLst>
                <a:ext uri="{FF2B5EF4-FFF2-40B4-BE49-F238E27FC236}">
                  <a16:creationId xmlns:a16="http://schemas.microsoft.com/office/drawing/2014/main" id="{9C41D5EA-C306-401E-AE8D-F3D58310D4C9}"/>
                </a:ext>
              </a:extLst>
            </p:cNvPr>
            <p:cNvSpPr/>
            <p:nvPr/>
          </p:nvSpPr>
          <p:spPr>
            <a:xfrm>
              <a:off x="9002613" y="1486228"/>
              <a:ext cx="871734" cy="367340"/>
            </a:xfrm>
            <a:prstGeom prst="roundRect">
              <a:avLst>
                <a:gd name="adj" fmla="val 12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" name="Rounded Rectangle 26">
              <a:extLst>
                <a:ext uri="{FF2B5EF4-FFF2-40B4-BE49-F238E27FC236}">
                  <a16:creationId xmlns:a16="http://schemas.microsoft.com/office/drawing/2014/main" id="{C8C63B6E-4A79-401A-9477-CDA11E1EE74A}"/>
                </a:ext>
              </a:extLst>
            </p:cNvPr>
            <p:cNvSpPr/>
            <p:nvPr/>
          </p:nvSpPr>
          <p:spPr>
            <a:xfrm>
              <a:off x="8419344" y="1131541"/>
              <a:ext cx="1060450" cy="309668"/>
            </a:xfrm>
            <a:prstGeom prst="roundRect">
              <a:avLst>
                <a:gd name="adj" fmla="val 25000"/>
              </a:avLst>
            </a:prstGeom>
            <a:solidFill>
              <a:srgbClr val="E0F2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0" name="Rounded Rectangle 8">
              <a:extLst>
                <a:ext uri="{FF2B5EF4-FFF2-40B4-BE49-F238E27FC236}">
                  <a16:creationId xmlns:a16="http://schemas.microsoft.com/office/drawing/2014/main" id="{9ADB9127-BCFF-4342-BC7C-AD3318C417B9}"/>
                </a:ext>
              </a:extLst>
            </p:cNvPr>
            <p:cNvSpPr/>
            <p:nvPr/>
          </p:nvSpPr>
          <p:spPr>
            <a:xfrm>
              <a:off x="7994807" y="870189"/>
              <a:ext cx="1958797" cy="996847"/>
            </a:xfrm>
            <a:prstGeom prst="roundRect">
              <a:avLst>
                <a:gd name="adj" fmla="val 779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078D2305-BB32-432E-AD45-5A7C25C4BF88}"/>
                </a:ext>
              </a:extLst>
            </p:cNvPr>
            <p:cNvSpPr txBox="1"/>
            <p:nvPr/>
          </p:nvSpPr>
          <p:spPr>
            <a:xfrm>
              <a:off x="8309532" y="1105344"/>
              <a:ext cx="1296493" cy="7386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369A1"/>
                  </a:solidFill>
                  <a:latin typeface="Plus Jakarta Sans"/>
                </a:rPr>
                <a:t>{{n_4g}} Site</a:t>
              </a:r>
            </a:p>
          </p:txBody>
        </p:sp>
        <p:sp>
          <p:nvSpPr>
            <p:cNvPr id="84" name="Rounded Rectangle 4">
              <a:extLst>
                <a:ext uri="{FF2B5EF4-FFF2-40B4-BE49-F238E27FC236}">
                  <a16:creationId xmlns:a16="http://schemas.microsoft.com/office/drawing/2014/main" id="{4E74FF0B-764A-4624-A479-432BD049764B}"/>
                </a:ext>
              </a:extLst>
            </p:cNvPr>
            <p:cNvSpPr/>
            <p:nvPr/>
          </p:nvSpPr>
          <p:spPr>
            <a:xfrm>
              <a:off x="5547796" y="895486"/>
              <a:ext cx="1570360" cy="971550"/>
            </a:xfrm>
            <a:prstGeom prst="roundRect">
              <a:avLst>
                <a:gd name="adj" fmla="val 11214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7FA55A6-0F54-4405-8DFC-2D5A8B50A527}"/>
                </a:ext>
              </a:extLst>
            </p:cNvPr>
            <p:cNvSpPr/>
            <p:nvPr/>
          </p:nvSpPr>
          <p:spPr>
            <a:xfrm>
              <a:off x="5547796" y="895486"/>
              <a:ext cx="1570360" cy="36320"/>
            </a:xfrm>
            <a:prstGeom prst="rect">
              <a:avLst/>
            </a:prstGeom>
            <a:solidFill>
              <a:srgbClr val="00B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61C6DA-C960-48F7-A6B2-71D1E583F159}"/>
                </a:ext>
              </a:extLst>
            </p:cNvPr>
            <p:cNvSpPr/>
            <p:nvPr/>
          </p:nvSpPr>
          <p:spPr>
            <a:xfrm>
              <a:off x="5547796" y="895486"/>
              <a:ext cx="5752" cy="9715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1E12387-1DBE-4E6F-ADFE-2D79ED1B3908}"/>
                </a:ext>
              </a:extLst>
            </p:cNvPr>
            <p:cNvSpPr txBox="1"/>
            <p:nvPr/>
          </p:nvSpPr>
          <p:spPr>
            <a:xfrm>
              <a:off x="5755332" y="983057"/>
              <a:ext cx="1190752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 u="none" dirty="0">
                  <a:solidFill>
                    <a:srgbClr val="64748B"/>
                  </a:solidFill>
                  <a:latin typeface="Plus Jakarta Sans"/>
                </a:rPr>
                <a:t>Total Site </a:t>
              </a:r>
              <a:r>
                <a:rPr sz="1050" b="1" i="0" u="none" dirty="0" err="1">
                  <a:solidFill>
                    <a:srgbClr val="64748B"/>
                  </a:solidFill>
                  <a:latin typeface="Plus Jakarta Sans"/>
                </a:rPr>
                <a:t>Terdampak</a:t>
              </a:r>
              <a:endParaRPr sz="1050" b="1" i="0" u="none" dirty="0">
                <a:solidFill>
                  <a:srgbClr val="64748B"/>
                </a:solidFill>
                <a:latin typeface="Plus Jakarta Sans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3353BD4-5A71-4D5C-BB5A-AB3F57FB80EF}"/>
                </a:ext>
              </a:extLst>
            </p:cNvPr>
            <p:cNvSpPr txBox="1"/>
            <p:nvPr/>
          </p:nvSpPr>
          <p:spPr>
            <a:xfrm>
              <a:off x="5578968" y="648668"/>
              <a:ext cx="319260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i="1" u="none" dirty="0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Status </a:t>
              </a:r>
              <a:r>
                <a:rPr sz="1400" b="1" i="1" u="none" dirty="0" err="1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Jaringan</a:t>
              </a:r>
              <a:r>
                <a:rPr sz="1400" b="1" i="1" u="none" dirty="0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 </a:t>
              </a:r>
              <a:r>
                <a:rPr lang="en-US" sz="1400" b="1" i="1" dirty="0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dan</a:t>
              </a:r>
              <a:r>
                <a:rPr sz="1400" b="1" i="1" u="none" dirty="0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 </a:t>
              </a:r>
              <a:r>
                <a:rPr sz="1400" b="1" i="1" u="none" dirty="0" err="1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Klasifikasi</a:t>
              </a:r>
              <a:r>
                <a:rPr sz="1400" b="1" i="1" u="none" dirty="0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 Site BAKTI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A1930346-97F3-4A51-85E7-C2421E2FFBCB}"/>
                </a:ext>
              </a:extLst>
            </p:cNvPr>
            <p:cNvGrpSpPr/>
            <p:nvPr/>
          </p:nvGrpSpPr>
          <p:grpSpPr>
            <a:xfrm>
              <a:off x="5535018" y="4564718"/>
              <a:ext cx="6545207" cy="1024486"/>
              <a:chOff x="5547668" y="4328378"/>
              <a:chExt cx="6810741" cy="1240627"/>
            </a:xfrm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42A5CE39-5FED-4A19-8CBC-4FF32C690B7A}"/>
                  </a:ext>
                </a:extLst>
              </p:cNvPr>
              <p:cNvGrpSpPr/>
              <p:nvPr/>
            </p:nvGrpSpPr>
            <p:grpSpPr>
              <a:xfrm>
                <a:off x="5547668" y="4336366"/>
                <a:ext cx="2121078" cy="1000125"/>
                <a:chOff x="5547667" y="4336366"/>
                <a:chExt cx="3530649" cy="1000125"/>
              </a:xfrm>
            </p:grpSpPr>
            <p:sp>
              <p:nvSpPr>
                <p:cNvPr id="114" name="Rounded Rectangle 5">
                  <a:extLst>
                    <a:ext uri="{FF2B5EF4-FFF2-40B4-BE49-F238E27FC236}">
                      <a16:creationId xmlns:a16="http://schemas.microsoft.com/office/drawing/2014/main" id="{1B06C049-7409-42C8-A81E-3911ADCE248F}"/>
                    </a:ext>
                  </a:extLst>
                </p:cNvPr>
                <p:cNvSpPr/>
                <p:nvPr/>
              </p:nvSpPr>
              <p:spPr>
                <a:xfrm>
                  <a:off x="5547667" y="4336366"/>
                  <a:ext cx="3530649" cy="1000125"/>
                </a:xfrm>
                <a:prstGeom prst="roundRect">
                  <a:avLst>
                    <a:gd name="adj" fmla="val 11428"/>
                  </a:avLst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77DD08ED-C681-4554-90CA-E901298B5CF3}"/>
                    </a:ext>
                  </a:extLst>
                </p:cNvPr>
                <p:cNvSpPr txBox="1"/>
                <p:nvPr/>
              </p:nvSpPr>
              <p:spPr>
                <a:xfrm>
                  <a:off x="5766743" y="4555441"/>
                  <a:ext cx="3172035" cy="19567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/>
                  <a:r>
                    <a:rPr lang="en-US" sz="1050" b="0" i="0" u="none" dirty="0">
                      <a:solidFill>
                        <a:srgbClr val="64748B"/>
                      </a:solidFill>
                      <a:latin typeface="Plus Jakarta Sans"/>
                    </a:rPr>
                    <a:t>Rata-rata Availability</a:t>
                  </a:r>
                  <a:endParaRPr sz="1050" b="0" i="0" u="none" dirty="0">
                    <a:solidFill>
                      <a:srgbClr val="64748B"/>
                    </a:solidFill>
                    <a:latin typeface="Plus Jakarta Sans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5D701491-293C-4BB8-8823-79B0BDAD938C}"/>
                    </a:ext>
                  </a:extLst>
                </p:cNvPr>
                <p:cNvSpPr txBox="1"/>
                <p:nvPr/>
              </p:nvSpPr>
              <p:spPr>
                <a:xfrm>
                  <a:off x="5599768" y="4784042"/>
                  <a:ext cx="3478548" cy="44725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/>
                  <a:r>
                    <a:rPr lang="en-US" sz="2400" b="1" dirty="0">
                      <a:solidFill>
                        <a:srgbClr val="009999"/>
                      </a:solidFill>
                    </a:rPr>
                    <a:t>{{</a:t>
                  </a:r>
                  <a:r>
                    <a:rPr lang="en-US" sz="2400" b="1" dirty="0" err="1">
                      <a:solidFill>
                        <a:srgbClr val="009999"/>
                      </a:solidFill>
                    </a:rPr>
                    <a:t>avg_avail</a:t>
                  </a:r>
                  <a:r>
                    <a:rPr lang="en-US" sz="2400" b="1" dirty="0">
                      <a:solidFill>
                        <a:srgbClr val="009999"/>
                      </a:solidFill>
                    </a:rPr>
                    <a:t>}}</a:t>
                  </a:r>
                  <a:endParaRPr lang="en-US" sz="2100" b="1" dirty="0">
                    <a:solidFill>
                      <a:srgbClr val="009999"/>
                    </a:solidFill>
                    <a:latin typeface="Plus Jakarta Sans"/>
                  </a:endParaRPr>
                </a:p>
              </p:txBody>
            </p:sp>
          </p:grpSp>
          <p:grpSp>
            <p:nvGrpSpPr>
              <p:cNvPr id="102" name="Group 101">
                <a:extLst>
                  <a:ext uri="{FF2B5EF4-FFF2-40B4-BE49-F238E27FC236}">
                    <a16:creationId xmlns:a16="http://schemas.microsoft.com/office/drawing/2014/main" id="{0ECE22DF-B233-47CF-BCA2-BB8E15A785DE}"/>
                  </a:ext>
                </a:extLst>
              </p:cNvPr>
              <p:cNvGrpSpPr/>
              <p:nvPr/>
            </p:nvGrpSpPr>
            <p:grpSpPr>
              <a:xfrm>
                <a:off x="7802389" y="4328378"/>
                <a:ext cx="2194315" cy="1230366"/>
                <a:chOff x="7800358" y="4336366"/>
                <a:chExt cx="3530649" cy="1230366"/>
              </a:xfrm>
            </p:grpSpPr>
            <p:sp>
              <p:nvSpPr>
                <p:cNvPr id="107" name="Rounded Rectangle 6">
                  <a:extLst>
                    <a:ext uri="{FF2B5EF4-FFF2-40B4-BE49-F238E27FC236}">
                      <a16:creationId xmlns:a16="http://schemas.microsoft.com/office/drawing/2014/main" id="{2CEEEF20-BB11-4B9F-AEFF-285436D8C2C7}"/>
                    </a:ext>
                  </a:extLst>
                </p:cNvPr>
                <p:cNvSpPr/>
                <p:nvPr/>
              </p:nvSpPr>
              <p:spPr>
                <a:xfrm>
                  <a:off x="7800358" y="4336366"/>
                  <a:ext cx="3530649" cy="1000125"/>
                </a:xfrm>
                <a:prstGeom prst="roundRect">
                  <a:avLst>
                    <a:gd name="adj" fmla="val 11428"/>
                  </a:avLst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D8520198-DE08-44FE-95F6-1B334A1AAB52}"/>
                    </a:ext>
                  </a:extLst>
                </p:cNvPr>
                <p:cNvSpPr txBox="1"/>
                <p:nvPr/>
              </p:nvSpPr>
              <p:spPr>
                <a:xfrm>
                  <a:off x="7800358" y="4555441"/>
                  <a:ext cx="3530647" cy="1637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/>
                  <a:r>
                    <a:rPr sz="1050" b="0" i="0" u="none" dirty="0">
                      <a:solidFill>
                        <a:srgbClr val="64748B"/>
                      </a:solidFill>
                      <a:latin typeface="Plus Jakarta Sans"/>
                    </a:rPr>
                    <a:t>Daily Average Traffic </a:t>
                  </a:r>
                  <a:r>
                    <a:rPr sz="1050" b="0" i="0" u="none" dirty="0" err="1">
                      <a:solidFill>
                        <a:srgbClr val="64748B"/>
                      </a:solidFill>
                      <a:latin typeface="Plus Jakarta Sans"/>
                    </a:rPr>
                    <a:t>Harian</a:t>
                  </a:r>
                  <a:endParaRPr sz="1050" b="0" i="0" u="none" dirty="0">
                    <a:solidFill>
                      <a:srgbClr val="64748B"/>
                    </a:solidFill>
                    <a:latin typeface="Plus Jakarta Sans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8C54FA1D-6C67-439F-B479-9D021C505028}"/>
                    </a:ext>
                  </a:extLst>
                </p:cNvPr>
                <p:cNvSpPr txBox="1"/>
                <p:nvPr/>
              </p:nvSpPr>
              <p:spPr>
                <a:xfrm>
                  <a:off x="8019433" y="4784041"/>
                  <a:ext cx="3311574" cy="7826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/>
                  <a:r>
                    <a:rPr lang="en-US" sz="2100" b="1" dirty="0">
                      <a:solidFill>
                        <a:srgbClr val="0F172A"/>
                      </a:solidFill>
                      <a:latin typeface="Plus Jakarta Sans"/>
                    </a:rPr>
                    <a:t>{{</a:t>
                  </a:r>
                  <a:r>
                    <a:rPr lang="en-US" sz="2100" b="1" dirty="0" err="1">
                      <a:solidFill>
                        <a:srgbClr val="0F172A"/>
                      </a:solidFill>
                      <a:latin typeface="Plus Jakarta Sans"/>
                    </a:rPr>
                    <a:t>daily_traffic_gb</a:t>
                  </a:r>
                  <a:r>
                    <a:rPr lang="en-US" sz="2100" b="1" dirty="0">
                      <a:solidFill>
                        <a:srgbClr val="0F172A"/>
                      </a:solidFill>
                      <a:latin typeface="Plus Jakarta Sans"/>
                    </a:rPr>
                    <a:t>}} GB</a:t>
                  </a:r>
                </a:p>
              </p:txBody>
            </p:sp>
          </p:grp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A193034E-2BB9-4BDC-82D8-48C449E79C45}"/>
                  </a:ext>
                </a:extLst>
              </p:cNvPr>
              <p:cNvGrpSpPr/>
              <p:nvPr/>
            </p:nvGrpSpPr>
            <p:grpSpPr>
              <a:xfrm>
                <a:off x="10130346" y="4328504"/>
                <a:ext cx="2228063" cy="1240501"/>
                <a:chOff x="10210481" y="4336366"/>
                <a:chExt cx="2228063" cy="1213039"/>
              </a:xfrm>
            </p:grpSpPr>
            <p:sp>
              <p:nvSpPr>
                <p:cNvPr id="104" name="Rounded Rectangle 7">
                  <a:extLst>
                    <a:ext uri="{FF2B5EF4-FFF2-40B4-BE49-F238E27FC236}">
                      <a16:creationId xmlns:a16="http://schemas.microsoft.com/office/drawing/2014/main" id="{9CC999DD-A0A8-4584-A1A0-BF7BA08D4290}"/>
                    </a:ext>
                  </a:extLst>
                </p:cNvPr>
                <p:cNvSpPr/>
                <p:nvPr/>
              </p:nvSpPr>
              <p:spPr>
                <a:xfrm>
                  <a:off x="10210481" y="4336366"/>
                  <a:ext cx="2194315" cy="1000125"/>
                </a:xfrm>
                <a:prstGeom prst="roundRect">
                  <a:avLst>
                    <a:gd name="adj" fmla="val 11428"/>
                  </a:avLst>
                </a:prstGeom>
                <a:solidFill>
                  <a:srgbClr val="FFFFFF"/>
                </a:solidFill>
                <a:ln w="9525">
                  <a:solidFill>
                    <a:srgbClr val="E2E8F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D9D75E21-C4E1-4844-85C6-912C1996610E}"/>
                    </a:ext>
                  </a:extLst>
                </p:cNvPr>
                <p:cNvSpPr txBox="1"/>
                <p:nvPr/>
              </p:nvSpPr>
              <p:spPr>
                <a:xfrm>
                  <a:off x="10210482" y="4555441"/>
                  <a:ext cx="2228062" cy="16158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/>
                  <a:r>
                    <a:rPr sz="1050" b="0" i="0" u="none" dirty="0">
                      <a:solidFill>
                        <a:srgbClr val="64748B"/>
                      </a:solidFill>
                      <a:latin typeface="Plus Jakarta Sans"/>
                    </a:rPr>
                    <a:t>Daily Avg Peak Active Users</a:t>
                  </a: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837F62BE-C1EA-4215-B192-E39E2D6153BE}"/>
                    </a:ext>
                  </a:extLst>
                </p:cNvPr>
                <p:cNvSpPr txBox="1"/>
                <p:nvPr/>
              </p:nvSpPr>
              <p:spPr>
                <a:xfrm>
                  <a:off x="10210481" y="4784041"/>
                  <a:ext cx="2194315" cy="7653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/>
                  <a:r>
                    <a:rPr lang="en-US" sz="2100" b="1" dirty="0">
                      <a:solidFill>
                        <a:srgbClr val="16A34A"/>
                      </a:solidFill>
                      <a:latin typeface="Plus Jakarta Sans"/>
                    </a:rPr>
                    <a:t>{{</a:t>
                  </a:r>
                  <a:r>
                    <a:rPr lang="en-US" sz="2100" b="1" dirty="0" err="1">
                      <a:solidFill>
                        <a:srgbClr val="16A34A"/>
                      </a:solidFill>
                      <a:latin typeface="Plus Jakarta Sans"/>
                    </a:rPr>
                    <a:t>active_users</a:t>
                  </a:r>
                  <a:r>
                    <a:rPr lang="en-US" sz="2100" b="1" dirty="0">
                      <a:solidFill>
                        <a:srgbClr val="16A34A"/>
                      </a:solidFill>
                      <a:latin typeface="Plus Jakarta Sans"/>
                    </a:rPr>
                    <a:t>}} Users</a:t>
                  </a:r>
                </a:p>
              </p:txBody>
            </p:sp>
          </p:grp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801B98C1-5C1E-4EFB-A03B-9D5913FA3AAE}"/>
                </a:ext>
              </a:extLst>
            </p:cNvPr>
            <p:cNvSpPr txBox="1"/>
            <p:nvPr/>
          </p:nvSpPr>
          <p:spPr>
            <a:xfrm>
              <a:off x="5598573" y="4357957"/>
              <a:ext cx="3653757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400" b="1" i="1" u="none" dirty="0" err="1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Metrik</a:t>
              </a:r>
              <a:r>
                <a:rPr sz="1400" b="1" i="1" u="none" dirty="0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 Traffic </a:t>
              </a:r>
              <a:r>
                <a:rPr lang="en-US" sz="1400" b="1" i="1" dirty="0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dan </a:t>
              </a:r>
              <a:r>
                <a:rPr sz="1400" b="1" i="1" u="none" dirty="0" err="1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Analisis</a:t>
              </a:r>
              <a:r>
                <a:rPr sz="1400" b="1" i="1" u="none" dirty="0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 </a:t>
              </a:r>
              <a:r>
                <a:rPr sz="1400" b="1" i="1" u="none" dirty="0" err="1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Produktivitas</a:t>
              </a:r>
              <a:r>
                <a:rPr sz="1400" b="1" i="1" u="none" dirty="0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 </a:t>
              </a:r>
              <a:r>
                <a:rPr sz="1400" b="1" i="1" u="none" dirty="0" err="1">
                  <a:solidFill>
                    <a:schemeClr val="bg1">
                      <a:lumMod val="50000"/>
                    </a:schemeClr>
                  </a:solidFill>
                  <a:latin typeface="Plus Jakarta Sans"/>
                </a:rPr>
                <a:t>Layanan</a:t>
              </a:r>
              <a:endParaRPr sz="1400" b="1" i="1" u="none" dirty="0">
                <a:solidFill>
                  <a:schemeClr val="bg1">
                    <a:lumMod val="50000"/>
                  </a:schemeClr>
                </a:solidFill>
                <a:latin typeface="Plus Jakarta Sans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8E467F1-BE1E-41A1-9723-9DF9A4FBA0DE}"/>
                </a:ext>
              </a:extLst>
            </p:cNvPr>
            <p:cNvSpPr txBox="1"/>
            <p:nvPr/>
          </p:nvSpPr>
          <p:spPr>
            <a:xfrm>
              <a:off x="5340061" y="1260787"/>
              <a:ext cx="20008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/>
                <a:t>{{</a:t>
              </a:r>
              <a:r>
                <a:rPr lang="en-US" sz="2000" b="1" dirty="0" err="1"/>
                <a:t>total_site</a:t>
              </a:r>
              <a:r>
                <a:rPr lang="en-US" sz="2000" b="1" dirty="0"/>
                <a:t>}} Site</a:t>
              </a:r>
              <a:endParaRPr lang="en-US" sz="200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23" name="Rounded Rectangle 4">
              <a:extLst>
                <a:ext uri="{FF2B5EF4-FFF2-40B4-BE49-F238E27FC236}">
                  <a16:creationId xmlns:a16="http://schemas.microsoft.com/office/drawing/2014/main" id="{69A3D5EC-3661-43F9-ADB7-3208FC5AD936}"/>
                </a:ext>
              </a:extLst>
            </p:cNvPr>
            <p:cNvSpPr/>
            <p:nvPr/>
          </p:nvSpPr>
          <p:spPr>
            <a:xfrm>
              <a:off x="5540283" y="1979902"/>
              <a:ext cx="1570360" cy="1116441"/>
            </a:xfrm>
            <a:prstGeom prst="roundRect">
              <a:avLst>
                <a:gd name="adj" fmla="val 11214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CE57FC1-42F2-4A9A-A58C-94C0F74B8424}"/>
                </a:ext>
              </a:extLst>
            </p:cNvPr>
            <p:cNvSpPr/>
            <p:nvPr/>
          </p:nvSpPr>
          <p:spPr>
            <a:xfrm>
              <a:off x="5540283" y="1979903"/>
              <a:ext cx="1570360" cy="3632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DF245B6-D86C-4435-B28B-2AF8833450FE}"/>
                </a:ext>
              </a:extLst>
            </p:cNvPr>
            <p:cNvSpPr/>
            <p:nvPr/>
          </p:nvSpPr>
          <p:spPr>
            <a:xfrm>
              <a:off x="5540283" y="1979903"/>
              <a:ext cx="5752" cy="9715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BA6AD79-53F6-4103-83A3-91EA3242AB9B}"/>
                </a:ext>
              </a:extLst>
            </p:cNvPr>
            <p:cNvSpPr/>
            <p:nvPr/>
          </p:nvSpPr>
          <p:spPr>
            <a:xfrm>
              <a:off x="5436789" y="3147750"/>
              <a:ext cx="5752" cy="9715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96346890-FB0A-419F-8353-960D093CCEDB}"/>
                </a:ext>
              </a:extLst>
            </p:cNvPr>
            <p:cNvSpPr/>
            <p:nvPr/>
          </p:nvSpPr>
          <p:spPr>
            <a:xfrm>
              <a:off x="5451479" y="1979903"/>
              <a:ext cx="5752" cy="9715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DFC6C697-0D6E-4A75-A6BC-09429090B6D4}"/>
                </a:ext>
              </a:extLst>
            </p:cNvPr>
            <p:cNvSpPr txBox="1"/>
            <p:nvPr/>
          </p:nvSpPr>
          <p:spPr>
            <a:xfrm>
              <a:off x="5824906" y="2059783"/>
              <a:ext cx="1013358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 u="none" dirty="0">
                  <a:solidFill>
                    <a:srgbClr val="64748B"/>
                  </a:solidFill>
                  <a:latin typeface="Plus Jakarta Sans"/>
                </a:rPr>
                <a:t>Site Up (Normal)</a:t>
              </a:r>
            </a:p>
          </p:txBody>
        </p:sp>
        <p:sp>
          <p:nvSpPr>
            <p:cNvPr id="133" name="Rounded Rectangle 4">
              <a:extLst>
                <a:ext uri="{FF2B5EF4-FFF2-40B4-BE49-F238E27FC236}">
                  <a16:creationId xmlns:a16="http://schemas.microsoft.com/office/drawing/2014/main" id="{0CB96E87-96D8-4B1F-AE7E-7B76963AFE96}"/>
                </a:ext>
              </a:extLst>
            </p:cNvPr>
            <p:cNvSpPr/>
            <p:nvPr/>
          </p:nvSpPr>
          <p:spPr>
            <a:xfrm>
              <a:off x="5546035" y="3160454"/>
              <a:ext cx="1570360" cy="1128444"/>
            </a:xfrm>
            <a:prstGeom prst="roundRect">
              <a:avLst>
                <a:gd name="adj" fmla="val 11214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C613E0C-18AD-4FA6-B9F9-677D83404B5A}"/>
                </a:ext>
              </a:extLst>
            </p:cNvPr>
            <p:cNvSpPr/>
            <p:nvPr/>
          </p:nvSpPr>
          <p:spPr>
            <a:xfrm>
              <a:off x="5546035" y="3145791"/>
              <a:ext cx="1570360" cy="3632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FECA0757-CB48-46AC-9514-F6795E591610}"/>
                </a:ext>
              </a:extLst>
            </p:cNvPr>
            <p:cNvSpPr/>
            <p:nvPr/>
          </p:nvSpPr>
          <p:spPr>
            <a:xfrm>
              <a:off x="5546035" y="3145791"/>
              <a:ext cx="5752" cy="9715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4E686C1-C791-4E67-AF1A-1B74A6D5CE86}"/>
                </a:ext>
              </a:extLst>
            </p:cNvPr>
            <p:cNvSpPr/>
            <p:nvPr/>
          </p:nvSpPr>
          <p:spPr>
            <a:xfrm>
              <a:off x="7110643" y="3145791"/>
              <a:ext cx="5752" cy="9715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1A18EEE3-6689-4584-A512-8CF1E8F13B31}"/>
                </a:ext>
              </a:extLst>
            </p:cNvPr>
            <p:cNvSpPr txBox="1"/>
            <p:nvPr/>
          </p:nvSpPr>
          <p:spPr>
            <a:xfrm>
              <a:off x="5790864" y="3248024"/>
              <a:ext cx="1219128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 u="none" dirty="0">
                  <a:solidFill>
                    <a:srgbClr val="64748B"/>
                  </a:solidFill>
                  <a:latin typeface="Plus Jakarta Sans"/>
                </a:rPr>
                <a:t>Site Down (</a:t>
              </a:r>
              <a:r>
                <a:rPr sz="1050" b="1" i="0" u="none" dirty="0" err="1">
                  <a:solidFill>
                    <a:srgbClr val="64748B"/>
                  </a:solidFill>
                  <a:latin typeface="Plus Jakarta Sans"/>
                </a:rPr>
                <a:t>Kritis</a:t>
              </a:r>
              <a:r>
                <a:rPr sz="1050" b="1" i="0" u="none" dirty="0">
                  <a:solidFill>
                    <a:srgbClr val="64748B"/>
                  </a:solidFill>
                  <a:latin typeface="Plus Jakarta Sans"/>
                </a:rPr>
                <a:t>)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003811F-770C-4936-93F6-3C79982366F3}"/>
                </a:ext>
              </a:extLst>
            </p:cNvPr>
            <p:cNvSpPr txBox="1"/>
            <p:nvPr/>
          </p:nvSpPr>
          <p:spPr>
            <a:xfrm>
              <a:off x="5704982" y="2408251"/>
              <a:ext cx="116192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B050"/>
                  </a:solidFill>
                </a:rPr>
                <a:t>{{</a:t>
              </a:r>
              <a:r>
                <a:rPr lang="en-US" sz="2000" b="1" dirty="0" err="1">
                  <a:solidFill>
                    <a:srgbClr val="00B050"/>
                  </a:solidFill>
                </a:rPr>
                <a:t>site_up</a:t>
              </a:r>
              <a:r>
                <a:rPr lang="en-US" sz="2000" b="1" dirty="0">
                  <a:solidFill>
                    <a:srgbClr val="00B050"/>
                  </a:solidFill>
                </a:rPr>
                <a:t>}} Site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7BF5A0EA-A3AF-4AA9-B53C-29106439E14E}"/>
                </a:ext>
              </a:extLst>
            </p:cNvPr>
            <p:cNvSpPr txBox="1"/>
            <p:nvPr/>
          </p:nvSpPr>
          <p:spPr>
            <a:xfrm>
              <a:off x="5649553" y="3540465"/>
              <a:ext cx="112727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</a:rPr>
                <a:t>{{</a:t>
              </a:r>
              <a:r>
                <a:rPr lang="en-US" sz="2000" b="1" dirty="0" err="1">
                  <a:solidFill>
                    <a:srgbClr val="FF0000"/>
                  </a:solidFill>
                </a:rPr>
                <a:t>site_down</a:t>
              </a:r>
              <a:r>
                <a:rPr lang="en-US" sz="2000" b="1" dirty="0">
                  <a:solidFill>
                    <a:srgbClr val="FF0000"/>
                  </a:solidFill>
                </a:rPr>
                <a:t>}}</a:t>
              </a:r>
              <a:r>
                <a:rPr lang="en-US" sz="2000" dirty="0">
                  <a:solidFill>
                    <a:srgbClr val="FF0000"/>
                  </a:solidFill>
                </a:rPr>
                <a:t> Site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9539DA67-D0C3-4401-A4A6-44C4C796B797}"/>
                </a:ext>
              </a:extLst>
            </p:cNvPr>
            <p:cNvSpPr txBox="1"/>
            <p:nvPr/>
          </p:nvSpPr>
          <p:spPr>
            <a:xfrm>
              <a:off x="8701007" y="873448"/>
              <a:ext cx="497124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0F172A"/>
                  </a:solidFill>
                  <a:latin typeface="Plus Jakarta Sans"/>
                </a:rPr>
                <a:t>BTS 4G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8ACEA67-05B8-4FD2-937E-F44D6B88AFB1}"/>
                </a:ext>
              </a:extLst>
            </p:cNvPr>
            <p:cNvSpPr txBox="1"/>
            <p:nvPr/>
          </p:nvSpPr>
          <p:spPr>
            <a:xfrm>
              <a:off x="8193416" y="1525020"/>
              <a:ext cx="492122" cy="923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1" i="0" u="none" dirty="0" err="1">
                  <a:solidFill>
                    <a:srgbClr val="64748B"/>
                  </a:solidFill>
                  <a:latin typeface="Plus Jakarta Sans"/>
                </a:rPr>
                <a:t>Transmisi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 VSAT</a:t>
              </a:r>
            </a:p>
          </p:txBody>
        </p:sp>
        <p:pic>
          <p:nvPicPr>
            <p:cNvPr id="165" name="Picture 164">
              <a:extLst>
                <a:ext uri="{FF2B5EF4-FFF2-40B4-BE49-F238E27FC236}">
                  <a16:creationId xmlns:a16="http://schemas.microsoft.com/office/drawing/2014/main" id="{FCE76E56-A2FF-4610-B6F1-774F8163A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711940" y="1483253"/>
              <a:ext cx="256482" cy="370315"/>
            </a:xfrm>
            <a:prstGeom prst="rect">
              <a:avLst/>
            </a:prstGeom>
          </p:spPr>
        </p:pic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5ECDFD02-0684-49AD-ADAB-00880ADB17D9}"/>
                </a:ext>
              </a:extLst>
            </p:cNvPr>
            <p:cNvSpPr txBox="1"/>
            <p:nvPr/>
          </p:nvSpPr>
          <p:spPr>
            <a:xfrm>
              <a:off x="8116638" y="1623693"/>
              <a:ext cx="92044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/>
                <a:t>{{g4_vsat}} Site</a:t>
              </a:r>
            </a:p>
          </p:txBody>
        </p:sp>
        <p:sp>
          <p:nvSpPr>
            <p:cNvPr id="169" name="Arrow: Right 168">
              <a:extLst>
                <a:ext uri="{FF2B5EF4-FFF2-40B4-BE49-F238E27FC236}">
                  <a16:creationId xmlns:a16="http://schemas.microsoft.com/office/drawing/2014/main" id="{BF0164B9-B776-4FB4-9B82-09264A69FEC6}"/>
                </a:ext>
              </a:extLst>
            </p:cNvPr>
            <p:cNvSpPr/>
            <p:nvPr/>
          </p:nvSpPr>
          <p:spPr>
            <a:xfrm>
              <a:off x="7209110" y="1149693"/>
              <a:ext cx="742737" cy="475979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8A9FC9CC-E955-4275-B1D3-D2957B214C2F}"/>
                </a:ext>
              </a:extLst>
            </p:cNvPr>
            <p:cNvSpPr txBox="1"/>
            <p:nvPr/>
          </p:nvSpPr>
          <p:spPr>
            <a:xfrm>
              <a:off x="9106910" y="1537323"/>
              <a:ext cx="501740" cy="923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1" i="0" u="none" dirty="0" err="1">
                  <a:solidFill>
                    <a:srgbClr val="64748B"/>
                  </a:solidFill>
                  <a:latin typeface="Plus Jakarta Sans"/>
                </a:rPr>
                <a:t>Transmisi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 </a:t>
              </a:r>
              <a:r>
                <a:rPr lang="en-US" sz="600" b="1" dirty="0">
                  <a:solidFill>
                    <a:srgbClr val="64748B"/>
                  </a:solidFill>
                  <a:latin typeface="Plus Jakarta Sans"/>
                </a:rPr>
                <a:t>MW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T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DA99F0A3-B9EE-40D1-9073-EF37AB48704D}"/>
                </a:ext>
              </a:extLst>
            </p:cNvPr>
            <p:cNvSpPr txBox="1"/>
            <p:nvPr/>
          </p:nvSpPr>
          <p:spPr>
            <a:xfrm>
              <a:off x="9030132" y="1635996"/>
              <a:ext cx="90281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/>
                <a:t>{{g4_mw}} Site</a:t>
              </a:r>
            </a:p>
          </p:txBody>
        </p:sp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D1B148BD-52DB-48F7-9622-EDEC879DA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35659" y="1488760"/>
              <a:ext cx="256482" cy="364944"/>
            </a:xfrm>
            <a:prstGeom prst="rect">
              <a:avLst/>
            </a:prstGeom>
          </p:spPr>
        </p:pic>
        <p:sp>
          <p:nvSpPr>
            <p:cNvPr id="181" name="Rounded Rectangle 27">
              <a:extLst>
                <a:ext uri="{FF2B5EF4-FFF2-40B4-BE49-F238E27FC236}">
                  <a16:creationId xmlns:a16="http://schemas.microsoft.com/office/drawing/2014/main" id="{C7EAD124-1CC9-4BD5-8196-615167188FF7}"/>
                </a:ext>
              </a:extLst>
            </p:cNvPr>
            <p:cNvSpPr/>
            <p:nvPr/>
          </p:nvSpPr>
          <p:spPr>
            <a:xfrm>
              <a:off x="10156855" y="1482985"/>
              <a:ext cx="871734" cy="367340"/>
            </a:xfrm>
            <a:prstGeom prst="roundRect">
              <a:avLst>
                <a:gd name="adj" fmla="val 12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0CF540FB-5602-417C-AAF6-B2C2689DCBAC}"/>
                </a:ext>
              </a:extLst>
            </p:cNvPr>
            <p:cNvSpPr txBox="1"/>
            <p:nvPr/>
          </p:nvSpPr>
          <p:spPr>
            <a:xfrm>
              <a:off x="10768743" y="882508"/>
              <a:ext cx="610936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0F172A"/>
                  </a:solidFill>
                  <a:latin typeface="Plus Jakarta Sans"/>
                </a:rPr>
                <a:t>BTS </a:t>
              </a:r>
              <a:r>
                <a:rPr lang="en-US" sz="1350" b="1" i="0" u="none" dirty="0">
                  <a:solidFill>
                    <a:srgbClr val="0F172A"/>
                  </a:solidFill>
                  <a:latin typeface="Plus Jakarta Sans"/>
                </a:rPr>
                <a:t>USO</a:t>
              </a:r>
              <a:endParaRPr sz="135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48009FE3-1419-42D0-BE9D-0CAC52B9E744}"/>
                </a:ext>
              </a:extLst>
            </p:cNvPr>
            <p:cNvSpPr txBox="1"/>
            <p:nvPr/>
          </p:nvSpPr>
          <p:spPr>
            <a:xfrm>
              <a:off x="10261152" y="1534080"/>
              <a:ext cx="492122" cy="923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1" i="0" u="none" dirty="0" err="1">
                  <a:solidFill>
                    <a:srgbClr val="64748B"/>
                  </a:solidFill>
                  <a:latin typeface="Plus Jakarta Sans"/>
                </a:rPr>
                <a:t>Transmisi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 VSAT</a:t>
              </a:r>
            </a:p>
          </p:txBody>
        </p:sp>
        <p:pic>
          <p:nvPicPr>
            <p:cNvPr id="184" name="Picture 183">
              <a:extLst>
                <a:ext uri="{FF2B5EF4-FFF2-40B4-BE49-F238E27FC236}">
                  <a16:creationId xmlns:a16="http://schemas.microsoft.com/office/drawing/2014/main" id="{01EA3721-D0F5-46F6-883F-5250048A5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779676" y="1492313"/>
              <a:ext cx="256482" cy="370315"/>
            </a:xfrm>
            <a:prstGeom prst="rect">
              <a:avLst/>
            </a:prstGeom>
          </p:spPr>
        </p:pic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AA339E8A-A62A-4411-B6D8-49131A49F9EB}"/>
                </a:ext>
              </a:extLst>
            </p:cNvPr>
            <p:cNvSpPr txBox="1"/>
            <p:nvPr/>
          </p:nvSpPr>
          <p:spPr>
            <a:xfrm>
              <a:off x="10184374" y="1632753"/>
              <a:ext cx="97975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/>
                <a:t>{{</a:t>
              </a:r>
              <a:r>
                <a:rPr lang="en-US" sz="900" b="1" dirty="0" err="1"/>
                <a:t>uso_vsat</a:t>
              </a:r>
              <a:r>
                <a:rPr lang="en-US" sz="900" b="1" dirty="0"/>
                <a:t>}} Site</a:t>
              </a:r>
            </a:p>
          </p:txBody>
        </p:sp>
        <p:sp>
          <p:nvSpPr>
            <p:cNvPr id="196" name="Rounded Rectangle 27">
              <a:extLst>
                <a:ext uri="{FF2B5EF4-FFF2-40B4-BE49-F238E27FC236}">
                  <a16:creationId xmlns:a16="http://schemas.microsoft.com/office/drawing/2014/main" id="{FA6738E1-0F3B-4611-8DE5-26D9BC96B148}"/>
                </a:ext>
              </a:extLst>
            </p:cNvPr>
            <p:cNvSpPr/>
            <p:nvPr/>
          </p:nvSpPr>
          <p:spPr>
            <a:xfrm>
              <a:off x="11070349" y="1495288"/>
              <a:ext cx="871734" cy="367340"/>
            </a:xfrm>
            <a:prstGeom prst="roundRect">
              <a:avLst>
                <a:gd name="adj" fmla="val 12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47071C55-E7B3-4137-B87E-E25735D0FF81}"/>
                </a:ext>
              </a:extLst>
            </p:cNvPr>
            <p:cNvSpPr txBox="1"/>
            <p:nvPr/>
          </p:nvSpPr>
          <p:spPr>
            <a:xfrm>
              <a:off x="11174646" y="1546383"/>
              <a:ext cx="492122" cy="923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1" i="0" u="none" dirty="0" err="1">
                  <a:solidFill>
                    <a:srgbClr val="64748B"/>
                  </a:solidFill>
                  <a:latin typeface="Plus Jakarta Sans"/>
                </a:rPr>
                <a:t>Transmisi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 VSAT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0918A061-44AE-4AF3-AA3C-47FAD38450A6}"/>
                </a:ext>
              </a:extLst>
            </p:cNvPr>
            <p:cNvSpPr txBox="1"/>
            <p:nvPr/>
          </p:nvSpPr>
          <p:spPr>
            <a:xfrm>
              <a:off x="11097868" y="1645056"/>
              <a:ext cx="96212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b="1" dirty="0"/>
                <a:t>{{</a:t>
              </a:r>
              <a:r>
                <a:rPr lang="en-US" sz="900" b="1" dirty="0" err="1"/>
                <a:t>uso_mw</a:t>
              </a:r>
              <a:r>
                <a:rPr lang="en-US" sz="900" b="1" dirty="0"/>
                <a:t>}} Site</a:t>
              </a:r>
            </a:p>
          </p:txBody>
        </p:sp>
        <p:pic>
          <p:nvPicPr>
            <p:cNvPr id="203" name="Picture 202">
              <a:extLst>
                <a:ext uri="{FF2B5EF4-FFF2-40B4-BE49-F238E27FC236}">
                  <a16:creationId xmlns:a16="http://schemas.microsoft.com/office/drawing/2014/main" id="{4D2295AB-F805-496F-A1FD-08FA815B8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703395" y="1497820"/>
              <a:ext cx="256482" cy="364944"/>
            </a:xfrm>
            <a:prstGeom prst="rect">
              <a:avLst/>
            </a:prstGeom>
          </p:spPr>
        </p:pic>
        <p:sp>
          <p:nvSpPr>
            <p:cNvPr id="206" name="Rounded Rectangle 8">
              <a:extLst>
                <a:ext uri="{FF2B5EF4-FFF2-40B4-BE49-F238E27FC236}">
                  <a16:creationId xmlns:a16="http://schemas.microsoft.com/office/drawing/2014/main" id="{A6901B15-6FAC-49F4-80BD-3D2BDC2B2211}"/>
                </a:ext>
              </a:extLst>
            </p:cNvPr>
            <p:cNvSpPr/>
            <p:nvPr/>
          </p:nvSpPr>
          <p:spPr>
            <a:xfrm>
              <a:off x="8023214" y="1995845"/>
              <a:ext cx="1958797" cy="1151905"/>
            </a:xfrm>
            <a:prstGeom prst="roundRect">
              <a:avLst>
                <a:gd name="adj" fmla="val 779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7" name="Rounded Rectangle 26">
              <a:extLst>
                <a:ext uri="{FF2B5EF4-FFF2-40B4-BE49-F238E27FC236}">
                  <a16:creationId xmlns:a16="http://schemas.microsoft.com/office/drawing/2014/main" id="{6A2860EE-E3D8-46CF-8E55-FB1F71639792}"/>
                </a:ext>
              </a:extLst>
            </p:cNvPr>
            <p:cNvSpPr/>
            <p:nvPr/>
          </p:nvSpPr>
          <p:spPr>
            <a:xfrm>
              <a:off x="8447751" y="2257197"/>
              <a:ext cx="1060450" cy="309668"/>
            </a:xfrm>
            <a:prstGeom prst="roundRect">
              <a:avLst>
                <a:gd name="adj" fmla="val 25000"/>
              </a:avLst>
            </a:prstGeom>
            <a:solidFill>
              <a:srgbClr val="E0F2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8" name="Rounded Rectangle 27">
              <a:extLst>
                <a:ext uri="{FF2B5EF4-FFF2-40B4-BE49-F238E27FC236}">
                  <a16:creationId xmlns:a16="http://schemas.microsoft.com/office/drawing/2014/main" id="{5FAC5928-450E-427A-9042-BCE88724FB4C}"/>
                </a:ext>
              </a:extLst>
            </p:cNvPr>
            <p:cNvSpPr/>
            <p:nvPr/>
          </p:nvSpPr>
          <p:spPr>
            <a:xfrm>
              <a:off x="8117526" y="2599581"/>
              <a:ext cx="871734" cy="367340"/>
            </a:xfrm>
            <a:prstGeom prst="roundRect">
              <a:avLst>
                <a:gd name="adj" fmla="val 12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769D4232-FA70-4780-BE09-C5785BC373BD}"/>
                </a:ext>
              </a:extLst>
            </p:cNvPr>
            <p:cNvSpPr txBox="1"/>
            <p:nvPr/>
          </p:nvSpPr>
          <p:spPr>
            <a:xfrm>
              <a:off x="8576404" y="2016223"/>
              <a:ext cx="851387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0F172A"/>
                  </a:solidFill>
                  <a:latin typeface="Plus Jakarta Sans"/>
                </a:rPr>
                <a:t>BTS 4G</a:t>
              </a:r>
              <a:r>
                <a:rPr lang="en-US" sz="1350" b="1" i="0" u="none" dirty="0">
                  <a:solidFill>
                    <a:srgbClr val="0F172A"/>
                  </a:solidFill>
                  <a:latin typeface="Plus Jakarta Sans"/>
                </a:rPr>
                <a:t> (Up)</a:t>
              </a:r>
              <a:endParaRPr sz="135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1872B9A2-4055-47B2-A117-91D4415FC671}"/>
                </a:ext>
              </a:extLst>
            </p:cNvPr>
            <p:cNvSpPr txBox="1"/>
            <p:nvPr/>
          </p:nvSpPr>
          <p:spPr>
            <a:xfrm>
              <a:off x="8221823" y="2650676"/>
              <a:ext cx="492122" cy="923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1" i="0" u="none" dirty="0" err="1">
                  <a:solidFill>
                    <a:srgbClr val="64748B"/>
                  </a:solidFill>
                  <a:latin typeface="Plus Jakarta Sans"/>
                </a:rPr>
                <a:t>Transmisi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 VSAT</a:t>
              </a:r>
            </a:p>
          </p:txBody>
        </p:sp>
        <p:pic>
          <p:nvPicPr>
            <p:cNvPr id="211" name="Picture 210">
              <a:extLst>
                <a:ext uri="{FF2B5EF4-FFF2-40B4-BE49-F238E27FC236}">
                  <a16:creationId xmlns:a16="http://schemas.microsoft.com/office/drawing/2014/main" id="{B2D5127C-55E2-4F8C-A3A2-B83169F6C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740347" y="2608909"/>
              <a:ext cx="256482" cy="370315"/>
            </a:xfrm>
            <a:prstGeom prst="rect">
              <a:avLst/>
            </a:prstGeom>
          </p:spPr>
        </p:pic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CEB76DD8-EE8F-42B7-89DC-B14CF8E966E8}"/>
                </a:ext>
              </a:extLst>
            </p:cNvPr>
            <p:cNvSpPr txBox="1"/>
            <p:nvPr/>
          </p:nvSpPr>
          <p:spPr>
            <a:xfrm>
              <a:off x="8145045" y="2749349"/>
              <a:ext cx="5611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/>
                <a:t>{{4g_up_vsat}}</a:t>
              </a:r>
            </a:p>
          </p:txBody>
        </p:sp>
        <p:sp>
          <p:nvSpPr>
            <p:cNvPr id="213" name="Rounded Rectangle 27">
              <a:extLst>
                <a:ext uri="{FF2B5EF4-FFF2-40B4-BE49-F238E27FC236}">
                  <a16:creationId xmlns:a16="http://schemas.microsoft.com/office/drawing/2014/main" id="{E9F955DE-2565-4BA2-A5C3-9B3298CDED83}"/>
                </a:ext>
              </a:extLst>
            </p:cNvPr>
            <p:cNvSpPr/>
            <p:nvPr/>
          </p:nvSpPr>
          <p:spPr>
            <a:xfrm>
              <a:off x="9031020" y="2611884"/>
              <a:ext cx="871734" cy="367340"/>
            </a:xfrm>
            <a:prstGeom prst="roundRect">
              <a:avLst>
                <a:gd name="adj" fmla="val 12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34674088-D970-4324-A1A7-EADCF6D4B5CB}"/>
                </a:ext>
              </a:extLst>
            </p:cNvPr>
            <p:cNvSpPr txBox="1"/>
            <p:nvPr/>
          </p:nvSpPr>
          <p:spPr>
            <a:xfrm>
              <a:off x="9135317" y="2662979"/>
              <a:ext cx="463268" cy="923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1" i="0" u="none" dirty="0" err="1">
                  <a:solidFill>
                    <a:srgbClr val="64748B"/>
                  </a:solidFill>
                  <a:latin typeface="Plus Jakarta Sans"/>
                </a:rPr>
                <a:t>Transmisi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 </a:t>
              </a:r>
              <a:r>
                <a:rPr lang="en-US" sz="600" b="1" dirty="0">
                  <a:solidFill>
                    <a:srgbClr val="64748B"/>
                  </a:solidFill>
                  <a:latin typeface="Plus Jakarta Sans"/>
                </a:rPr>
                <a:t>MW</a:t>
              </a:r>
              <a:endParaRPr sz="600" b="1" i="0" u="none" dirty="0">
                <a:solidFill>
                  <a:srgbClr val="64748B"/>
                </a:solidFill>
                <a:latin typeface="Plus Jakarta Sans"/>
              </a:endParaRP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5103A70-3FD3-403C-A251-C24E22215762}"/>
                </a:ext>
              </a:extLst>
            </p:cNvPr>
            <p:cNvSpPr txBox="1"/>
            <p:nvPr/>
          </p:nvSpPr>
          <p:spPr>
            <a:xfrm>
              <a:off x="9058540" y="2761652"/>
              <a:ext cx="6003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/>
                <a:t>{{4g_up_mw}}</a:t>
              </a:r>
            </a:p>
          </p:txBody>
        </p:sp>
        <p:pic>
          <p:nvPicPr>
            <p:cNvPr id="216" name="Picture 215">
              <a:extLst>
                <a:ext uri="{FF2B5EF4-FFF2-40B4-BE49-F238E27FC236}">
                  <a16:creationId xmlns:a16="http://schemas.microsoft.com/office/drawing/2014/main" id="{86329A7D-A05A-4963-B4F1-4031BF13F9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64066" y="2614416"/>
              <a:ext cx="256482" cy="364944"/>
            </a:xfrm>
            <a:prstGeom prst="rect">
              <a:avLst/>
            </a:prstGeom>
          </p:spPr>
        </p:pic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DB06EE1-8768-450E-99AB-3833FA761BE5}"/>
                </a:ext>
              </a:extLst>
            </p:cNvPr>
            <p:cNvSpPr txBox="1"/>
            <p:nvPr/>
          </p:nvSpPr>
          <p:spPr>
            <a:xfrm>
              <a:off x="8337940" y="2231000"/>
              <a:ext cx="1244130" cy="7386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369A1"/>
                  </a:solidFill>
                  <a:latin typeface="Plus Jakarta Sans"/>
                </a:rPr>
                <a:t>{{4g_up}} Site</a:t>
              </a:r>
            </a:p>
          </p:txBody>
        </p:sp>
        <p:sp>
          <p:nvSpPr>
            <p:cNvPr id="218" name="Rounded Rectangle 8">
              <a:extLst>
                <a:ext uri="{FF2B5EF4-FFF2-40B4-BE49-F238E27FC236}">
                  <a16:creationId xmlns:a16="http://schemas.microsoft.com/office/drawing/2014/main" id="{37172E8D-9F67-4AD4-B551-92AC20DED706}"/>
                </a:ext>
              </a:extLst>
            </p:cNvPr>
            <p:cNvSpPr/>
            <p:nvPr/>
          </p:nvSpPr>
          <p:spPr>
            <a:xfrm>
              <a:off x="10090950" y="2004905"/>
              <a:ext cx="1958797" cy="1140886"/>
            </a:xfrm>
            <a:prstGeom prst="roundRect">
              <a:avLst>
                <a:gd name="adj" fmla="val 779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9" name="Rounded Rectangle 27">
              <a:extLst>
                <a:ext uri="{FF2B5EF4-FFF2-40B4-BE49-F238E27FC236}">
                  <a16:creationId xmlns:a16="http://schemas.microsoft.com/office/drawing/2014/main" id="{98D77C70-7922-49EE-BF20-FECC332062BD}"/>
                </a:ext>
              </a:extLst>
            </p:cNvPr>
            <p:cNvSpPr/>
            <p:nvPr/>
          </p:nvSpPr>
          <p:spPr>
            <a:xfrm>
              <a:off x="10185262" y="2608641"/>
              <a:ext cx="871734" cy="367340"/>
            </a:xfrm>
            <a:prstGeom prst="roundRect">
              <a:avLst>
                <a:gd name="adj" fmla="val 12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6C65576C-52BC-4148-97BD-F25217BC310C}"/>
                </a:ext>
              </a:extLst>
            </p:cNvPr>
            <p:cNvSpPr txBox="1"/>
            <p:nvPr/>
          </p:nvSpPr>
          <p:spPr>
            <a:xfrm>
              <a:off x="10611185" y="2013617"/>
              <a:ext cx="965201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0F172A"/>
                  </a:solidFill>
                  <a:latin typeface="Plus Jakarta Sans"/>
                </a:rPr>
                <a:t>BTS </a:t>
              </a:r>
              <a:r>
                <a:rPr lang="en-US" sz="1350" b="1" i="0" u="none" dirty="0">
                  <a:solidFill>
                    <a:srgbClr val="0F172A"/>
                  </a:solidFill>
                  <a:latin typeface="Plus Jakarta Sans"/>
                </a:rPr>
                <a:t>USO (Up)</a:t>
              </a:r>
              <a:endParaRPr sz="135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FDD868F4-D77B-4DAA-A7E6-220AAD8860B1}"/>
                </a:ext>
              </a:extLst>
            </p:cNvPr>
            <p:cNvSpPr txBox="1"/>
            <p:nvPr/>
          </p:nvSpPr>
          <p:spPr>
            <a:xfrm>
              <a:off x="10289559" y="2659736"/>
              <a:ext cx="492122" cy="923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1" i="0" u="none" dirty="0" err="1">
                  <a:solidFill>
                    <a:srgbClr val="64748B"/>
                  </a:solidFill>
                  <a:latin typeface="Plus Jakarta Sans"/>
                </a:rPr>
                <a:t>Transmisi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 VSAT</a:t>
              </a:r>
            </a:p>
          </p:txBody>
        </p:sp>
        <p:pic>
          <p:nvPicPr>
            <p:cNvPr id="222" name="Picture 221">
              <a:extLst>
                <a:ext uri="{FF2B5EF4-FFF2-40B4-BE49-F238E27FC236}">
                  <a16:creationId xmlns:a16="http://schemas.microsoft.com/office/drawing/2014/main" id="{A2064857-C12C-41C4-BAE1-1F764339D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08083" y="2617969"/>
              <a:ext cx="256482" cy="370315"/>
            </a:xfrm>
            <a:prstGeom prst="rect">
              <a:avLst/>
            </a:prstGeom>
          </p:spPr>
        </p:pic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5D5D2DFD-C5A7-423F-9832-3AE6CBAB2724}"/>
                </a:ext>
              </a:extLst>
            </p:cNvPr>
            <p:cNvSpPr txBox="1"/>
            <p:nvPr/>
          </p:nvSpPr>
          <p:spPr>
            <a:xfrm>
              <a:off x="10212782" y="2758409"/>
              <a:ext cx="6294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{{</a:t>
              </a:r>
              <a:r>
                <a:rPr lang="en-US" sz="900" b="1" dirty="0" err="1"/>
                <a:t>uso_up_vsat</a:t>
              </a:r>
              <a:r>
                <a:rPr lang="en-US" sz="900" b="1" dirty="0"/>
                <a:t>}}</a:t>
              </a:r>
            </a:p>
          </p:txBody>
        </p:sp>
        <p:sp>
          <p:nvSpPr>
            <p:cNvPr id="224" name="Rounded Rectangle 27">
              <a:extLst>
                <a:ext uri="{FF2B5EF4-FFF2-40B4-BE49-F238E27FC236}">
                  <a16:creationId xmlns:a16="http://schemas.microsoft.com/office/drawing/2014/main" id="{AACB4B56-1F39-45EA-B20D-64370627D3BA}"/>
                </a:ext>
              </a:extLst>
            </p:cNvPr>
            <p:cNvSpPr/>
            <p:nvPr/>
          </p:nvSpPr>
          <p:spPr>
            <a:xfrm>
              <a:off x="11098756" y="2620944"/>
              <a:ext cx="871734" cy="367340"/>
            </a:xfrm>
            <a:prstGeom prst="roundRect">
              <a:avLst>
                <a:gd name="adj" fmla="val 12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BE38AB32-0158-4702-8230-03174A68F92D}"/>
                </a:ext>
              </a:extLst>
            </p:cNvPr>
            <p:cNvSpPr txBox="1"/>
            <p:nvPr/>
          </p:nvSpPr>
          <p:spPr>
            <a:xfrm>
              <a:off x="11203053" y="2672039"/>
              <a:ext cx="463268" cy="923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1" i="0" u="none" dirty="0" err="1">
                  <a:solidFill>
                    <a:srgbClr val="64748B"/>
                  </a:solidFill>
                  <a:latin typeface="Plus Jakarta Sans"/>
                </a:rPr>
                <a:t>Transmisi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 </a:t>
              </a:r>
              <a:r>
                <a:rPr lang="en-US" sz="600" b="1" i="0" u="none" dirty="0">
                  <a:solidFill>
                    <a:srgbClr val="64748B"/>
                  </a:solidFill>
                  <a:latin typeface="Plus Jakarta Sans"/>
                </a:rPr>
                <a:t>MW</a:t>
              </a:r>
              <a:endParaRPr sz="600" b="1" i="0" u="none" dirty="0">
                <a:solidFill>
                  <a:srgbClr val="64748B"/>
                </a:solidFill>
                <a:latin typeface="Plus Jakarta Sans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85676180-912D-43CC-8790-671D1F9761CA}"/>
                </a:ext>
              </a:extLst>
            </p:cNvPr>
            <p:cNvSpPr txBox="1"/>
            <p:nvPr/>
          </p:nvSpPr>
          <p:spPr>
            <a:xfrm>
              <a:off x="11126275" y="2770712"/>
              <a:ext cx="633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{{</a:t>
              </a:r>
              <a:r>
                <a:rPr lang="en-US" sz="900" b="1" dirty="0" err="1"/>
                <a:t>uso_up_mw</a:t>
              </a:r>
              <a:r>
                <a:rPr lang="en-US" sz="900" b="1" dirty="0"/>
                <a:t>}}</a:t>
              </a:r>
            </a:p>
          </p:txBody>
        </p:sp>
        <p:pic>
          <p:nvPicPr>
            <p:cNvPr id="227" name="Picture 226">
              <a:extLst>
                <a:ext uri="{FF2B5EF4-FFF2-40B4-BE49-F238E27FC236}">
                  <a16:creationId xmlns:a16="http://schemas.microsoft.com/office/drawing/2014/main" id="{BA84224B-38EC-4D03-A49B-531793CFB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731802" y="2623476"/>
              <a:ext cx="256482" cy="364944"/>
            </a:xfrm>
            <a:prstGeom prst="rect">
              <a:avLst/>
            </a:prstGeom>
          </p:spPr>
        </p:pic>
        <p:sp>
          <p:nvSpPr>
            <p:cNvPr id="228" name="Rounded Rectangle 29">
              <a:extLst>
                <a:ext uri="{FF2B5EF4-FFF2-40B4-BE49-F238E27FC236}">
                  <a16:creationId xmlns:a16="http://schemas.microsoft.com/office/drawing/2014/main" id="{004F470A-0F9B-4F99-BE85-05ED7E917C5D}"/>
                </a:ext>
              </a:extLst>
            </p:cNvPr>
            <p:cNvSpPr/>
            <p:nvPr/>
          </p:nvSpPr>
          <p:spPr>
            <a:xfrm>
              <a:off x="10521766" y="2255544"/>
              <a:ext cx="1098877" cy="306140"/>
            </a:xfrm>
            <a:prstGeom prst="roundRect">
              <a:avLst>
                <a:gd name="adj" fmla="val 25000"/>
              </a:avLst>
            </a:prstGeom>
            <a:solidFill>
              <a:srgbClr val="F0FD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15803D"/>
                  </a:solidFill>
                  <a:latin typeface="Plus Jakarta Sans"/>
                </a:rPr>
                <a:t>{{</a:t>
              </a:r>
              <a:r>
                <a:rPr lang="en-US" sz="2000" b="1" dirty="0" err="1">
                  <a:solidFill>
                    <a:srgbClr val="15803D"/>
                  </a:solidFill>
                  <a:latin typeface="Plus Jakarta Sans"/>
                </a:rPr>
                <a:t>uso_up</a:t>
              </a:r>
              <a:r>
                <a:rPr lang="en-US" sz="2000" b="1" dirty="0">
                  <a:solidFill>
                    <a:srgbClr val="15803D"/>
                  </a:solidFill>
                  <a:latin typeface="Plus Jakarta Sans"/>
                </a:rPr>
                <a:t>}} Site</a:t>
              </a:r>
            </a:p>
            <a:p>
              <a:pPr algn="ctr"/>
              <a:endParaRPr sz="1600" dirty="0"/>
            </a:p>
          </p:txBody>
        </p:sp>
        <p:sp>
          <p:nvSpPr>
            <p:cNvPr id="230" name="Arrow: Right 229">
              <a:extLst>
                <a:ext uri="{FF2B5EF4-FFF2-40B4-BE49-F238E27FC236}">
                  <a16:creationId xmlns:a16="http://schemas.microsoft.com/office/drawing/2014/main" id="{433D2A76-BA3B-44AB-8DEE-F4E00EF24F98}"/>
                </a:ext>
              </a:extLst>
            </p:cNvPr>
            <p:cNvSpPr/>
            <p:nvPr/>
          </p:nvSpPr>
          <p:spPr>
            <a:xfrm>
              <a:off x="7212344" y="2197416"/>
              <a:ext cx="742737" cy="475979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Arrow: Right 230">
              <a:extLst>
                <a:ext uri="{FF2B5EF4-FFF2-40B4-BE49-F238E27FC236}">
                  <a16:creationId xmlns:a16="http://schemas.microsoft.com/office/drawing/2014/main" id="{DCE4D1F7-87B7-4F0B-8216-17F152DCC7F0}"/>
                </a:ext>
              </a:extLst>
            </p:cNvPr>
            <p:cNvSpPr/>
            <p:nvPr/>
          </p:nvSpPr>
          <p:spPr>
            <a:xfrm>
              <a:off x="7217046" y="3401616"/>
              <a:ext cx="742737" cy="475979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ounded Rectangle 8">
              <a:extLst>
                <a:ext uri="{FF2B5EF4-FFF2-40B4-BE49-F238E27FC236}">
                  <a16:creationId xmlns:a16="http://schemas.microsoft.com/office/drawing/2014/main" id="{BB002459-B560-4E01-B03E-99DE919CF57D}"/>
                </a:ext>
              </a:extLst>
            </p:cNvPr>
            <p:cNvSpPr/>
            <p:nvPr/>
          </p:nvSpPr>
          <p:spPr>
            <a:xfrm>
              <a:off x="8034842" y="3165703"/>
              <a:ext cx="1958797" cy="1151904"/>
            </a:xfrm>
            <a:prstGeom prst="roundRect">
              <a:avLst>
                <a:gd name="adj" fmla="val 779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Rounded Rectangle 26">
              <a:extLst>
                <a:ext uri="{FF2B5EF4-FFF2-40B4-BE49-F238E27FC236}">
                  <a16:creationId xmlns:a16="http://schemas.microsoft.com/office/drawing/2014/main" id="{C789BE8D-5BA3-4C76-B54A-D260AE3B7A23}"/>
                </a:ext>
              </a:extLst>
            </p:cNvPr>
            <p:cNvSpPr/>
            <p:nvPr/>
          </p:nvSpPr>
          <p:spPr>
            <a:xfrm>
              <a:off x="8459379" y="3427054"/>
              <a:ext cx="1060450" cy="309668"/>
            </a:xfrm>
            <a:prstGeom prst="roundRect">
              <a:avLst>
                <a:gd name="adj" fmla="val 25000"/>
              </a:avLst>
            </a:prstGeom>
            <a:solidFill>
              <a:srgbClr val="FF0000">
                <a:alpha val="20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4" name="Rounded Rectangle 27">
              <a:extLst>
                <a:ext uri="{FF2B5EF4-FFF2-40B4-BE49-F238E27FC236}">
                  <a16:creationId xmlns:a16="http://schemas.microsoft.com/office/drawing/2014/main" id="{56DD4F59-9A76-48F6-AB46-9932E98E6E8B}"/>
                </a:ext>
              </a:extLst>
            </p:cNvPr>
            <p:cNvSpPr/>
            <p:nvPr/>
          </p:nvSpPr>
          <p:spPr>
            <a:xfrm>
              <a:off x="8129154" y="3769438"/>
              <a:ext cx="871734" cy="367340"/>
            </a:xfrm>
            <a:prstGeom prst="roundRect">
              <a:avLst>
                <a:gd name="adj" fmla="val 12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CD0E95D2-1CAA-4A27-8335-AAA255FA6BAB}"/>
                </a:ext>
              </a:extLst>
            </p:cNvPr>
            <p:cNvSpPr txBox="1"/>
            <p:nvPr/>
          </p:nvSpPr>
          <p:spPr>
            <a:xfrm>
              <a:off x="8496396" y="3181556"/>
              <a:ext cx="1067472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0F172A"/>
                  </a:solidFill>
                  <a:latin typeface="Plus Jakarta Sans"/>
                </a:rPr>
                <a:t>BTS 4G</a:t>
              </a:r>
              <a:r>
                <a:rPr lang="en-US" sz="1350" b="1" i="0" u="none" dirty="0">
                  <a:solidFill>
                    <a:srgbClr val="0F172A"/>
                  </a:solidFill>
                  <a:latin typeface="Plus Jakarta Sans"/>
                </a:rPr>
                <a:t> (Down)</a:t>
              </a:r>
              <a:endParaRPr sz="135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6DA3737F-800E-40B8-85AF-2C3B93E5C1B7}"/>
                </a:ext>
              </a:extLst>
            </p:cNvPr>
            <p:cNvSpPr txBox="1"/>
            <p:nvPr/>
          </p:nvSpPr>
          <p:spPr>
            <a:xfrm>
              <a:off x="8233451" y="3820533"/>
              <a:ext cx="492122" cy="923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1" i="0" u="none" dirty="0" err="1">
                  <a:solidFill>
                    <a:srgbClr val="64748B"/>
                  </a:solidFill>
                  <a:latin typeface="Plus Jakarta Sans"/>
                </a:rPr>
                <a:t>Transmisi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 VSAT</a:t>
              </a:r>
            </a:p>
          </p:txBody>
        </p:sp>
        <p:pic>
          <p:nvPicPr>
            <p:cNvPr id="237" name="Picture 236">
              <a:extLst>
                <a:ext uri="{FF2B5EF4-FFF2-40B4-BE49-F238E27FC236}">
                  <a16:creationId xmlns:a16="http://schemas.microsoft.com/office/drawing/2014/main" id="{B0149804-B782-4C47-B2F7-3FDA83C72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751975" y="3778766"/>
              <a:ext cx="256482" cy="370315"/>
            </a:xfrm>
            <a:prstGeom prst="rect">
              <a:avLst/>
            </a:prstGeom>
          </p:spPr>
        </p:pic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93D43572-4CF7-405D-B2A5-91E6CF90A252}"/>
                </a:ext>
              </a:extLst>
            </p:cNvPr>
            <p:cNvSpPr txBox="1"/>
            <p:nvPr/>
          </p:nvSpPr>
          <p:spPr>
            <a:xfrm>
              <a:off x="8156673" y="3919206"/>
              <a:ext cx="56890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{{4g_down_vsat}}</a:t>
              </a:r>
            </a:p>
          </p:txBody>
        </p:sp>
        <p:sp>
          <p:nvSpPr>
            <p:cNvPr id="239" name="Rounded Rectangle 27">
              <a:extLst>
                <a:ext uri="{FF2B5EF4-FFF2-40B4-BE49-F238E27FC236}">
                  <a16:creationId xmlns:a16="http://schemas.microsoft.com/office/drawing/2014/main" id="{0C4D015E-6BAD-40C3-99F7-4F3A0A6097B1}"/>
                </a:ext>
              </a:extLst>
            </p:cNvPr>
            <p:cNvSpPr/>
            <p:nvPr/>
          </p:nvSpPr>
          <p:spPr>
            <a:xfrm>
              <a:off x="9042648" y="3781741"/>
              <a:ext cx="871734" cy="367340"/>
            </a:xfrm>
            <a:prstGeom prst="roundRect">
              <a:avLst>
                <a:gd name="adj" fmla="val 12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473B8FB3-BD1A-4F1B-8AB2-F0C42AD44AC8}"/>
                </a:ext>
              </a:extLst>
            </p:cNvPr>
            <p:cNvSpPr txBox="1"/>
            <p:nvPr/>
          </p:nvSpPr>
          <p:spPr>
            <a:xfrm>
              <a:off x="9146945" y="3832836"/>
              <a:ext cx="463268" cy="923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1" i="0" u="none" dirty="0" err="1">
                  <a:solidFill>
                    <a:srgbClr val="64748B"/>
                  </a:solidFill>
                  <a:latin typeface="Plus Jakarta Sans"/>
                </a:rPr>
                <a:t>Transmisi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 </a:t>
              </a:r>
              <a:r>
                <a:rPr lang="en-US" sz="600" b="1" i="0" u="none" dirty="0">
                  <a:solidFill>
                    <a:srgbClr val="64748B"/>
                  </a:solidFill>
                  <a:latin typeface="Plus Jakarta Sans"/>
                </a:rPr>
                <a:t>MW</a:t>
              </a:r>
              <a:endParaRPr sz="600" b="1" i="0" u="none" dirty="0">
                <a:solidFill>
                  <a:srgbClr val="64748B"/>
                </a:solidFill>
                <a:latin typeface="Plus Jakarta Sans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443BBB95-8A77-472E-AC2A-A0A297DDE6B7}"/>
                </a:ext>
              </a:extLst>
            </p:cNvPr>
            <p:cNvSpPr txBox="1"/>
            <p:nvPr/>
          </p:nvSpPr>
          <p:spPr>
            <a:xfrm>
              <a:off x="9070167" y="3931509"/>
              <a:ext cx="55727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{{4g_down_mw}}</a:t>
              </a:r>
            </a:p>
          </p:txBody>
        </p:sp>
        <p:pic>
          <p:nvPicPr>
            <p:cNvPr id="242" name="Picture 241">
              <a:extLst>
                <a:ext uri="{FF2B5EF4-FFF2-40B4-BE49-F238E27FC236}">
                  <a16:creationId xmlns:a16="http://schemas.microsoft.com/office/drawing/2014/main" id="{53AB5F15-73A9-406C-9A7D-CACC334BA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675694" y="3784273"/>
              <a:ext cx="256482" cy="364944"/>
            </a:xfrm>
            <a:prstGeom prst="rect">
              <a:avLst/>
            </a:prstGeom>
          </p:spPr>
        </p:pic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5F68545D-1671-4C80-8699-5CA51F0326CE}"/>
                </a:ext>
              </a:extLst>
            </p:cNvPr>
            <p:cNvSpPr txBox="1"/>
            <p:nvPr/>
          </p:nvSpPr>
          <p:spPr>
            <a:xfrm>
              <a:off x="8374158" y="3380075"/>
              <a:ext cx="1180145" cy="7386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0369A1"/>
                  </a:solidFill>
                  <a:latin typeface="Plus Jakarta Sans"/>
                </a:rPr>
                <a:t>{{4g_down}} Site</a:t>
              </a:r>
            </a:p>
          </p:txBody>
        </p:sp>
        <p:sp>
          <p:nvSpPr>
            <p:cNvPr id="244" name="Rounded Rectangle 8">
              <a:extLst>
                <a:ext uri="{FF2B5EF4-FFF2-40B4-BE49-F238E27FC236}">
                  <a16:creationId xmlns:a16="http://schemas.microsoft.com/office/drawing/2014/main" id="{FC92E608-03FF-49C9-9CEF-59180842736D}"/>
                </a:ext>
              </a:extLst>
            </p:cNvPr>
            <p:cNvSpPr/>
            <p:nvPr/>
          </p:nvSpPr>
          <p:spPr>
            <a:xfrm>
              <a:off x="10090950" y="3171063"/>
              <a:ext cx="1958797" cy="1151904"/>
            </a:xfrm>
            <a:prstGeom prst="roundRect">
              <a:avLst>
                <a:gd name="adj" fmla="val 779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5" name="Rounded Rectangle 27">
              <a:extLst>
                <a:ext uri="{FF2B5EF4-FFF2-40B4-BE49-F238E27FC236}">
                  <a16:creationId xmlns:a16="http://schemas.microsoft.com/office/drawing/2014/main" id="{795C776E-938B-474D-8BB6-417626F502F0}"/>
                </a:ext>
              </a:extLst>
            </p:cNvPr>
            <p:cNvSpPr/>
            <p:nvPr/>
          </p:nvSpPr>
          <p:spPr>
            <a:xfrm>
              <a:off x="10185262" y="3774799"/>
              <a:ext cx="871734" cy="367340"/>
            </a:xfrm>
            <a:prstGeom prst="roundRect">
              <a:avLst>
                <a:gd name="adj" fmla="val 12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F3703EC2-C341-42D5-B7A5-42B11CA89ECD}"/>
                </a:ext>
              </a:extLst>
            </p:cNvPr>
            <p:cNvSpPr txBox="1"/>
            <p:nvPr/>
          </p:nvSpPr>
          <p:spPr>
            <a:xfrm>
              <a:off x="10433183" y="3184697"/>
              <a:ext cx="1181285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0F172A"/>
                  </a:solidFill>
                  <a:latin typeface="Plus Jakarta Sans"/>
                </a:rPr>
                <a:t>BTS </a:t>
              </a:r>
              <a:r>
                <a:rPr lang="en-US" sz="1350" b="1" i="0" u="none">
                  <a:solidFill>
                    <a:srgbClr val="0F172A"/>
                  </a:solidFill>
                  <a:latin typeface="Plus Jakarta Sans"/>
                </a:rPr>
                <a:t>USO (</a:t>
              </a:r>
              <a:r>
                <a:rPr lang="en-US" sz="1350" b="1">
                  <a:solidFill>
                    <a:srgbClr val="0F172A"/>
                  </a:solidFill>
                  <a:latin typeface="Plus Jakarta Sans"/>
                </a:rPr>
                <a:t>Down</a:t>
              </a:r>
              <a:r>
                <a:rPr lang="en-US" sz="1350" b="1" i="0" u="none">
                  <a:solidFill>
                    <a:srgbClr val="0F172A"/>
                  </a:solidFill>
                  <a:latin typeface="Plus Jakarta Sans"/>
                </a:rPr>
                <a:t>)</a:t>
              </a:r>
              <a:endParaRPr sz="135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05523BDE-5B49-4209-AEE8-CD6BDAA54823}"/>
                </a:ext>
              </a:extLst>
            </p:cNvPr>
            <p:cNvSpPr txBox="1"/>
            <p:nvPr/>
          </p:nvSpPr>
          <p:spPr>
            <a:xfrm>
              <a:off x="10289559" y="3825894"/>
              <a:ext cx="492122" cy="923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1" i="0" u="none" dirty="0" err="1">
                  <a:solidFill>
                    <a:srgbClr val="64748B"/>
                  </a:solidFill>
                  <a:latin typeface="Plus Jakarta Sans"/>
                </a:rPr>
                <a:t>Transmisi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 VSAT</a:t>
              </a:r>
            </a:p>
          </p:txBody>
        </p:sp>
        <p:pic>
          <p:nvPicPr>
            <p:cNvPr id="248" name="Picture 247">
              <a:extLst>
                <a:ext uri="{FF2B5EF4-FFF2-40B4-BE49-F238E27FC236}">
                  <a16:creationId xmlns:a16="http://schemas.microsoft.com/office/drawing/2014/main" id="{A7E1074B-85A6-4904-A9A7-5B5C6E173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808083" y="3784127"/>
              <a:ext cx="256482" cy="370315"/>
            </a:xfrm>
            <a:prstGeom prst="rect">
              <a:avLst/>
            </a:prstGeom>
          </p:spPr>
        </p:pic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6036E90F-C218-490D-BCA1-15C3FE1FD263}"/>
                </a:ext>
              </a:extLst>
            </p:cNvPr>
            <p:cNvSpPr txBox="1"/>
            <p:nvPr/>
          </p:nvSpPr>
          <p:spPr>
            <a:xfrm>
              <a:off x="10212780" y="3924567"/>
              <a:ext cx="5235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{{</a:t>
              </a:r>
              <a:r>
                <a:rPr lang="en-US" sz="900" b="1" dirty="0" err="1"/>
                <a:t>uso_unmon_vsat</a:t>
              </a:r>
              <a:r>
                <a:rPr lang="en-US" sz="900" b="1" dirty="0"/>
                <a:t>}}</a:t>
              </a:r>
            </a:p>
          </p:txBody>
        </p:sp>
        <p:sp>
          <p:nvSpPr>
            <p:cNvPr id="250" name="Rounded Rectangle 27">
              <a:extLst>
                <a:ext uri="{FF2B5EF4-FFF2-40B4-BE49-F238E27FC236}">
                  <a16:creationId xmlns:a16="http://schemas.microsoft.com/office/drawing/2014/main" id="{89D8924C-C973-4937-9F8C-5E45D3AAEAAF}"/>
                </a:ext>
              </a:extLst>
            </p:cNvPr>
            <p:cNvSpPr/>
            <p:nvPr/>
          </p:nvSpPr>
          <p:spPr>
            <a:xfrm>
              <a:off x="11098756" y="3787102"/>
              <a:ext cx="871734" cy="367340"/>
            </a:xfrm>
            <a:prstGeom prst="roundRect">
              <a:avLst>
                <a:gd name="adj" fmla="val 12121"/>
              </a:avLst>
            </a:prstGeom>
            <a:solidFill>
              <a:srgbClr val="F8FA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F5552899-C186-44B9-BB94-3DE8AE83E607}"/>
                </a:ext>
              </a:extLst>
            </p:cNvPr>
            <p:cNvSpPr txBox="1"/>
            <p:nvPr/>
          </p:nvSpPr>
          <p:spPr>
            <a:xfrm>
              <a:off x="11203053" y="3838197"/>
              <a:ext cx="463268" cy="9233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1" i="0" u="none" dirty="0" err="1">
                  <a:solidFill>
                    <a:srgbClr val="64748B"/>
                  </a:solidFill>
                  <a:latin typeface="Plus Jakarta Sans"/>
                </a:rPr>
                <a:t>Transmisi</a:t>
              </a:r>
              <a:r>
                <a:rPr sz="600" b="1" i="0" u="none" dirty="0">
                  <a:solidFill>
                    <a:srgbClr val="64748B"/>
                  </a:solidFill>
                  <a:latin typeface="Plus Jakarta Sans"/>
                </a:rPr>
                <a:t> </a:t>
              </a:r>
              <a:r>
                <a:rPr lang="en-US" sz="600" b="1" dirty="0">
                  <a:solidFill>
                    <a:srgbClr val="64748B"/>
                  </a:solidFill>
                  <a:latin typeface="Plus Jakarta Sans"/>
                </a:rPr>
                <a:t>MW</a:t>
              </a:r>
              <a:endParaRPr sz="600" b="1" i="0" u="none" dirty="0">
                <a:solidFill>
                  <a:srgbClr val="64748B"/>
                </a:solidFill>
                <a:latin typeface="Plus Jakarta Sans"/>
              </a:endParaRP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5AC24A11-5612-4DEF-AD6C-B93910B1EFB4}"/>
                </a:ext>
              </a:extLst>
            </p:cNvPr>
            <p:cNvSpPr txBox="1"/>
            <p:nvPr/>
          </p:nvSpPr>
          <p:spPr>
            <a:xfrm>
              <a:off x="11126275" y="3936870"/>
              <a:ext cx="52627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b="1" dirty="0"/>
                <a:t>{{</a:t>
              </a:r>
              <a:r>
                <a:rPr lang="en-US" sz="900" b="1" dirty="0" err="1"/>
                <a:t>uso_unmon_mw</a:t>
              </a:r>
              <a:r>
                <a:rPr lang="en-US" sz="900" b="1" dirty="0"/>
                <a:t>}}</a:t>
              </a:r>
            </a:p>
          </p:txBody>
        </p:sp>
        <p:pic>
          <p:nvPicPr>
            <p:cNvPr id="253" name="Picture 252">
              <a:extLst>
                <a:ext uri="{FF2B5EF4-FFF2-40B4-BE49-F238E27FC236}">
                  <a16:creationId xmlns:a16="http://schemas.microsoft.com/office/drawing/2014/main" id="{E4078818-D586-48AA-9E3F-CB0981359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731802" y="3789634"/>
              <a:ext cx="256482" cy="364944"/>
            </a:xfrm>
            <a:prstGeom prst="rect">
              <a:avLst/>
            </a:prstGeom>
          </p:spPr>
        </p:pic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AE766B1C-A2FB-4388-80F1-7994E6FCBB94}"/>
                </a:ext>
              </a:extLst>
            </p:cNvPr>
            <p:cNvSpPr txBox="1"/>
            <p:nvPr/>
          </p:nvSpPr>
          <p:spPr>
            <a:xfrm>
              <a:off x="9151845" y="4404678"/>
              <a:ext cx="210301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" i="1" u="sng" dirty="0"/>
                <a:t>*</a:t>
              </a:r>
              <a:r>
                <a:rPr lang="en-US" sz="600" i="1" u="sng" dirty="0" err="1"/>
                <a:t>tidak</a:t>
              </a:r>
              <a:r>
                <a:rPr lang="en-US" sz="600" i="1" u="sng" dirty="0"/>
                <a:t>  </a:t>
              </a:r>
              <a:r>
                <a:rPr lang="en-US" sz="600" i="1" u="sng" dirty="0" err="1"/>
                <a:t>memperhitungkan</a:t>
              </a:r>
              <a:r>
                <a:rPr lang="en-US" sz="600" i="1" u="sng" dirty="0"/>
                <a:t> raw data USO </a:t>
              </a:r>
              <a:r>
                <a:rPr lang="en-US" sz="600" i="1" u="sng" dirty="0" err="1"/>
                <a:t>dari</a:t>
              </a:r>
              <a:r>
                <a:rPr lang="en-US" sz="600" i="1" u="sng" dirty="0"/>
                <a:t> </a:t>
              </a:r>
              <a:r>
                <a:rPr lang="en-US" sz="600" i="1" u="sng" dirty="0" err="1"/>
                <a:t>Semeru</a:t>
              </a:r>
              <a:endParaRPr lang="en-US" sz="600" i="1" u="sng" dirty="0"/>
            </a:p>
          </p:txBody>
        </p:sp>
      </p:grpSp>
      <p:sp>
        <p:nvSpPr>
          <p:cNvPr id="122" name="Rounded Rectangle 26">
            <a:extLst>
              <a:ext uri="{FF2B5EF4-FFF2-40B4-BE49-F238E27FC236}">
                <a16:creationId xmlns:a16="http://schemas.microsoft.com/office/drawing/2014/main" id="{18910720-40AE-4126-ACDC-5C679820C2ED}"/>
              </a:ext>
            </a:extLst>
          </p:cNvPr>
          <p:cNvSpPr/>
          <p:nvPr/>
        </p:nvSpPr>
        <p:spPr>
          <a:xfrm>
            <a:off x="10583838" y="3351312"/>
            <a:ext cx="1060450" cy="309668"/>
          </a:xfrm>
          <a:prstGeom prst="roundRect">
            <a:avLst>
              <a:gd name="adj" fmla="val 25000"/>
            </a:avLst>
          </a:prstGeom>
          <a:solidFill>
            <a:srgbClr val="FF000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15803D"/>
                </a:solidFill>
                <a:latin typeface="Plus Jakarta Sans"/>
              </a:rPr>
              <a:t>{{</a:t>
            </a:r>
            <a:r>
              <a:rPr lang="en-US" sz="2400" b="1" dirty="0" err="1">
                <a:solidFill>
                  <a:srgbClr val="15803D"/>
                </a:solidFill>
                <a:latin typeface="Plus Jakarta Sans"/>
              </a:rPr>
              <a:t>uso_down</a:t>
            </a:r>
            <a:r>
              <a:rPr lang="en-US" sz="2400" b="1" dirty="0">
                <a:solidFill>
                  <a:srgbClr val="15803D"/>
                </a:solidFill>
                <a:latin typeface="Plus Jakarta Sans"/>
              </a:rPr>
              <a:t>}} Site</a:t>
            </a:r>
          </a:p>
        </p:txBody>
      </p:sp>
    </p:spTree>
    <p:extLst>
      <p:ext uri="{BB962C8B-B14F-4D97-AF65-F5344CB8AC3E}">
        <p14:creationId xmlns:p14="http://schemas.microsoft.com/office/powerpoint/2010/main" val="11190296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B06D9-32D5-878A-6CD9-49854D63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EBFAA41-9A01-8649-D281-E3CB7924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662" y="85794"/>
            <a:ext cx="10556293" cy="384721"/>
          </a:xfrm>
        </p:spPr>
        <p:txBody>
          <a:bodyPr/>
          <a:lstStyle/>
          <a:p>
            <a:pPr algn="l"/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Tren Productivity Layanan BTS Bakti</a:t>
            </a:r>
            <a:endParaRPr lang="en-ID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91C1E5A-259D-4229-9D29-321D239C38EB}"/>
              </a:ext>
            </a:extLst>
          </p:cNvPr>
          <p:cNvGrpSpPr/>
          <p:nvPr/>
        </p:nvGrpSpPr>
        <p:grpSpPr>
          <a:xfrm>
            <a:off x="6150345" y="3764390"/>
            <a:ext cx="5944472" cy="2756443"/>
            <a:chOff x="7940641" y="6474982"/>
            <a:chExt cx="5944472" cy="2756443"/>
          </a:xfrm>
        </p:grpSpPr>
        <p:sp>
          <p:nvSpPr>
            <p:cNvPr id="8" name="Rounded Rectangle 2">
              <a:extLst>
                <a:ext uri="{FF2B5EF4-FFF2-40B4-BE49-F238E27FC236}">
                  <a16:creationId xmlns:a16="http://schemas.microsoft.com/office/drawing/2014/main" id="{303ED831-9AE0-4541-A495-423D08BEBDA3}"/>
                </a:ext>
              </a:extLst>
            </p:cNvPr>
            <p:cNvSpPr/>
            <p:nvPr/>
          </p:nvSpPr>
          <p:spPr>
            <a:xfrm>
              <a:off x="7940641" y="6474982"/>
              <a:ext cx="5944472" cy="2655632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1770D5-E2A4-4E96-B938-0CB2D3464253}"/>
                </a:ext>
              </a:extLst>
            </p:cNvPr>
            <p:cNvSpPr txBox="1"/>
            <p:nvPr/>
          </p:nvSpPr>
          <p:spPr>
            <a:xfrm>
              <a:off x="8191401" y="6603194"/>
              <a:ext cx="5627492" cy="207749"/>
            </a:xfrm>
            <a:prstGeom prst="rect">
              <a:avLst/>
            </a:prstGeom>
            <a:noFill/>
          </p:spPr>
          <p:txBody>
            <a:bodyPr wrap="square" lIns="247650" tIns="0" rIns="0" bIns="0" anchor="t">
              <a:spAutoFit/>
            </a:bodyPr>
            <a:lstStyle/>
            <a:p>
              <a:pPr algn="l"/>
              <a:r>
                <a:rPr sz="1350" b="1" i="0" u="none" dirty="0">
                  <a:solidFill>
                    <a:srgbClr val="0F172A"/>
                  </a:solidFill>
                  <a:latin typeface="Plus Jakarta Sans"/>
                </a:rPr>
                <a:t>Kesimpulan &amp; </a:t>
              </a:r>
              <a:r>
                <a:rPr sz="1350" b="1" i="0" u="none" dirty="0" err="1">
                  <a:solidFill>
                    <a:srgbClr val="0F172A"/>
                  </a:solidFill>
                  <a:latin typeface="Plus Jakarta Sans"/>
                </a:rPr>
                <a:t>Analisis</a:t>
              </a:r>
              <a:r>
                <a:rPr sz="1350" b="1" i="0" u="none" dirty="0">
                  <a:solidFill>
                    <a:srgbClr val="0F172A"/>
                  </a:solidFill>
                  <a:latin typeface="Plus Jakarta Sans"/>
                </a:rPr>
                <a:t> </a:t>
              </a:r>
              <a:r>
                <a:rPr sz="1350" b="1" i="0" u="none" dirty="0" err="1">
                  <a:solidFill>
                    <a:srgbClr val="0F172A"/>
                  </a:solidFill>
                  <a:latin typeface="Plus Jakarta Sans"/>
                </a:rPr>
                <a:t>Tren</a:t>
              </a:r>
              <a:r>
                <a:rPr sz="1350" b="1" i="0" u="none" dirty="0">
                  <a:solidFill>
                    <a:srgbClr val="0F172A"/>
                  </a:solidFill>
                  <a:latin typeface="Plus Jakarta Sans"/>
                </a:rPr>
                <a:t> </a:t>
              </a:r>
              <a:r>
                <a:rPr sz="1350" b="1" i="0" u="none" dirty="0" err="1">
                  <a:solidFill>
                    <a:srgbClr val="0F172A"/>
                  </a:solidFill>
                  <a:latin typeface="Plus Jakarta Sans"/>
                </a:rPr>
                <a:t>Layanan</a:t>
              </a:r>
              <a:endParaRPr sz="135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F5C7A8C-0673-4BD4-AC71-164B80287FF7}"/>
                </a:ext>
              </a:extLst>
            </p:cNvPr>
            <p:cNvSpPr txBox="1"/>
            <p:nvPr/>
          </p:nvSpPr>
          <p:spPr>
            <a:xfrm>
              <a:off x="8000331" y="6861545"/>
              <a:ext cx="5818561" cy="2369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just"/>
              <a:r>
                <a:rPr lang="en-US" sz="1100" dirty="0" err="1"/>
                <a:t>Berdasarkan</a:t>
              </a:r>
              <a:r>
                <a:rPr lang="en-US" sz="1100" dirty="0"/>
                <a:t> </a:t>
              </a:r>
              <a:r>
                <a:rPr lang="en-US" sz="1100" dirty="0" err="1"/>
                <a:t>hasil</a:t>
              </a:r>
              <a:r>
                <a:rPr lang="en-US" sz="1100" dirty="0"/>
                <a:t> </a:t>
              </a:r>
              <a:r>
                <a:rPr lang="en-US" sz="1100" dirty="0" err="1"/>
                <a:t>pantauan</a:t>
              </a:r>
              <a:r>
                <a:rPr lang="en-US" sz="1100" dirty="0"/>
                <a:t> </a:t>
              </a:r>
              <a:r>
                <a:rPr lang="en-US" sz="1100" dirty="0" err="1"/>
                <a:t>infrastruktur</a:t>
              </a:r>
              <a:r>
                <a:rPr lang="en-US" sz="1100" dirty="0"/>
                <a:t> </a:t>
              </a:r>
              <a:r>
                <a:rPr lang="en-US" sz="1100" dirty="0" err="1"/>
                <a:t>telekomunikasi</a:t>
              </a:r>
              <a:r>
                <a:rPr lang="en-US" sz="1100" dirty="0"/>
                <a:t> </a:t>
              </a:r>
              <a:r>
                <a:rPr lang="en-US" sz="1100" dirty="0" err="1"/>
                <a:t>terhadap</a:t>
              </a:r>
              <a:r>
                <a:rPr lang="en-US" sz="1100" dirty="0"/>
                <a:t> </a:t>
              </a:r>
              <a:r>
                <a:rPr lang="en-US" sz="1100" dirty="0" err="1"/>
                <a:t>kejadian</a:t>
              </a:r>
              <a:r>
                <a:rPr lang="en-US" sz="1100" dirty="0"/>
                <a:t> {{</a:t>
              </a:r>
              <a:r>
                <a:rPr lang="en-US" sz="1100" dirty="0" err="1"/>
                <a:t>jenis_kejadian</a:t>
              </a:r>
              <a:r>
                <a:rPr lang="en-US" sz="1100" dirty="0"/>
                <a:t>}}|{{</a:t>
              </a:r>
              <a:r>
                <a:rPr lang="en-US" sz="1100" dirty="0" err="1"/>
                <a:t>detail_kejadian</a:t>
              </a:r>
              <a:r>
                <a:rPr lang="en-US" sz="1100" dirty="0"/>
                <a:t>}} yang </a:t>
              </a:r>
              <a:r>
                <a:rPr lang="en-US" sz="1100" dirty="0" err="1"/>
                <a:t>terjadi</a:t>
              </a:r>
              <a:r>
                <a:rPr lang="en-US" sz="1100" dirty="0"/>
                <a:t> pada </a:t>
              </a:r>
              <a:r>
                <a:rPr lang="en-US" sz="1100" dirty="0">
                  <a:solidFill>
                    <a:schemeClr val="tx1"/>
                  </a:solidFill>
                </a:rPr>
                <a:t>{{</a:t>
              </a:r>
              <a:r>
                <a:rPr lang="en-US" sz="1100" dirty="0" err="1">
                  <a:solidFill>
                    <a:schemeClr val="tx1"/>
                  </a:solidFill>
                </a:rPr>
                <a:t>waktu_kejadian</a:t>
              </a:r>
              <a:r>
                <a:rPr lang="en-US" sz="1100" dirty="0">
                  <a:solidFill>
                    <a:schemeClr val="tx1"/>
                  </a:solidFill>
                </a:rPr>
                <a:t>}} </a:t>
              </a:r>
              <a:r>
                <a:rPr lang="en-US" sz="1100" dirty="0" err="1"/>
                <a:t>dengan</a:t>
              </a:r>
              <a:r>
                <a:rPr lang="en-US" sz="1100" dirty="0"/>
                <a:t> </a:t>
              </a:r>
              <a:r>
                <a:rPr lang="en-US" sz="1100" dirty="0" err="1"/>
                <a:t>titik</a:t>
              </a:r>
              <a:r>
                <a:rPr lang="en-US" sz="1100" dirty="0"/>
                <a:t> </a:t>
              </a:r>
              <a:r>
                <a:rPr lang="en-US" sz="1100" dirty="0" err="1"/>
                <a:t>fokus</a:t>
              </a:r>
              <a:r>
                <a:rPr lang="en-US" sz="1100" dirty="0"/>
                <a:t> {{</a:t>
              </a:r>
              <a:r>
                <a:rPr lang="en-US" sz="1100" dirty="0" err="1"/>
                <a:t>lokasi</a:t>
              </a:r>
              <a:r>
                <a:rPr lang="en-US" sz="1100" dirty="0"/>
                <a:t>}}, </a:t>
              </a:r>
              <a:r>
                <a:rPr lang="en-US" sz="1100" dirty="0" err="1"/>
                <a:t>dapat</a:t>
              </a:r>
              <a:r>
                <a:rPr lang="en-US" sz="1100" dirty="0"/>
                <a:t> </a:t>
              </a:r>
              <a:r>
                <a:rPr lang="en-US" sz="1100" dirty="0" err="1"/>
                <a:t>disimpulkan</a:t>
              </a:r>
              <a:r>
                <a:rPr lang="en-US" sz="1100" dirty="0"/>
                <a:t> </a:t>
              </a:r>
              <a:r>
                <a:rPr lang="en-US" sz="1100" dirty="0" err="1"/>
                <a:t>bahwa</a:t>
              </a:r>
              <a:r>
                <a:rPr lang="en-US" sz="1100" dirty="0"/>
                <a:t>:</a:t>
              </a:r>
            </a:p>
            <a:p>
              <a:pPr marL="228600" indent="-228600" algn="just">
                <a:buAutoNum type="arabicPeriod"/>
              </a:pPr>
              <a:r>
                <a:rPr lang="en-US" sz="1100" b="1" dirty="0" err="1"/>
                <a:t>Dampak</a:t>
              </a:r>
              <a:r>
                <a:rPr lang="en-US" sz="1100" b="1" dirty="0"/>
                <a:t> </a:t>
              </a:r>
              <a:r>
                <a:rPr lang="en-US" sz="1100" b="1" dirty="0" err="1"/>
                <a:t>Infrastruktur</a:t>
              </a:r>
              <a:r>
                <a:rPr lang="en-US" sz="1100" b="1" dirty="0"/>
                <a:t>:</a:t>
              </a:r>
              <a:r>
                <a:rPr lang="en-US" sz="1100" dirty="0"/>
                <a:t> </a:t>
              </a:r>
            </a:p>
            <a:p>
              <a:pPr algn="just"/>
              <a:r>
                <a:rPr lang="en-US" sz="1100" dirty="0" err="1"/>
                <a:t>Terdapat</a:t>
              </a:r>
              <a:r>
                <a:rPr lang="en-US" sz="1100" dirty="0"/>
                <a:t> {{</a:t>
              </a:r>
              <a:r>
                <a:rPr lang="en-US" sz="1100" dirty="0" err="1"/>
                <a:t>total_site</a:t>
              </a:r>
              <a:r>
                <a:rPr lang="en-US" sz="1100" dirty="0"/>
                <a:t>}} site BAKTI yang </a:t>
              </a:r>
              <a:r>
                <a:rPr lang="en-US" sz="1100" dirty="0" err="1"/>
                <a:t>masuk</a:t>
              </a:r>
              <a:r>
                <a:rPr lang="en-US" sz="1100" dirty="0"/>
                <a:t> </a:t>
              </a:r>
              <a:r>
                <a:rPr lang="en-US" sz="1100" dirty="0" err="1"/>
                <a:t>ke</a:t>
              </a:r>
              <a:r>
                <a:rPr lang="en-US" sz="1100" dirty="0"/>
                <a:t> </a:t>
              </a:r>
              <a:r>
                <a:rPr lang="en-US" sz="1100" dirty="0" err="1"/>
                <a:t>dalam</a:t>
              </a:r>
              <a:r>
                <a:rPr lang="en-US" sz="1100" dirty="0"/>
                <a:t> radius </a:t>
              </a:r>
              <a:r>
                <a:rPr lang="en-US" sz="1100" dirty="0" err="1"/>
                <a:t>terdampak</a:t>
              </a:r>
              <a:r>
                <a:rPr lang="en-US" sz="1100" dirty="0"/>
                <a:t>. </a:t>
              </a:r>
              <a:r>
                <a:rPr lang="en-US" sz="1100" dirty="0" err="1"/>
                <a:t>Saat</a:t>
              </a:r>
              <a:r>
                <a:rPr lang="en-US" sz="1100" dirty="0"/>
                <a:t> </a:t>
              </a:r>
              <a:r>
                <a:rPr lang="en-US" sz="1100" dirty="0" err="1"/>
                <a:t>ini</a:t>
              </a:r>
              <a:r>
                <a:rPr lang="en-US" sz="1100" dirty="0"/>
                <a:t>, </a:t>
              </a:r>
              <a:r>
                <a:rPr lang="en-US" sz="1100" dirty="0" err="1"/>
                <a:t>sebanyak</a:t>
              </a:r>
              <a:r>
                <a:rPr lang="en-US" sz="1100" dirty="0"/>
                <a:t> {{</a:t>
              </a:r>
              <a:r>
                <a:rPr lang="en-US" sz="1100" dirty="0" err="1"/>
                <a:t>site_up</a:t>
              </a:r>
              <a:r>
                <a:rPr lang="en-US" sz="1100" dirty="0"/>
                <a:t>}} site </a:t>
              </a:r>
              <a:r>
                <a:rPr lang="en-US" sz="1100" dirty="0" err="1"/>
                <a:t>terpantau</a:t>
              </a:r>
              <a:r>
                <a:rPr lang="en-US" sz="1100" dirty="0"/>
                <a:t> </a:t>
              </a:r>
              <a:r>
                <a:rPr lang="en-US" sz="1100" dirty="0" err="1"/>
                <a:t>dalam</a:t>
              </a:r>
              <a:r>
                <a:rPr lang="en-US" sz="1100" dirty="0"/>
                <a:t> </a:t>
              </a:r>
              <a:r>
                <a:rPr lang="en-US" sz="1100" dirty="0" err="1"/>
                <a:t>kondisi</a:t>
              </a:r>
              <a:r>
                <a:rPr lang="en-US" sz="1100" dirty="0"/>
                <a:t> normal (UP), </a:t>
              </a:r>
              <a:r>
                <a:rPr lang="en-US" sz="1100" dirty="0" err="1"/>
                <a:t>sedangkan</a:t>
              </a:r>
              <a:r>
                <a:rPr lang="en-US" sz="1100" dirty="0"/>
                <a:t> {{</a:t>
              </a:r>
              <a:r>
                <a:rPr lang="en-US" sz="1100" dirty="0" err="1"/>
                <a:t>site_down</a:t>
              </a:r>
              <a:r>
                <a:rPr lang="en-US" sz="1100" dirty="0"/>
                <a:t>}} site </a:t>
              </a:r>
              <a:r>
                <a:rPr lang="en-US" sz="1100" dirty="0" err="1"/>
                <a:t>mengalami</a:t>
              </a:r>
              <a:r>
                <a:rPr lang="en-US" sz="1100" dirty="0"/>
                <a:t> </a:t>
              </a:r>
              <a:r>
                <a:rPr lang="en-US" sz="1100" dirty="0" err="1"/>
                <a:t>gangguan</a:t>
              </a:r>
              <a:r>
                <a:rPr lang="en-US" sz="1100" dirty="0"/>
                <a:t> (DOWN) dan </a:t>
              </a:r>
              <a:r>
                <a:rPr lang="en-US" sz="1100" dirty="0" err="1"/>
                <a:t>memerlukan</a:t>
              </a:r>
              <a:r>
                <a:rPr lang="en-US" sz="1100" dirty="0"/>
                <a:t> </a:t>
              </a:r>
              <a:r>
                <a:rPr lang="en-US" sz="1100" dirty="0" err="1"/>
                <a:t>eskalasi</a:t>
              </a:r>
              <a:r>
                <a:rPr lang="en-US" sz="1100" dirty="0"/>
                <a:t> </a:t>
              </a:r>
              <a:r>
                <a:rPr lang="en-US" sz="1100" dirty="0" err="1"/>
                <a:t>pemulihan</a:t>
              </a:r>
              <a:r>
                <a:rPr lang="en-US" sz="1100" dirty="0"/>
                <a:t> </a:t>
              </a:r>
              <a:r>
                <a:rPr lang="en-US" sz="1100" dirty="0" err="1"/>
                <a:t>segera</a:t>
              </a:r>
              <a:r>
                <a:rPr lang="en-US" sz="1100" dirty="0"/>
                <a:t>.</a:t>
              </a:r>
            </a:p>
            <a:p>
              <a:pPr algn="just"/>
              <a:r>
                <a:rPr lang="en-US" sz="1100" b="1" dirty="0"/>
                <a:t>2. </a:t>
              </a:r>
              <a:r>
                <a:rPr lang="en-US" sz="1100" b="1" dirty="0" err="1"/>
                <a:t>Cakupan</a:t>
              </a:r>
              <a:r>
                <a:rPr lang="en-US" sz="1100" b="1" dirty="0"/>
                <a:t> Wilayah:</a:t>
              </a:r>
            </a:p>
            <a:p>
              <a:pPr algn="just"/>
              <a:r>
                <a:rPr lang="en-US" sz="1100" dirty="0" err="1"/>
                <a:t>Gangguan</a:t>
              </a:r>
              <a:r>
                <a:rPr lang="en-US" sz="1100" dirty="0"/>
                <a:t> </a:t>
              </a:r>
              <a:r>
                <a:rPr lang="en-US" sz="1100" dirty="0" err="1"/>
                <a:t>ini</a:t>
              </a:r>
              <a:r>
                <a:rPr lang="en-US" sz="1100" dirty="0"/>
                <a:t> </a:t>
              </a:r>
              <a:r>
                <a:rPr lang="en-US" sz="1100" dirty="0" err="1"/>
                <a:t>memberikan</a:t>
              </a:r>
              <a:r>
                <a:rPr lang="en-US" sz="1100" dirty="0"/>
                <a:t> </a:t>
              </a:r>
              <a:r>
                <a:rPr lang="en-US" sz="1100" dirty="0" err="1"/>
                <a:t>imbas</a:t>
              </a:r>
              <a:r>
                <a:rPr lang="en-US" sz="1100" dirty="0"/>
                <a:t> pada </a:t>
              </a:r>
              <a:r>
                <a:rPr lang="en-US" sz="1100" dirty="0" err="1"/>
                <a:t>layanan</a:t>
              </a:r>
              <a:r>
                <a:rPr lang="en-US" sz="1100" dirty="0"/>
                <a:t> </a:t>
              </a:r>
              <a:r>
                <a:rPr lang="en-US" sz="1100" dirty="0" err="1"/>
                <a:t>komunikasi</a:t>
              </a:r>
              <a:r>
                <a:rPr lang="en-US" sz="1100" dirty="0"/>
                <a:t> </a:t>
              </a:r>
              <a:r>
                <a:rPr lang="en-US" sz="1100" dirty="0" err="1"/>
                <a:t>publik</a:t>
              </a:r>
              <a:r>
                <a:rPr lang="en-US" sz="1100" dirty="0"/>
                <a:t> yang </a:t>
              </a:r>
              <a:r>
                <a:rPr lang="en-US" sz="1100" dirty="0" err="1"/>
                <a:t>mencakup</a:t>
              </a:r>
              <a:r>
                <a:rPr lang="en-US" sz="1100" dirty="0"/>
                <a:t> {{</a:t>
              </a:r>
              <a:r>
                <a:rPr lang="en-US" sz="1100" dirty="0" err="1"/>
                <a:t>n_kab</a:t>
              </a:r>
              <a:r>
                <a:rPr lang="en-US" sz="1100" dirty="0"/>
                <a:t>}} </a:t>
              </a:r>
              <a:r>
                <a:rPr lang="en-US" sz="1100" dirty="0" err="1"/>
                <a:t>Kabupaten</a:t>
              </a:r>
              <a:r>
                <a:rPr lang="en-US" sz="1100" dirty="0"/>
                <a:t> dan {{</a:t>
              </a:r>
              <a:r>
                <a:rPr lang="en-US" sz="1100" dirty="0" err="1"/>
                <a:t>n_kec</a:t>
              </a:r>
              <a:r>
                <a:rPr lang="en-US" sz="1100" dirty="0"/>
                <a:t>}} </a:t>
              </a:r>
              <a:r>
                <a:rPr lang="en-US" sz="1100" dirty="0" err="1"/>
                <a:t>Kecamatan</a:t>
              </a:r>
              <a:r>
                <a:rPr lang="en-US" sz="1100" dirty="0"/>
                <a:t>.</a:t>
              </a:r>
            </a:p>
            <a:p>
              <a:pPr algn="just"/>
              <a:r>
                <a:rPr lang="en-US" sz="1100" b="1" dirty="0"/>
                <a:t>3. </a:t>
              </a:r>
              <a:r>
                <a:rPr lang="en-US" sz="1100" b="1" dirty="0" err="1"/>
                <a:t>Kapasitas</a:t>
              </a:r>
              <a:r>
                <a:rPr lang="en-US" sz="1100" b="1" dirty="0"/>
                <a:t> </a:t>
              </a:r>
              <a:r>
                <a:rPr lang="en-US" sz="1100" b="1" dirty="0" err="1"/>
                <a:t>Layanan</a:t>
              </a:r>
              <a:r>
                <a:rPr lang="en-US" sz="1100" b="1" dirty="0"/>
                <a:t>:</a:t>
              </a:r>
            </a:p>
            <a:p>
              <a:pPr algn="just"/>
              <a:r>
                <a:rPr lang="en-US" sz="1100" dirty="0" err="1"/>
                <a:t>Meski</a:t>
              </a:r>
              <a:r>
                <a:rPr lang="en-US" sz="1100" dirty="0"/>
                <a:t> </a:t>
              </a:r>
              <a:r>
                <a:rPr lang="en-US" sz="1100" dirty="0" err="1"/>
                <a:t>terjadi</a:t>
              </a:r>
              <a:r>
                <a:rPr lang="en-US" sz="1100" dirty="0"/>
                <a:t> </a:t>
              </a:r>
              <a:r>
                <a:rPr lang="en-US" sz="1100" dirty="0" err="1"/>
                <a:t>kendala</a:t>
              </a:r>
              <a:r>
                <a:rPr lang="en-US" sz="1100" dirty="0"/>
                <a:t>, </a:t>
              </a:r>
              <a:r>
                <a:rPr lang="en-US" sz="1100" dirty="0" err="1"/>
                <a:t>sisa</a:t>
              </a:r>
              <a:r>
                <a:rPr lang="en-US" sz="1100" dirty="0"/>
                <a:t> site yang </a:t>
              </a:r>
              <a:r>
                <a:rPr lang="en-US" sz="1100" dirty="0" err="1"/>
                <a:t>beroperasi</a:t>
              </a:r>
              <a:r>
                <a:rPr lang="en-US" sz="1100" dirty="0"/>
                <a:t> </a:t>
              </a:r>
              <a:r>
                <a:rPr lang="en-US" sz="1100" dirty="0" err="1"/>
                <a:t>masih</a:t>
              </a:r>
              <a:r>
                <a:rPr lang="en-US" sz="1100" dirty="0"/>
                <a:t> </a:t>
              </a:r>
              <a:r>
                <a:rPr lang="en-US" sz="1100" dirty="0" err="1"/>
                <a:t>menampung</a:t>
              </a:r>
              <a:r>
                <a:rPr lang="en-US" sz="1100" dirty="0"/>
                <a:t> </a:t>
              </a:r>
              <a:r>
                <a:rPr lang="en-US" sz="1100" dirty="0" err="1"/>
                <a:t>beban</a:t>
              </a:r>
              <a:r>
                <a:rPr lang="en-US" sz="1100" dirty="0"/>
                <a:t> traffic </a:t>
              </a:r>
              <a:r>
                <a:rPr lang="en-US" sz="1100" dirty="0" err="1"/>
                <a:t>harian</a:t>
              </a:r>
              <a:r>
                <a:rPr lang="en-US" sz="1100" dirty="0"/>
                <a:t> rata-rata </a:t>
              </a:r>
              <a:r>
                <a:rPr lang="en-US" sz="1100" dirty="0" err="1"/>
                <a:t>sebesar</a:t>
              </a:r>
              <a:r>
                <a:rPr lang="en-US" sz="1100" dirty="0"/>
                <a:t> {{</a:t>
              </a:r>
              <a:r>
                <a:rPr lang="en-US" sz="1100" dirty="0" err="1"/>
                <a:t>daily_traffic_gb</a:t>
              </a:r>
              <a:r>
                <a:rPr lang="en-US" sz="1100" dirty="0"/>
                <a:t>}} GB dan </a:t>
              </a:r>
              <a:r>
                <a:rPr lang="en-US" sz="1100" dirty="0" err="1"/>
                <a:t>melayani</a:t>
              </a:r>
              <a:r>
                <a:rPr lang="en-US" sz="1100" dirty="0"/>
                <a:t> </a:t>
              </a:r>
              <a:r>
                <a:rPr lang="en-US" sz="1100" dirty="0" err="1"/>
                <a:t>sekitar</a:t>
              </a:r>
              <a:r>
                <a:rPr lang="en-US" sz="1100" dirty="0"/>
                <a:t> {{</a:t>
              </a:r>
              <a:r>
                <a:rPr lang="en-US" sz="1100" dirty="0" err="1"/>
                <a:t>active_users</a:t>
              </a:r>
              <a:r>
                <a:rPr lang="en-US" sz="1100" dirty="0"/>
                <a:t>}} </a:t>
              </a:r>
              <a:r>
                <a:rPr lang="en-US" sz="1100" dirty="0" err="1"/>
                <a:t>pengguna</a:t>
              </a:r>
              <a:r>
                <a:rPr lang="en-US" sz="1100" dirty="0"/>
                <a:t> </a:t>
              </a:r>
              <a:r>
                <a:rPr lang="en-US" sz="1100" dirty="0" err="1"/>
                <a:t>aktif</a:t>
              </a:r>
              <a:r>
                <a:rPr lang="en-US" sz="1100" dirty="0"/>
                <a:t> (peak users).</a:t>
              </a:r>
            </a:p>
            <a:p>
              <a:pPr algn="just"/>
              <a:endParaRPr lang="en-US" sz="1100" dirty="0" err="1"/>
            </a:p>
          </p:txBody>
        </p:sp>
        <p:pic>
          <p:nvPicPr>
            <p:cNvPr id="13" name="Picture 12" descr="image.png">
              <a:extLst>
                <a:ext uri="{FF2B5EF4-FFF2-40B4-BE49-F238E27FC236}">
                  <a16:creationId xmlns:a16="http://schemas.microsoft.com/office/drawing/2014/main" id="{5B236CE3-4A12-471B-A02D-75D8FF9EC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5675" y="6627006"/>
              <a:ext cx="171450" cy="171450"/>
            </a:xfrm>
            <a:prstGeom prst="rect">
              <a:avLst/>
            </a:prstGeom>
          </p:spPr>
        </p:pic>
      </p:grpSp>
      <p:sp>
        <p:nvSpPr>
          <p:cNvPr id="15" name="PH_TRAFFIC">
            <a:extLst>
              <a:ext uri="{FF2B5EF4-FFF2-40B4-BE49-F238E27FC236}">
                <a16:creationId xmlns:a16="http://schemas.microsoft.com/office/drawing/2014/main" id="{573AF431-D8B9-4075-8E83-A57087F0EB89}"/>
              </a:ext>
            </a:extLst>
          </p:cNvPr>
          <p:cNvSpPr/>
          <p:nvPr/>
        </p:nvSpPr>
        <p:spPr>
          <a:xfrm>
            <a:off x="97185" y="655495"/>
            <a:ext cx="5944472" cy="2949974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PH_TRAFFIC</a:t>
            </a:r>
          </a:p>
        </p:txBody>
      </p:sp>
      <p:sp>
        <p:nvSpPr>
          <p:cNvPr id="16" name="PH_AVAIL">
            <a:extLst>
              <a:ext uri="{FF2B5EF4-FFF2-40B4-BE49-F238E27FC236}">
                <a16:creationId xmlns:a16="http://schemas.microsoft.com/office/drawing/2014/main" id="{58A28F10-9EFB-437E-9CAF-0EF3507D2297}"/>
              </a:ext>
            </a:extLst>
          </p:cNvPr>
          <p:cNvSpPr/>
          <p:nvPr/>
        </p:nvSpPr>
        <p:spPr>
          <a:xfrm>
            <a:off x="123371" y="3764390"/>
            <a:ext cx="5944472" cy="2949974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PH_AVAIL</a:t>
            </a:r>
          </a:p>
        </p:txBody>
      </p:sp>
      <p:sp>
        <p:nvSpPr>
          <p:cNvPr id="18" name="PH_USER">
            <a:extLst>
              <a:ext uri="{FF2B5EF4-FFF2-40B4-BE49-F238E27FC236}">
                <a16:creationId xmlns:a16="http://schemas.microsoft.com/office/drawing/2014/main" id="{2842D3AD-BB62-47CA-BED9-2BA0E3E1BBEE}"/>
              </a:ext>
            </a:extLst>
          </p:cNvPr>
          <p:cNvSpPr/>
          <p:nvPr/>
        </p:nvSpPr>
        <p:spPr>
          <a:xfrm>
            <a:off x="6150345" y="655495"/>
            <a:ext cx="5944472" cy="2949974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PH_USER</a:t>
            </a:r>
          </a:p>
        </p:txBody>
      </p:sp>
    </p:spTree>
    <p:extLst>
      <p:ext uri="{BB962C8B-B14F-4D97-AF65-F5344CB8AC3E}">
        <p14:creationId xmlns:p14="http://schemas.microsoft.com/office/powerpoint/2010/main" val="41353493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B06D9-32D5-878A-6CD9-49854D63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EBFAA41-9A01-8649-D281-E3CB7924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662" y="85794"/>
            <a:ext cx="10556293" cy="384721"/>
          </a:xfrm>
        </p:spPr>
        <p:txBody>
          <a:bodyPr/>
          <a:lstStyle/>
          <a:p>
            <a:pPr algn="l"/>
            <a:r>
              <a:rPr lang="it-IT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Site Status Kabupaten Level</a:t>
            </a:r>
            <a:endParaRPr lang="en-ID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91C1E5A-259D-4229-9D29-321D239C38EB}"/>
              </a:ext>
            </a:extLst>
          </p:cNvPr>
          <p:cNvGrpSpPr/>
          <p:nvPr/>
        </p:nvGrpSpPr>
        <p:grpSpPr>
          <a:xfrm>
            <a:off x="7489103" y="611672"/>
            <a:ext cx="4605713" cy="4913997"/>
            <a:chOff x="7940641" y="6474982"/>
            <a:chExt cx="5944472" cy="2655632"/>
          </a:xfrm>
        </p:grpSpPr>
        <p:sp>
          <p:nvSpPr>
            <p:cNvPr id="8" name="Rounded Rectangle 2">
              <a:extLst>
                <a:ext uri="{FF2B5EF4-FFF2-40B4-BE49-F238E27FC236}">
                  <a16:creationId xmlns:a16="http://schemas.microsoft.com/office/drawing/2014/main" id="{303ED831-9AE0-4541-A495-423D08BEBDA3}"/>
                </a:ext>
              </a:extLst>
            </p:cNvPr>
            <p:cNvSpPr/>
            <p:nvPr/>
          </p:nvSpPr>
          <p:spPr>
            <a:xfrm>
              <a:off x="7940641" y="6474982"/>
              <a:ext cx="5944472" cy="2655632"/>
            </a:xfrm>
            <a:prstGeom prst="roundRect">
              <a:avLst>
                <a:gd name="adj" fmla="val 597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marR="0" lvl="0" indent="-28575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</a:pP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Cakupan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Wilayah &amp; Site: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Peristiwa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jenis_kejadian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 ({{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detail_kejadian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}}) di wilayah 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lokasi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melingkupi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total 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total_site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 site yang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tersebar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di 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n_kab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Kabupaten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, 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n_kec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Kecamatan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, dan 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n_desa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Desa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.</a:t>
              </a:r>
            </a:p>
            <a:p>
              <a:pPr marL="285750" marR="0" lvl="0" indent="-28575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</a:pP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Kondisi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Layanan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Terkini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: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Tercatat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sebanyak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site_up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 site (Normal/Up) dan 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site_down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 site (Down/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Kritis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).</a:t>
              </a:r>
            </a:p>
            <a:p>
              <a:pPr marL="285750" marR="0" lvl="0" indent="-28575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</a:pP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Wilayah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Dampak</a:t>
              </a:r>
              <a:r>
                <a:rPr kumimoji="0" lang="en-US" altLang="en-US" sz="1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b="1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Tertinggi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: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Konsentrasi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site down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tertinggi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berada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di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Kabupaten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top_kab_down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dengan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total 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top_kab_down_count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 site down (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rincian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: {{top_kab_down_4g}} Site 4G &amp; 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top_kab_down_uso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 Site USO). </a:t>
              </a:r>
            </a:p>
            <a:p>
              <a:pPr marL="285750" marR="0" lvl="0" indent="-285750" algn="just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q"/>
                <a:tabLst/>
              </a:pP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Tindak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Lanjut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Mitigasi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: Tim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operasional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BAKTI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bersama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mitra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fokus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memprioritaskan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pemulihan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transmisi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dan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catu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daya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pada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desa-desa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terdampak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di wilayah 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Kabupaten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 {{</a:t>
              </a:r>
              <a:r>
                <a:rPr kumimoji="0" lang="en-US" altLang="en-US" sz="140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top_kab_down</a:t>
              </a:r>
              <a:r>
                <a:rPr kumimoji="0" lang="en-US" altLang="en-US" sz="1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Plus Jakarta Sans"/>
                </a:rPr>
                <a:t>}}.</a:t>
              </a:r>
            </a:p>
            <a:p>
              <a:pPr algn="just"/>
              <a:endParaRPr sz="1400" dirty="0">
                <a:latin typeface="Plus Jakarta San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1770D5-E2A4-4E96-B938-0CB2D3464253}"/>
                </a:ext>
              </a:extLst>
            </p:cNvPr>
            <p:cNvSpPr txBox="1"/>
            <p:nvPr/>
          </p:nvSpPr>
          <p:spPr>
            <a:xfrm>
              <a:off x="8105676" y="6526587"/>
              <a:ext cx="5627492" cy="103232"/>
            </a:xfrm>
            <a:prstGeom prst="rect">
              <a:avLst/>
            </a:prstGeom>
            <a:noFill/>
          </p:spPr>
          <p:txBody>
            <a:bodyPr wrap="square" lIns="247650" tIns="0" rIns="0" bIns="0" anchor="t">
              <a:spAutoFit/>
            </a:bodyPr>
            <a:lstStyle/>
            <a:p>
              <a:pPr algn="l"/>
              <a:r>
                <a:rPr lang="en-US" sz="1400" b="1" dirty="0">
                  <a:latin typeface="Plus Jakarta Sans"/>
                </a:rPr>
                <a:t>RINGKASAN EKSEKUTIF &amp; SITUASI OPERASIONAL:</a:t>
              </a:r>
              <a:endParaRPr sz="1350" b="1" i="0" u="none" dirty="0">
                <a:solidFill>
                  <a:srgbClr val="0F172A"/>
                </a:solidFill>
                <a:latin typeface="Plus Jakarta San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F5C7A8C-0673-4BD4-AC71-164B80287FF7}"/>
                </a:ext>
              </a:extLst>
            </p:cNvPr>
            <p:cNvSpPr txBox="1"/>
            <p:nvPr/>
          </p:nvSpPr>
          <p:spPr>
            <a:xfrm>
              <a:off x="8000331" y="6861545"/>
              <a:ext cx="5818562" cy="8111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just"/>
              <a:endParaRPr lang="en-US" sz="1100" dirty="0"/>
            </a:p>
          </p:txBody>
        </p:sp>
        <p:pic>
          <p:nvPicPr>
            <p:cNvPr id="13" name="Picture 12" descr="image.png">
              <a:extLst>
                <a:ext uri="{FF2B5EF4-FFF2-40B4-BE49-F238E27FC236}">
                  <a16:creationId xmlns:a16="http://schemas.microsoft.com/office/drawing/2014/main" id="{5B236CE3-4A12-471B-A02D-75D8FF9EC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5676" y="6519237"/>
              <a:ext cx="225950" cy="121031"/>
            </a:xfrm>
            <a:prstGeom prst="rect">
              <a:avLst/>
            </a:prstGeom>
          </p:spPr>
        </p:pic>
      </p:grpSp>
      <p:sp>
        <p:nvSpPr>
          <p:cNvPr id="15" name="PH_TABEL">
            <a:extLst>
              <a:ext uri="{FF2B5EF4-FFF2-40B4-BE49-F238E27FC236}">
                <a16:creationId xmlns:a16="http://schemas.microsoft.com/office/drawing/2014/main" id="{573AF431-D8B9-4075-8E83-A57087F0EB89}"/>
              </a:ext>
            </a:extLst>
          </p:cNvPr>
          <p:cNvSpPr/>
          <p:nvPr/>
        </p:nvSpPr>
        <p:spPr>
          <a:xfrm>
            <a:off x="97185" y="655494"/>
            <a:ext cx="7251674" cy="6116711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PH_TABEL</a:t>
            </a:r>
          </a:p>
        </p:txBody>
      </p:sp>
    </p:spTree>
    <p:extLst>
      <p:ext uri="{BB962C8B-B14F-4D97-AF65-F5344CB8AC3E}">
        <p14:creationId xmlns:p14="http://schemas.microsoft.com/office/powerpoint/2010/main" val="701078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829</Words>
  <Application>Microsoft Office PowerPoint</Application>
  <PresentationFormat>Widescreen</PresentationFormat>
  <Paragraphs>95</Paragraphs>
  <Slides>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Calibri</vt:lpstr>
      <vt:lpstr>Plus Jakarta Sans</vt:lpstr>
      <vt:lpstr>Segoe UI</vt:lpstr>
      <vt:lpstr>Yu Gothic</vt:lpstr>
      <vt:lpstr>Wingdings</vt:lpstr>
      <vt:lpstr>Arial</vt:lpstr>
      <vt:lpstr>Montserrat</vt:lpstr>
      <vt:lpstr>Barlow</vt:lpstr>
      <vt:lpstr>Office Theme</vt:lpstr>
      <vt:lpstr>think-cell Slide</vt:lpstr>
      <vt:lpstr>PowerPoint Presentation</vt:lpstr>
      <vt:lpstr>Ringkasan Laporan Performansi BTS BAKTI</vt:lpstr>
      <vt:lpstr>Tren Productivity Layanan BTS Bakti</vt:lpstr>
      <vt:lpstr>Site Status Kabupaten Level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ilham putra</cp:lastModifiedBy>
  <cp:revision>56</cp:revision>
  <dcterms:created xsi:type="dcterms:W3CDTF">2013-01-27T09:14:16Z</dcterms:created>
  <dcterms:modified xsi:type="dcterms:W3CDTF">2026-10-28T13:00:43Z</dcterms:modified>
  <cp:category/>
</cp:coreProperties>
</file>
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147474856" r:id="rId3"/>
    <p:sldId id="2147474857" r:id="rId4"/>
    <p:sldId id="2147474858" r:id="rId5"/>
  </p:sldIdLst>
  <p:sldSz cx="12192000" cy="6858000"/>
  <p:notesSz cx="6858000" cy="9144000"/>
  <p:embeddedFontLst>
    <p:embeddedFont>
      <p:font typeface="Barlow" panose="00000500000000000000" pitchFamily="2" charset="0"/>
      <p:regular r:id="rId7"/>
      <p:bold r:id="rId8"/>
      <p:italic r:id="rId9"/>
      <p:boldItalic r:id="rId10"/>
    </p:embeddedFon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Plus Jakarta Sans"/>
      <p: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  <p:embeddedFont>
      <p:font typeface="Yu Gothic" panose="020B0400000000000000" pitchFamily="34" charset="-128"/>
      <p:regular r:id="rId24"/>
      <p:bold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5.fntdata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theme" Target="theme/theme1.xml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58880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6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038622"/>
            <a:ext cx="4491943" cy="3455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484"/>
              </a:lnSpc>
            </a:pPr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456955" cy="530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diambil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 {{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timestamp_data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sz="1125" i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D6BD7CEC-88FE-451C-BB26-C9909EFB9A33}"/>
              </a:ext>
            </a:extLst>
          </p:cNvPr>
          <p:cNvSpPr/>
          <p:nvPr/>
        </p:nvSpPr>
        <p:spPr>
          <a:xfrm>
            <a:off x="109625" y="5486464"/>
            <a:ext cx="11997630" cy="132738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 err="1">
                <a:solidFill>
                  <a:schemeClr val="tx1"/>
                </a:solidFill>
              </a:rPr>
              <a:t>Berdasarkan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hasil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pantauan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infrastruktur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telekomunikasi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terhadap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kejadian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jenis_kejadian</a:t>
            </a:r>
            <a:r>
              <a:rPr lang="en-US" sz="1000" dirty="0">
                <a:solidFill>
                  <a:schemeClr val="tx1"/>
                </a:solidFill>
              </a:rPr>
              <a:t>}} {{</a:t>
            </a:r>
            <a:r>
              <a:rPr lang="en-US" sz="1000" dirty="0" err="1">
                <a:solidFill>
                  <a:schemeClr val="tx1"/>
                </a:solidFill>
              </a:rPr>
              <a:t>detail_kejadian</a:t>
            </a:r>
            <a:r>
              <a:rPr lang="en-US" sz="1000" dirty="0">
                <a:solidFill>
                  <a:schemeClr val="tx1"/>
                </a:solidFill>
              </a:rPr>
              <a:t>}} yang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pada {{</a:t>
            </a:r>
            <a:r>
              <a:rPr lang="en-US" sz="1000" dirty="0" err="1">
                <a:solidFill>
                  <a:schemeClr val="tx1"/>
                </a:solidFill>
              </a:rPr>
              <a:t>waktu_kejadian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dengan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titik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fokus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lokasi</a:t>
            </a:r>
            <a:r>
              <a:rPr lang="en-US" sz="1000" dirty="0">
                <a:solidFill>
                  <a:schemeClr val="tx1"/>
                </a:solidFill>
              </a:rPr>
              <a:t>}}, </a:t>
            </a:r>
            <a:r>
              <a:rPr lang="en-US" sz="1000" dirty="0" err="1">
                <a:solidFill>
                  <a:schemeClr val="tx1"/>
                </a:solidFill>
              </a:rPr>
              <a:t>dapat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disimpulkan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bahwa</a:t>
            </a:r>
            <a:r>
              <a:rPr lang="en-US" sz="1000" dirty="0">
                <a:solidFill>
                  <a:schemeClr val="tx1"/>
                </a:solidFill>
              </a:rPr>
              <a:t>:</a:t>
            </a:r>
          </a:p>
          <a:p>
            <a:pPr marL="228600" indent="-228600">
              <a:buAutoNum type="arabicPeriod"/>
            </a:pPr>
            <a:r>
              <a:rPr lang="en-US" sz="1000" b="1" dirty="0" err="1">
                <a:solidFill>
                  <a:schemeClr val="tx1"/>
                </a:solidFill>
              </a:rPr>
              <a:t>Dampak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Infrastruktur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Terdapat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total_site</a:t>
            </a:r>
            <a:r>
              <a:rPr lang="en-US" sz="1000" dirty="0">
                <a:solidFill>
                  <a:schemeClr val="tx1"/>
                </a:solidFill>
              </a:rPr>
              <a:t>}} site BAKTI yang </a:t>
            </a:r>
            <a:r>
              <a:rPr lang="en-US" sz="1000" dirty="0" err="1">
                <a:solidFill>
                  <a:schemeClr val="tx1"/>
                </a:solidFill>
              </a:rPr>
              <a:t>masuk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radius </a:t>
            </a:r>
            <a:r>
              <a:rPr lang="en-US" sz="1000" dirty="0" err="1">
                <a:solidFill>
                  <a:schemeClr val="tx1"/>
                </a:solidFill>
              </a:rPr>
              <a:t>terdampak</a:t>
            </a:r>
            <a:r>
              <a:rPr lang="en-US" sz="1000" dirty="0">
                <a:solidFill>
                  <a:schemeClr val="tx1"/>
                </a:solidFill>
              </a:rPr>
              <a:t>. </a:t>
            </a:r>
            <a:r>
              <a:rPr lang="en-US" sz="1000" dirty="0" err="1">
                <a:solidFill>
                  <a:schemeClr val="tx1"/>
                </a:solidFill>
              </a:rPr>
              <a:t>Saat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sebanyak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site_up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terpantau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kondisi</a:t>
            </a:r>
            <a:r>
              <a:rPr lang="en-US" sz="1000" dirty="0">
                <a:solidFill>
                  <a:schemeClr val="tx1"/>
                </a:solidFill>
              </a:rPr>
              <a:t> normal (UP), </a:t>
            </a:r>
            <a:r>
              <a:rPr lang="en-US" sz="1000" dirty="0" err="1">
                <a:solidFill>
                  <a:schemeClr val="tx1"/>
                </a:solidFill>
              </a:rPr>
              <a:t>sedangkan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site_down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mengalami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(DOWN) dan </a:t>
            </a:r>
            <a:r>
              <a:rPr lang="en-US" sz="1000" dirty="0" err="1">
                <a:solidFill>
                  <a:schemeClr val="tx1"/>
                </a:solidFill>
              </a:rPr>
              <a:t>memerlukan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eskalasi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pemulihan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segera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2. </a:t>
            </a:r>
            <a:r>
              <a:rPr lang="en-US" sz="1000" b="1" dirty="0" err="1">
                <a:solidFill>
                  <a:schemeClr val="tx1"/>
                </a:solidFill>
              </a:rPr>
              <a:t>Cakupan</a:t>
            </a:r>
            <a:r>
              <a:rPr lang="en-US" sz="1000" b="1" dirty="0">
                <a:solidFill>
                  <a:schemeClr val="tx1"/>
                </a:solidFill>
              </a:rPr>
              <a:t> Wilayah: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memberikan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imbas</a:t>
            </a:r>
            <a:r>
              <a:rPr lang="en-US" sz="1000" dirty="0">
                <a:solidFill>
                  <a:schemeClr val="tx1"/>
                </a:solidFill>
              </a:rPr>
              <a:t> pada </a:t>
            </a:r>
            <a:r>
              <a:rPr lang="en-US" sz="1000" dirty="0" err="1">
                <a:solidFill>
                  <a:schemeClr val="tx1"/>
                </a:solidFill>
              </a:rPr>
              <a:t>layanan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publik</a:t>
            </a:r>
            <a:r>
              <a:rPr lang="en-US" sz="1000" dirty="0">
                <a:solidFill>
                  <a:schemeClr val="tx1"/>
                </a:solidFill>
              </a:rPr>
              <a:t> yang </a:t>
            </a:r>
            <a:r>
              <a:rPr lang="en-US" sz="1000" dirty="0" err="1">
                <a:solidFill>
                  <a:schemeClr val="tx1"/>
                </a:solidFill>
              </a:rPr>
              <a:t>mencakup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n_kab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Kabupaten</a:t>
            </a:r>
            <a:r>
              <a:rPr lang="en-US" sz="1000" dirty="0">
                <a:solidFill>
                  <a:schemeClr val="tx1"/>
                </a:solidFill>
              </a:rPr>
              <a:t> dan {{</a:t>
            </a:r>
            <a:r>
              <a:rPr lang="en-US" sz="1000" dirty="0" err="1">
                <a:solidFill>
                  <a:schemeClr val="tx1"/>
                </a:solidFill>
              </a:rPr>
              <a:t>n_kec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Kecamatan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3. </a:t>
            </a:r>
            <a:r>
              <a:rPr lang="en-US" sz="1000" b="1" dirty="0" err="1">
                <a:solidFill>
                  <a:schemeClr val="tx1"/>
                </a:solidFill>
              </a:rPr>
              <a:t>Kapasitas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Layanan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Meski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kendala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sisa</a:t>
            </a:r>
            <a:r>
              <a:rPr lang="en-US" sz="1000" dirty="0">
                <a:solidFill>
                  <a:schemeClr val="tx1"/>
                </a:solidFill>
              </a:rPr>
              <a:t> site yang </a:t>
            </a:r>
            <a:r>
              <a:rPr lang="en-US" sz="1000" dirty="0" err="1">
                <a:solidFill>
                  <a:schemeClr val="tx1"/>
                </a:solidFill>
              </a:rPr>
              <a:t>beroperasi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masih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menampung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beban</a:t>
            </a:r>
            <a:r>
              <a:rPr lang="en-US" sz="1000" dirty="0">
                <a:solidFill>
                  <a:schemeClr val="tx1"/>
                </a:solidFill>
              </a:rPr>
              <a:t> traffic </a:t>
            </a:r>
            <a:r>
              <a:rPr lang="en-US" sz="1000" dirty="0" err="1">
                <a:solidFill>
                  <a:schemeClr val="tx1"/>
                </a:solidFill>
              </a:rPr>
              <a:t>harian</a:t>
            </a:r>
            <a:r>
              <a:rPr lang="en-US" sz="1000" dirty="0">
                <a:solidFill>
                  <a:schemeClr val="tx1"/>
                </a:solidFill>
              </a:rPr>
              <a:t> rata-rata </a:t>
            </a:r>
            <a:r>
              <a:rPr lang="en-US" sz="1000" dirty="0" err="1">
                <a:solidFill>
                  <a:schemeClr val="tx1"/>
                </a:solidFill>
              </a:rPr>
              <a:t>sebesar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daily_traffic_gb</a:t>
            </a:r>
            <a:r>
              <a:rPr lang="en-US" sz="1000" dirty="0">
                <a:solidFill>
                  <a:schemeClr val="tx1"/>
                </a:solidFill>
              </a:rPr>
              <a:t>}} GB dan </a:t>
            </a:r>
            <a:r>
              <a:rPr lang="en-US" sz="1000" dirty="0" err="1">
                <a:solidFill>
                  <a:schemeClr val="tx1"/>
                </a:solidFill>
              </a:rPr>
              <a:t>melayani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sekitar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active_users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pengguna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aktif</a:t>
            </a:r>
            <a:r>
              <a:rPr lang="en-US" sz="1000" dirty="0">
                <a:solidFill>
                  <a:schemeClr val="tx1"/>
                </a:solidFill>
              </a:rPr>
              <a:t> (peak users).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pPr algn="ctr"/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5FC9B3-BB80-4969-9670-A24790CF56BB}"/>
              </a:ext>
            </a:extLst>
          </p:cNvPr>
          <p:cNvSpPr txBox="1"/>
          <p:nvPr/>
        </p:nvSpPr>
        <p:spPr>
          <a:xfrm>
            <a:off x="96481" y="5307331"/>
            <a:ext cx="2819233" cy="207749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pic>
        <p:nvPicPr>
          <p:cNvPr id="76" name="Picture 75" descr="image.png">
            <a:extLst>
              <a:ext uri="{FF2B5EF4-FFF2-40B4-BE49-F238E27FC236}">
                <a16:creationId xmlns:a16="http://schemas.microsoft.com/office/drawing/2014/main" id="{AA67B94B-9D76-4FC9-9676-15B36CA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6" y="5352046"/>
            <a:ext cx="171450" cy="150962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H_MAP">
            <a:extLst>
              <a:ext uri="{FF2B5EF4-FFF2-40B4-BE49-F238E27FC236}">
                <a16:creationId xmlns:a16="http://schemas.microsoft.com/office/drawing/2014/main" id="{121D5487-3A84-4161-97AE-F3058AC05C50}"/>
              </a:ext>
            </a:extLst>
          </p:cNvPr>
          <p:cNvSpPr>
            <a:spLocks/>
          </p:cNvSpPr>
          <p:nvPr/>
        </p:nvSpPr>
        <p:spPr>
          <a:xfrm>
            <a:off x="97185" y="655494"/>
            <a:ext cx="5375150" cy="466459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1EC635-D31E-4251-B702-740415F380E5}"/>
              </a:ext>
            </a:extLst>
          </p:cNvPr>
          <p:cNvGrpSpPr/>
          <p:nvPr/>
        </p:nvGrpSpPr>
        <p:grpSpPr>
          <a:xfrm>
            <a:off x="5363705" y="578151"/>
            <a:ext cx="6740164" cy="4940536"/>
            <a:chOff x="5340061" y="648668"/>
            <a:chExt cx="6740164" cy="4940536"/>
          </a:xfrm>
        </p:grpSpPr>
        <p:sp>
          <p:nvSpPr>
            <p:cNvPr id="204" name="Rounded Rectangle 29">
              <a:extLst>
                <a:ext uri="{FF2B5EF4-FFF2-40B4-BE49-F238E27FC236}">
                  <a16:creationId xmlns:a16="http://schemas.microsoft.com/office/drawing/2014/main" id="{C3893E79-0B74-459B-BF34-B9176FFAD7CE}"/>
                </a:ext>
              </a:extLst>
            </p:cNvPr>
            <p:cNvSpPr/>
            <p:nvPr/>
          </p:nvSpPr>
          <p:spPr>
            <a:xfrm>
              <a:off x="10493360" y="1129888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Rounded Rectangle 8">
              <a:extLst>
                <a:ext uri="{FF2B5EF4-FFF2-40B4-BE49-F238E27FC236}">
                  <a16:creationId xmlns:a16="http://schemas.microsoft.com/office/drawing/2014/main" id="{80CB919A-DD0A-4A24-89F8-46EAF47E2642}"/>
                </a:ext>
              </a:extLst>
            </p:cNvPr>
            <p:cNvSpPr/>
            <p:nvPr/>
          </p:nvSpPr>
          <p:spPr>
            <a:xfrm>
              <a:off x="10084959" y="879249"/>
              <a:ext cx="196478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9AD7B958-B696-429F-B813-459F2F85F52A}"/>
                </a:ext>
              </a:extLst>
            </p:cNvPr>
            <p:cNvSpPr txBox="1"/>
            <p:nvPr/>
          </p:nvSpPr>
          <p:spPr>
            <a:xfrm>
              <a:off x="10463533" y="111440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n_uso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</p:txBody>
        </p:sp>
        <p:sp>
          <p:nvSpPr>
            <p:cNvPr id="157" name="Rounded Rectangle 27">
              <a:extLst>
                <a:ext uri="{FF2B5EF4-FFF2-40B4-BE49-F238E27FC236}">
                  <a16:creationId xmlns:a16="http://schemas.microsoft.com/office/drawing/2014/main" id="{6983D4BE-F288-4887-9424-D08B75FF46C7}"/>
                </a:ext>
              </a:extLst>
            </p:cNvPr>
            <p:cNvSpPr/>
            <p:nvPr/>
          </p:nvSpPr>
          <p:spPr>
            <a:xfrm>
              <a:off x="8089119" y="147392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5" name="Rounded Rectangle 27">
              <a:extLst>
                <a:ext uri="{FF2B5EF4-FFF2-40B4-BE49-F238E27FC236}">
                  <a16:creationId xmlns:a16="http://schemas.microsoft.com/office/drawing/2014/main" id="{9C41D5EA-C306-401E-AE8D-F3D58310D4C9}"/>
                </a:ext>
              </a:extLst>
            </p:cNvPr>
            <p:cNvSpPr/>
            <p:nvPr/>
          </p:nvSpPr>
          <p:spPr>
            <a:xfrm>
              <a:off x="9002613" y="148622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26">
              <a:extLst>
                <a:ext uri="{FF2B5EF4-FFF2-40B4-BE49-F238E27FC236}">
                  <a16:creationId xmlns:a16="http://schemas.microsoft.com/office/drawing/2014/main" id="{C8C63B6E-4A79-401A-9477-CDA11E1EE74A}"/>
                </a:ext>
              </a:extLst>
            </p:cNvPr>
            <p:cNvSpPr/>
            <p:nvPr/>
          </p:nvSpPr>
          <p:spPr>
            <a:xfrm>
              <a:off x="8419344" y="1131541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ed Rectangle 8">
              <a:extLst>
                <a:ext uri="{FF2B5EF4-FFF2-40B4-BE49-F238E27FC236}">
                  <a16:creationId xmlns:a16="http://schemas.microsoft.com/office/drawing/2014/main" id="{9ADB9127-BCFF-4342-BC7C-AD3318C417B9}"/>
                </a:ext>
              </a:extLst>
            </p:cNvPr>
            <p:cNvSpPr/>
            <p:nvPr/>
          </p:nvSpPr>
          <p:spPr>
            <a:xfrm>
              <a:off x="7994807" y="870189"/>
              <a:ext cx="195879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78D2305-BB32-432E-AD45-5A7C25C4BF88}"/>
                </a:ext>
              </a:extLst>
            </p:cNvPr>
            <p:cNvSpPr txBox="1"/>
            <p:nvPr/>
          </p:nvSpPr>
          <p:spPr>
            <a:xfrm>
              <a:off x="8309532" y="110534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{{n_4g}} Site</a:t>
              </a:r>
            </a:p>
          </p:txBody>
        </p:sp>
        <p:sp>
          <p:nvSpPr>
            <p:cNvPr id="84" name="Rounded Rectangle 4">
              <a:extLst>
                <a:ext uri="{FF2B5EF4-FFF2-40B4-BE49-F238E27FC236}">
                  <a16:creationId xmlns:a16="http://schemas.microsoft.com/office/drawing/2014/main" id="{4E74FF0B-764A-4624-A479-432BD049764B}"/>
                </a:ext>
              </a:extLst>
            </p:cNvPr>
            <p:cNvSpPr/>
            <p:nvPr/>
          </p:nvSpPr>
          <p:spPr>
            <a:xfrm>
              <a:off x="5547796" y="895486"/>
              <a:ext cx="1570360" cy="971550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7FA55A6-0F54-4405-8DFC-2D5A8B50A527}"/>
                </a:ext>
              </a:extLst>
            </p:cNvPr>
            <p:cNvSpPr/>
            <p:nvPr/>
          </p:nvSpPr>
          <p:spPr>
            <a:xfrm>
              <a:off x="5547796" y="895486"/>
              <a:ext cx="1570360" cy="36320"/>
            </a:xfrm>
            <a:prstGeom prst="rect">
              <a:avLst/>
            </a:prstGeom>
            <a:solidFill>
              <a:srgbClr val="00B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61C6DA-C960-48F7-A6B2-71D1E583F159}"/>
                </a:ext>
              </a:extLst>
            </p:cNvPr>
            <p:cNvSpPr/>
            <p:nvPr/>
          </p:nvSpPr>
          <p:spPr>
            <a:xfrm>
              <a:off x="5547796" y="895486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1E12387-1DBE-4E6F-ADFE-2D79ED1B3908}"/>
                </a:ext>
              </a:extLst>
            </p:cNvPr>
            <p:cNvSpPr txBox="1"/>
            <p:nvPr/>
          </p:nvSpPr>
          <p:spPr>
            <a:xfrm>
              <a:off x="5755332" y="983057"/>
              <a:ext cx="1190752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Total Site 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Terdampak</a:t>
              </a:r>
              <a:endParaRPr sz="105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53BD4-5A71-4D5C-BB5A-AB3F57FB80EF}"/>
                </a:ext>
              </a:extLst>
            </p:cNvPr>
            <p:cNvSpPr txBox="1"/>
            <p:nvPr/>
          </p:nvSpPr>
          <p:spPr>
            <a:xfrm>
              <a:off x="5578968" y="648668"/>
              <a:ext cx="319260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Status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Jaringan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Klasifikasi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Site BAKTI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1930346-97F3-4A51-85E7-C2421E2FFBCB}"/>
                </a:ext>
              </a:extLst>
            </p:cNvPr>
            <p:cNvGrpSpPr/>
            <p:nvPr/>
          </p:nvGrpSpPr>
          <p:grpSpPr>
            <a:xfrm>
              <a:off x="5535018" y="4564718"/>
              <a:ext cx="6545207" cy="1024486"/>
              <a:chOff x="5547668" y="4328378"/>
              <a:chExt cx="6810741" cy="1240627"/>
            </a:xfrm>
          </p:grpSpPr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2A5CE39-5FED-4A19-8CBC-4FF32C690B7A}"/>
                  </a:ext>
                </a:extLst>
              </p:cNvPr>
              <p:cNvGrpSpPr/>
              <p:nvPr/>
            </p:nvGrpSpPr>
            <p:grpSpPr>
              <a:xfrm>
                <a:off x="5547668" y="4336366"/>
                <a:ext cx="2121078" cy="1000125"/>
                <a:chOff x="5547667" y="4336366"/>
                <a:chExt cx="3530649" cy="1000125"/>
              </a:xfrm>
            </p:grpSpPr>
            <p:sp>
              <p:nvSpPr>
                <p:cNvPr id="114" name="Rounded Rectangle 5">
                  <a:extLst>
                    <a:ext uri="{FF2B5EF4-FFF2-40B4-BE49-F238E27FC236}">
                      <a16:creationId xmlns:a16="http://schemas.microsoft.com/office/drawing/2014/main" id="{1B06C049-7409-42C8-A81E-3911ADCE248F}"/>
                    </a:ext>
                  </a:extLst>
                </p:cNvPr>
                <p:cNvSpPr/>
                <p:nvPr/>
              </p:nvSpPr>
              <p:spPr>
                <a:xfrm>
                  <a:off x="5547667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DD08ED-C681-4554-90CA-E901298B5CF3}"/>
                    </a:ext>
                  </a:extLst>
                </p:cNvPr>
                <p:cNvSpPr txBox="1"/>
                <p:nvPr/>
              </p:nvSpPr>
              <p:spPr>
                <a:xfrm>
                  <a:off x="5766743" y="4555441"/>
                  <a:ext cx="3172035" cy="1956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Rata-rata Availability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5D701491-293C-4BB8-8823-79B0BDAD938C}"/>
                    </a:ext>
                  </a:extLst>
                </p:cNvPr>
                <p:cNvSpPr txBox="1"/>
                <p:nvPr/>
              </p:nvSpPr>
              <p:spPr>
                <a:xfrm>
                  <a:off x="5599768" y="4784042"/>
                  <a:ext cx="3478548" cy="44725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009999"/>
                      </a:solidFill>
                    </a:rPr>
                    <a:t>{{</a:t>
                  </a:r>
                  <a:r>
                    <a:rPr lang="en-US" sz="2400" b="1" dirty="0" err="1">
                      <a:solidFill>
                        <a:srgbClr val="009999"/>
                      </a:solidFill>
                    </a:rPr>
                    <a:t>avg_avail</a:t>
                  </a:r>
                  <a:r>
                    <a:rPr lang="en-US" sz="2400" b="1" dirty="0">
                      <a:solidFill>
                        <a:srgbClr val="009999"/>
                      </a:solidFill>
                    </a:rPr>
                    <a:t>}}</a:t>
                  </a:r>
                  <a:endParaRPr lang="en-US" sz="2100" b="1" dirty="0">
                    <a:solidFill>
                      <a:srgbClr val="009999"/>
                    </a:solidFill>
                    <a:latin typeface="Plus Jakarta Sans"/>
                  </a:endParaRPr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0ECE22DF-B233-47CF-BCA2-BB8E15A785DE}"/>
                  </a:ext>
                </a:extLst>
              </p:cNvPr>
              <p:cNvGrpSpPr/>
              <p:nvPr/>
            </p:nvGrpSpPr>
            <p:grpSpPr>
              <a:xfrm>
                <a:off x="7802389" y="4328378"/>
                <a:ext cx="2194315" cy="1230366"/>
                <a:chOff x="7800358" y="4336366"/>
                <a:chExt cx="3530649" cy="1230366"/>
              </a:xfrm>
            </p:grpSpPr>
            <p:sp>
              <p:nvSpPr>
                <p:cNvPr id="107" name="Rounded Rectangle 6">
                  <a:extLst>
                    <a:ext uri="{FF2B5EF4-FFF2-40B4-BE49-F238E27FC236}">
                      <a16:creationId xmlns:a16="http://schemas.microsoft.com/office/drawing/2014/main" id="{2CEEEF20-BB11-4B9F-AEFF-285436D8C2C7}"/>
                    </a:ext>
                  </a:extLst>
                </p:cNvPr>
                <p:cNvSpPr/>
                <p:nvPr/>
              </p:nvSpPr>
              <p:spPr>
                <a:xfrm>
                  <a:off x="7800358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8520198-DE08-44FE-95F6-1B334A1AAB52}"/>
                    </a:ext>
                  </a:extLst>
                </p:cNvPr>
                <p:cNvSpPr txBox="1"/>
                <p:nvPr/>
              </p:nvSpPr>
              <p:spPr>
                <a:xfrm>
                  <a:off x="7800358" y="4555441"/>
                  <a:ext cx="3530647" cy="163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Average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Harian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C54FA1D-6C67-439F-B479-9D021C505028}"/>
                    </a:ext>
                  </a:extLst>
                </p:cNvPr>
                <p:cNvSpPr txBox="1"/>
                <p:nvPr/>
              </p:nvSpPr>
              <p:spPr>
                <a:xfrm>
                  <a:off x="8019433" y="4784041"/>
                  <a:ext cx="3311574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F172A"/>
                      </a:solidFill>
                      <a:latin typeface="Plus Jakarta Sans"/>
                    </a:rPr>
                    <a:t>daily_traffic_gb</a:t>
                  </a:r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A193034E-2BB9-4BDC-82D8-48C449E79C45}"/>
                  </a:ext>
                </a:extLst>
              </p:cNvPr>
              <p:cNvGrpSpPr/>
              <p:nvPr/>
            </p:nvGrpSpPr>
            <p:grpSpPr>
              <a:xfrm>
                <a:off x="10130346" y="4328504"/>
                <a:ext cx="2228063" cy="1240501"/>
                <a:chOff x="10210481" y="4336366"/>
                <a:chExt cx="2228063" cy="1213039"/>
              </a:xfrm>
            </p:grpSpPr>
            <p:sp>
              <p:nvSpPr>
                <p:cNvPr id="104" name="Rounded Rectangle 7">
                  <a:extLst>
                    <a:ext uri="{FF2B5EF4-FFF2-40B4-BE49-F238E27FC236}">
                      <a16:creationId xmlns:a16="http://schemas.microsoft.com/office/drawing/2014/main" id="{9CC999DD-A0A8-4584-A1A0-BF7BA08D4290}"/>
                    </a:ext>
                  </a:extLst>
                </p:cNvPr>
                <p:cNvSpPr/>
                <p:nvPr/>
              </p:nvSpPr>
              <p:spPr>
                <a:xfrm>
                  <a:off x="10210481" y="4336366"/>
                  <a:ext cx="2194315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9D75E21-C4E1-4844-85C6-912C1996610E}"/>
                    </a:ext>
                  </a:extLst>
                </p:cNvPr>
                <p:cNvSpPr txBox="1"/>
                <p:nvPr/>
              </p:nvSpPr>
              <p:spPr>
                <a:xfrm>
                  <a:off x="10210482" y="4555441"/>
                  <a:ext cx="2228062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Avg Peak Active Users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37F62BE-C1EA-4215-B192-E39E2D6153BE}"/>
                    </a:ext>
                  </a:extLst>
                </p:cNvPr>
                <p:cNvSpPr txBox="1"/>
                <p:nvPr/>
              </p:nvSpPr>
              <p:spPr>
                <a:xfrm>
                  <a:off x="10210481" y="4784041"/>
                  <a:ext cx="2194315" cy="76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16A34A"/>
                      </a:solidFill>
                      <a:latin typeface="Plus Jakarta Sans"/>
                    </a:rPr>
                    <a:t>active_users</a:t>
                  </a:r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}} Users</a:t>
                  </a:r>
                </a:p>
              </p:txBody>
            </p:sp>
          </p:grp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01B98C1-5C1E-4EFB-A03B-9D5913FA3AAE}"/>
                </a:ext>
              </a:extLst>
            </p:cNvPr>
            <p:cNvSpPr txBox="1"/>
            <p:nvPr/>
          </p:nvSpPr>
          <p:spPr>
            <a:xfrm>
              <a:off x="5598573" y="4357957"/>
              <a:ext cx="3653757" cy="215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Metrik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Traffic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Analisis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Produktivitas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Layanan</a:t>
              </a:r>
              <a:endPara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8E467F1-BE1E-41A1-9723-9DF9A4FBA0DE}"/>
                </a:ext>
              </a:extLst>
            </p:cNvPr>
            <p:cNvSpPr txBox="1"/>
            <p:nvPr/>
          </p:nvSpPr>
          <p:spPr>
            <a:xfrm>
              <a:off x="5340061" y="1260787"/>
              <a:ext cx="20008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{{</a:t>
              </a:r>
              <a:r>
                <a:rPr lang="en-US" sz="2000" b="1" dirty="0" err="1"/>
                <a:t>total_site</a:t>
              </a:r>
              <a:r>
                <a:rPr lang="en-US" sz="2000" b="1" dirty="0"/>
                <a:t>}} Site</a:t>
              </a:r>
              <a:endParaRPr lang="en-US" sz="200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3" name="Rounded Rectangle 4">
              <a:extLst>
                <a:ext uri="{FF2B5EF4-FFF2-40B4-BE49-F238E27FC236}">
                  <a16:creationId xmlns:a16="http://schemas.microsoft.com/office/drawing/2014/main" id="{69A3D5EC-3661-43F9-ADB7-3208FC5AD936}"/>
                </a:ext>
              </a:extLst>
            </p:cNvPr>
            <p:cNvSpPr/>
            <p:nvPr/>
          </p:nvSpPr>
          <p:spPr>
            <a:xfrm>
              <a:off x="5540283" y="1979902"/>
              <a:ext cx="1570360" cy="1116441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CE57FC1-42F2-4A9A-A58C-94C0F74B8424}"/>
                </a:ext>
              </a:extLst>
            </p:cNvPr>
            <p:cNvSpPr/>
            <p:nvPr/>
          </p:nvSpPr>
          <p:spPr>
            <a:xfrm>
              <a:off x="5540283" y="1979903"/>
              <a:ext cx="1570360" cy="3632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DF245B6-D86C-4435-B28B-2AF8833450FE}"/>
                </a:ext>
              </a:extLst>
            </p:cNvPr>
            <p:cNvSpPr/>
            <p:nvPr/>
          </p:nvSpPr>
          <p:spPr>
            <a:xfrm>
              <a:off x="5540283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1BA6AD79-53F6-4103-83A3-91EA3242AB9B}"/>
                </a:ext>
              </a:extLst>
            </p:cNvPr>
            <p:cNvSpPr/>
            <p:nvPr/>
          </p:nvSpPr>
          <p:spPr>
            <a:xfrm>
              <a:off x="5436789" y="3147750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6346890-FB0A-419F-8353-960D093CCEDB}"/>
                </a:ext>
              </a:extLst>
            </p:cNvPr>
            <p:cNvSpPr/>
            <p:nvPr/>
          </p:nvSpPr>
          <p:spPr>
            <a:xfrm>
              <a:off x="5451479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FC6C697-0D6E-4A75-A6BC-09429090B6D4}"/>
                </a:ext>
              </a:extLst>
            </p:cNvPr>
            <p:cNvSpPr txBox="1"/>
            <p:nvPr/>
          </p:nvSpPr>
          <p:spPr>
            <a:xfrm>
              <a:off x="5824906" y="2059783"/>
              <a:ext cx="101335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Up (Normal)</a:t>
              </a:r>
            </a:p>
          </p:txBody>
        </p:sp>
        <p:sp>
          <p:nvSpPr>
            <p:cNvPr id="133" name="Rounded Rectangle 4">
              <a:extLst>
                <a:ext uri="{FF2B5EF4-FFF2-40B4-BE49-F238E27FC236}">
                  <a16:creationId xmlns:a16="http://schemas.microsoft.com/office/drawing/2014/main" id="{0CB96E87-96D8-4B1F-AE7E-7B76963AFE96}"/>
                </a:ext>
              </a:extLst>
            </p:cNvPr>
            <p:cNvSpPr/>
            <p:nvPr/>
          </p:nvSpPr>
          <p:spPr>
            <a:xfrm>
              <a:off x="5546035" y="3160454"/>
              <a:ext cx="1570360" cy="1128444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C613E0C-18AD-4FA6-B9F9-677D83404B5A}"/>
                </a:ext>
              </a:extLst>
            </p:cNvPr>
            <p:cNvSpPr/>
            <p:nvPr/>
          </p:nvSpPr>
          <p:spPr>
            <a:xfrm>
              <a:off x="5546035" y="3145791"/>
              <a:ext cx="1570360" cy="3632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FECA0757-CB48-46AC-9514-F6795E591610}"/>
                </a:ext>
              </a:extLst>
            </p:cNvPr>
            <p:cNvSpPr/>
            <p:nvPr/>
          </p:nvSpPr>
          <p:spPr>
            <a:xfrm>
              <a:off x="5546035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4E686C1-C791-4E67-AF1A-1B74A6D5CE86}"/>
                </a:ext>
              </a:extLst>
            </p:cNvPr>
            <p:cNvSpPr/>
            <p:nvPr/>
          </p:nvSpPr>
          <p:spPr>
            <a:xfrm>
              <a:off x="7110643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A18EEE3-6689-4584-A512-8CF1E8F13B31}"/>
                </a:ext>
              </a:extLst>
            </p:cNvPr>
            <p:cNvSpPr txBox="1"/>
            <p:nvPr/>
          </p:nvSpPr>
          <p:spPr>
            <a:xfrm>
              <a:off x="5790864" y="3248024"/>
              <a:ext cx="121912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Down (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Kritis</a:t>
              </a:r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003811F-770C-4936-93F6-3C79982366F3}"/>
                </a:ext>
              </a:extLst>
            </p:cNvPr>
            <p:cNvSpPr txBox="1"/>
            <p:nvPr/>
          </p:nvSpPr>
          <p:spPr>
            <a:xfrm>
              <a:off x="5704982" y="2408251"/>
              <a:ext cx="116192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</a:rPr>
                <a:t>{{</a:t>
              </a:r>
              <a:r>
                <a:rPr lang="en-US" sz="2000" b="1" dirty="0" err="1">
                  <a:solidFill>
                    <a:srgbClr val="00B050"/>
                  </a:solidFill>
                </a:rPr>
                <a:t>site_up</a:t>
              </a:r>
              <a:r>
                <a:rPr lang="en-US" sz="2000" b="1" dirty="0">
                  <a:solidFill>
                    <a:srgbClr val="00B050"/>
                  </a:solidFill>
                </a:rPr>
                <a:t>}} Site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BF5A0EA-A3AF-4AA9-B53C-29106439E14E}"/>
                </a:ext>
              </a:extLst>
            </p:cNvPr>
            <p:cNvSpPr txBox="1"/>
            <p:nvPr/>
          </p:nvSpPr>
          <p:spPr>
            <a:xfrm>
              <a:off x="5649553" y="3540465"/>
              <a:ext cx="112727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{{</a:t>
              </a:r>
              <a:r>
                <a:rPr lang="en-US" sz="2000" b="1" dirty="0" err="1">
                  <a:solidFill>
                    <a:srgbClr val="FF0000"/>
                  </a:solidFill>
                </a:rPr>
                <a:t>site_down</a:t>
              </a:r>
              <a:r>
                <a:rPr lang="en-US" sz="2000" b="1" dirty="0">
                  <a:solidFill>
                    <a:srgbClr val="FF0000"/>
                  </a:solidFill>
                </a:rPr>
                <a:t>}}</a:t>
              </a:r>
              <a:r>
                <a:rPr lang="en-US" sz="2000" dirty="0">
                  <a:solidFill>
                    <a:srgbClr val="FF0000"/>
                  </a:solidFill>
                </a:rPr>
                <a:t> Site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539DA67-D0C3-4401-A4A6-44C4C796B797}"/>
                </a:ext>
              </a:extLst>
            </p:cNvPr>
            <p:cNvSpPr txBox="1"/>
            <p:nvPr/>
          </p:nvSpPr>
          <p:spPr>
            <a:xfrm>
              <a:off x="8701007" y="873448"/>
              <a:ext cx="497124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8ACEA67-05B8-4FD2-937E-F44D6B88AFB1}"/>
                </a:ext>
              </a:extLst>
            </p:cNvPr>
            <p:cNvSpPr txBox="1"/>
            <p:nvPr/>
          </p:nvSpPr>
          <p:spPr>
            <a:xfrm>
              <a:off x="8193416" y="152502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CE76E56-A2FF-4610-B6F1-774F8163A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11940" y="1483253"/>
              <a:ext cx="256482" cy="370315"/>
            </a:xfrm>
            <a:prstGeom prst="rect">
              <a:avLst/>
            </a:prstGeom>
          </p:spPr>
        </p:pic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ECDFD02-0684-49AD-ADAB-00880ADB17D9}"/>
                </a:ext>
              </a:extLst>
            </p:cNvPr>
            <p:cNvSpPr txBox="1"/>
            <p:nvPr/>
          </p:nvSpPr>
          <p:spPr>
            <a:xfrm>
              <a:off x="8116638" y="1623693"/>
              <a:ext cx="9204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{{g4_vsat}} Site</a:t>
              </a:r>
            </a:p>
          </p:txBody>
        </p:sp>
        <p:sp>
          <p:nvSpPr>
            <p:cNvPr id="169" name="Arrow: Right 168">
              <a:extLst>
                <a:ext uri="{FF2B5EF4-FFF2-40B4-BE49-F238E27FC236}">
                  <a16:creationId xmlns:a16="http://schemas.microsoft.com/office/drawing/2014/main" id="{BF0164B9-B776-4FB4-9B82-09264A69FEC6}"/>
                </a:ext>
              </a:extLst>
            </p:cNvPr>
            <p:cNvSpPr/>
            <p:nvPr/>
          </p:nvSpPr>
          <p:spPr>
            <a:xfrm>
              <a:off x="7209110" y="1149693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8A9FC9CC-E955-4275-B1D3-D2957B214C2F}"/>
                </a:ext>
              </a:extLst>
            </p:cNvPr>
            <p:cNvSpPr txBox="1"/>
            <p:nvPr/>
          </p:nvSpPr>
          <p:spPr>
            <a:xfrm>
              <a:off x="9106910" y="1537323"/>
              <a:ext cx="501740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T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DA99F0A3-B9EE-40D1-9073-EF37AB48704D}"/>
                </a:ext>
              </a:extLst>
            </p:cNvPr>
            <p:cNvSpPr txBox="1"/>
            <p:nvPr/>
          </p:nvSpPr>
          <p:spPr>
            <a:xfrm>
              <a:off x="9030132" y="1635996"/>
              <a:ext cx="9028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{{g4_mw}} Site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D1B148BD-52DB-48F7-9622-EDEC879DA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35659" y="1488760"/>
              <a:ext cx="256482" cy="364944"/>
            </a:xfrm>
            <a:prstGeom prst="rect">
              <a:avLst/>
            </a:prstGeom>
          </p:spPr>
        </p:pic>
        <p:sp>
          <p:nvSpPr>
            <p:cNvPr id="181" name="Rounded Rectangle 27">
              <a:extLst>
                <a:ext uri="{FF2B5EF4-FFF2-40B4-BE49-F238E27FC236}">
                  <a16:creationId xmlns:a16="http://schemas.microsoft.com/office/drawing/2014/main" id="{C7EAD124-1CC9-4BD5-8196-615167188FF7}"/>
                </a:ext>
              </a:extLst>
            </p:cNvPr>
            <p:cNvSpPr/>
            <p:nvPr/>
          </p:nvSpPr>
          <p:spPr>
            <a:xfrm>
              <a:off x="10156855" y="148298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F540FB-5602-417C-AAF6-B2C2689DCBAC}"/>
                </a:ext>
              </a:extLst>
            </p:cNvPr>
            <p:cNvSpPr txBox="1"/>
            <p:nvPr/>
          </p:nvSpPr>
          <p:spPr>
            <a:xfrm>
              <a:off x="10768743" y="882508"/>
              <a:ext cx="6109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48009FE3-1419-42D0-BE9D-0CAC52B9E744}"/>
                </a:ext>
              </a:extLst>
            </p:cNvPr>
            <p:cNvSpPr txBox="1"/>
            <p:nvPr/>
          </p:nvSpPr>
          <p:spPr>
            <a:xfrm>
              <a:off x="10261152" y="153408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1EA3721-D0F5-46F6-883F-5250048A5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79676" y="1492313"/>
              <a:ext cx="256482" cy="370315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A339E8A-A62A-4411-B6D8-49131A49F9EB}"/>
                </a:ext>
              </a:extLst>
            </p:cNvPr>
            <p:cNvSpPr txBox="1"/>
            <p:nvPr/>
          </p:nvSpPr>
          <p:spPr>
            <a:xfrm>
              <a:off x="10184374" y="1632753"/>
              <a:ext cx="9797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uso_vsat</a:t>
              </a:r>
              <a:r>
                <a:rPr lang="en-US" sz="900" b="1" dirty="0"/>
                <a:t>}} Site</a:t>
              </a:r>
            </a:p>
          </p:txBody>
        </p:sp>
        <p:sp>
          <p:nvSpPr>
            <p:cNvPr id="196" name="Rounded Rectangle 27">
              <a:extLst>
                <a:ext uri="{FF2B5EF4-FFF2-40B4-BE49-F238E27FC236}">
                  <a16:creationId xmlns:a16="http://schemas.microsoft.com/office/drawing/2014/main" id="{FA6738E1-0F3B-4611-8DE5-26D9BC96B148}"/>
                </a:ext>
              </a:extLst>
            </p:cNvPr>
            <p:cNvSpPr/>
            <p:nvPr/>
          </p:nvSpPr>
          <p:spPr>
            <a:xfrm>
              <a:off x="11070349" y="149528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7071C55-E7B3-4137-B87E-E25735D0FF81}"/>
                </a:ext>
              </a:extLst>
            </p:cNvPr>
            <p:cNvSpPr txBox="1"/>
            <p:nvPr/>
          </p:nvSpPr>
          <p:spPr>
            <a:xfrm>
              <a:off x="11174646" y="154638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918A061-44AE-4AF3-AA3C-47FAD38450A6}"/>
                </a:ext>
              </a:extLst>
            </p:cNvPr>
            <p:cNvSpPr txBox="1"/>
            <p:nvPr/>
          </p:nvSpPr>
          <p:spPr>
            <a:xfrm>
              <a:off x="11097868" y="1645056"/>
              <a:ext cx="9621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uso_mw</a:t>
              </a:r>
              <a:r>
                <a:rPr lang="en-US" sz="900" b="1" dirty="0"/>
                <a:t>}} Site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4D2295AB-F805-496F-A1FD-08FA815B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03395" y="1497820"/>
              <a:ext cx="256482" cy="364944"/>
            </a:xfrm>
            <a:prstGeom prst="rect">
              <a:avLst/>
            </a:prstGeom>
          </p:spPr>
        </p:pic>
        <p:sp>
          <p:nvSpPr>
            <p:cNvPr id="206" name="Rounded Rectangle 8">
              <a:extLst>
                <a:ext uri="{FF2B5EF4-FFF2-40B4-BE49-F238E27FC236}">
                  <a16:creationId xmlns:a16="http://schemas.microsoft.com/office/drawing/2014/main" id="{A6901B15-6FAC-49F4-80BD-3D2BDC2B2211}"/>
                </a:ext>
              </a:extLst>
            </p:cNvPr>
            <p:cNvSpPr/>
            <p:nvPr/>
          </p:nvSpPr>
          <p:spPr>
            <a:xfrm>
              <a:off x="8023214" y="1995845"/>
              <a:ext cx="1958797" cy="1151905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Rounded Rectangle 26">
              <a:extLst>
                <a:ext uri="{FF2B5EF4-FFF2-40B4-BE49-F238E27FC236}">
                  <a16:creationId xmlns:a16="http://schemas.microsoft.com/office/drawing/2014/main" id="{6A2860EE-E3D8-46CF-8E55-FB1F71639792}"/>
                </a:ext>
              </a:extLst>
            </p:cNvPr>
            <p:cNvSpPr/>
            <p:nvPr/>
          </p:nvSpPr>
          <p:spPr>
            <a:xfrm>
              <a:off x="8447751" y="2257197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Rounded Rectangle 27">
              <a:extLst>
                <a:ext uri="{FF2B5EF4-FFF2-40B4-BE49-F238E27FC236}">
                  <a16:creationId xmlns:a16="http://schemas.microsoft.com/office/drawing/2014/main" id="{5FAC5928-450E-427A-9042-BCE88724FB4C}"/>
                </a:ext>
              </a:extLst>
            </p:cNvPr>
            <p:cNvSpPr/>
            <p:nvPr/>
          </p:nvSpPr>
          <p:spPr>
            <a:xfrm>
              <a:off x="8117526" y="259958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69D4232-FA70-4780-BE09-C5785BC373BD}"/>
                </a:ext>
              </a:extLst>
            </p:cNvPr>
            <p:cNvSpPr txBox="1"/>
            <p:nvPr/>
          </p:nvSpPr>
          <p:spPr>
            <a:xfrm>
              <a:off x="8576404" y="2016223"/>
              <a:ext cx="851387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72B9A2-4055-47B2-A117-91D4415FC671}"/>
                </a:ext>
              </a:extLst>
            </p:cNvPr>
            <p:cNvSpPr txBox="1"/>
            <p:nvPr/>
          </p:nvSpPr>
          <p:spPr>
            <a:xfrm>
              <a:off x="8221823" y="265067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B2D5127C-55E2-4F8C-A3A2-B83169F6C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40347" y="2608909"/>
              <a:ext cx="256482" cy="370315"/>
            </a:xfrm>
            <a:prstGeom prst="rect">
              <a:avLst/>
            </a:prstGeom>
          </p:spPr>
        </p:pic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EB76DD8-EE8F-42B7-89DC-B14CF8E966E8}"/>
                </a:ext>
              </a:extLst>
            </p:cNvPr>
            <p:cNvSpPr txBox="1"/>
            <p:nvPr/>
          </p:nvSpPr>
          <p:spPr>
            <a:xfrm>
              <a:off x="8145045" y="2749349"/>
              <a:ext cx="5611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{{4g_up_vsat}}</a:t>
              </a:r>
            </a:p>
          </p:txBody>
        </p:sp>
        <p:sp>
          <p:nvSpPr>
            <p:cNvPr id="213" name="Rounded Rectangle 27">
              <a:extLst>
                <a:ext uri="{FF2B5EF4-FFF2-40B4-BE49-F238E27FC236}">
                  <a16:creationId xmlns:a16="http://schemas.microsoft.com/office/drawing/2014/main" id="{E9F955DE-2565-4BA2-A5C3-9B3298CDED83}"/>
                </a:ext>
              </a:extLst>
            </p:cNvPr>
            <p:cNvSpPr/>
            <p:nvPr/>
          </p:nvSpPr>
          <p:spPr>
            <a:xfrm>
              <a:off x="9031020" y="261188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34674088-D970-4324-A1A7-EADCF6D4B5CB}"/>
                </a:ext>
              </a:extLst>
            </p:cNvPr>
            <p:cNvSpPr txBox="1"/>
            <p:nvPr/>
          </p:nvSpPr>
          <p:spPr>
            <a:xfrm>
              <a:off x="9135317" y="266297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5103A70-3FD3-403C-A251-C24E22215762}"/>
                </a:ext>
              </a:extLst>
            </p:cNvPr>
            <p:cNvSpPr txBox="1"/>
            <p:nvPr/>
          </p:nvSpPr>
          <p:spPr>
            <a:xfrm>
              <a:off x="9058540" y="2761652"/>
              <a:ext cx="600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{{4g_up_mw}}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86329A7D-A05A-4963-B4F1-4031BF13F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64066" y="2614416"/>
              <a:ext cx="256482" cy="364944"/>
            </a:xfrm>
            <a:prstGeom prst="rect">
              <a:avLst/>
            </a:prstGeom>
          </p:spPr>
        </p:pic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DB06EE1-8768-450E-99AB-3833FA761BE5}"/>
                </a:ext>
              </a:extLst>
            </p:cNvPr>
            <p:cNvSpPr txBox="1"/>
            <p:nvPr/>
          </p:nvSpPr>
          <p:spPr>
            <a:xfrm>
              <a:off x="8337940" y="2231000"/>
              <a:ext cx="1244130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{{4g_up}} Site</a:t>
              </a:r>
            </a:p>
          </p:txBody>
        </p:sp>
        <p:sp>
          <p:nvSpPr>
            <p:cNvPr id="218" name="Rounded Rectangle 8">
              <a:extLst>
                <a:ext uri="{FF2B5EF4-FFF2-40B4-BE49-F238E27FC236}">
                  <a16:creationId xmlns:a16="http://schemas.microsoft.com/office/drawing/2014/main" id="{37172E8D-9F67-4AD4-B551-92AC20DED706}"/>
                </a:ext>
              </a:extLst>
            </p:cNvPr>
            <p:cNvSpPr/>
            <p:nvPr/>
          </p:nvSpPr>
          <p:spPr>
            <a:xfrm>
              <a:off x="10090950" y="2004905"/>
              <a:ext cx="1958797" cy="1140886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Rounded Rectangle 27">
              <a:extLst>
                <a:ext uri="{FF2B5EF4-FFF2-40B4-BE49-F238E27FC236}">
                  <a16:creationId xmlns:a16="http://schemas.microsoft.com/office/drawing/2014/main" id="{98D77C70-7922-49EE-BF20-FECC332062BD}"/>
                </a:ext>
              </a:extLst>
            </p:cNvPr>
            <p:cNvSpPr/>
            <p:nvPr/>
          </p:nvSpPr>
          <p:spPr>
            <a:xfrm>
              <a:off x="10185262" y="26086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6C65576C-52BC-4148-97BD-F25217BC310C}"/>
                </a:ext>
              </a:extLst>
            </p:cNvPr>
            <p:cNvSpPr txBox="1"/>
            <p:nvPr/>
          </p:nvSpPr>
          <p:spPr>
            <a:xfrm>
              <a:off x="10611185" y="2013617"/>
              <a:ext cx="9652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DD868F4-D77B-4DAA-A7E6-220AAD8860B1}"/>
                </a:ext>
              </a:extLst>
            </p:cNvPr>
            <p:cNvSpPr txBox="1"/>
            <p:nvPr/>
          </p:nvSpPr>
          <p:spPr>
            <a:xfrm>
              <a:off x="10289559" y="265973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22" name="Picture 221">
              <a:extLst>
                <a:ext uri="{FF2B5EF4-FFF2-40B4-BE49-F238E27FC236}">
                  <a16:creationId xmlns:a16="http://schemas.microsoft.com/office/drawing/2014/main" id="{A2064857-C12C-41C4-BAE1-1F764339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2617969"/>
              <a:ext cx="256482" cy="370315"/>
            </a:xfrm>
            <a:prstGeom prst="rect">
              <a:avLst/>
            </a:prstGeom>
          </p:spPr>
        </p:pic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5D5D2DFD-C5A7-423F-9832-3AE6CBAB2724}"/>
                </a:ext>
              </a:extLst>
            </p:cNvPr>
            <p:cNvSpPr txBox="1"/>
            <p:nvPr/>
          </p:nvSpPr>
          <p:spPr>
            <a:xfrm>
              <a:off x="10212782" y="2758409"/>
              <a:ext cx="629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24" name="Rounded Rectangle 27">
              <a:extLst>
                <a:ext uri="{FF2B5EF4-FFF2-40B4-BE49-F238E27FC236}">
                  <a16:creationId xmlns:a16="http://schemas.microsoft.com/office/drawing/2014/main" id="{AACB4B56-1F39-45EA-B20D-64370627D3BA}"/>
                </a:ext>
              </a:extLst>
            </p:cNvPr>
            <p:cNvSpPr/>
            <p:nvPr/>
          </p:nvSpPr>
          <p:spPr>
            <a:xfrm>
              <a:off x="11098756" y="262094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E38AB32-0158-4702-8230-03174A68F92D}"/>
                </a:ext>
              </a:extLst>
            </p:cNvPr>
            <p:cNvSpPr txBox="1"/>
            <p:nvPr/>
          </p:nvSpPr>
          <p:spPr>
            <a:xfrm>
              <a:off x="11203053" y="267203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5676180-912D-43CC-8790-671D1F9761CA}"/>
                </a:ext>
              </a:extLst>
            </p:cNvPr>
            <p:cNvSpPr txBox="1"/>
            <p:nvPr/>
          </p:nvSpPr>
          <p:spPr>
            <a:xfrm>
              <a:off x="11126275" y="2770712"/>
              <a:ext cx="6337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BA84224B-38EC-4D03-A49B-531793CFB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2623476"/>
              <a:ext cx="256482" cy="364944"/>
            </a:xfrm>
            <a:prstGeom prst="rect">
              <a:avLst/>
            </a:prstGeom>
          </p:spPr>
        </p:pic>
        <p:sp>
          <p:nvSpPr>
            <p:cNvPr id="228" name="Rounded Rectangle 29">
              <a:extLst>
                <a:ext uri="{FF2B5EF4-FFF2-40B4-BE49-F238E27FC236}">
                  <a16:creationId xmlns:a16="http://schemas.microsoft.com/office/drawing/2014/main" id="{004F470A-0F9B-4F99-BE85-05ED7E917C5D}"/>
                </a:ext>
              </a:extLst>
            </p:cNvPr>
            <p:cNvSpPr/>
            <p:nvPr/>
          </p:nvSpPr>
          <p:spPr>
            <a:xfrm>
              <a:off x="10521766" y="2255544"/>
              <a:ext cx="1098877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b="1" dirty="0">
                <a:solidFill>
                  <a:srgbClr val="15803D"/>
                </a:solidFill>
                <a:latin typeface="Plus Jakarta Sans"/>
              </a:endParaRPr>
            </a:p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uso_up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  <a:p>
              <a:pPr algn="ctr"/>
              <a:endParaRPr dirty="0"/>
            </a:p>
          </p:txBody>
        </p:sp>
        <p:sp>
          <p:nvSpPr>
            <p:cNvPr id="230" name="Arrow: Right 229">
              <a:extLst>
                <a:ext uri="{FF2B5EF4-FFF2-40B4-BE49-F238E27FC236}">
                  <a16:creationId xmlns:a16="http://schemas.microsoft.com/office/drawing/2014/main" id="{433D2A76-BA3B-44AB-8DEE-F4E00EF24F98}"/>
                </a:ext>
              </a:extLst>
            </p:cNvPr>
            <p:cNvSpPr/>
            <p:nvPr/>
          </p:nvSpPr>
          <p:spPr>
            <a:xfrm>
              <a:off x="7212344" y="21974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row: Right 230">
              <a:extLst>
                <a:ext uri="{FF2B5EF4-FFF2-40B4-BE49-F238E27FC236}">
                  <a16:creationId xmlns:a16="http://schemas.microsoft.com/office/drawing/2014/main" id="{DCE4D1F7-87B7-4F0B-8216-17F152DCC7F0}"/>
                </a:ext>
              </a:extLst>
            </p:cNvPr>
            <p:cNvSpPr/>
            <p:nvPr/>
          </p:nvSpPr>
          <p:spPr>
            <a:xfrm>
              <a:off x="7217046" y="34016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8">
              <a:extLst>
                <a:ext uri="{FF2B5EF4-FFF2-40B4-BE49-F238E27FC236}">
                  <a16:creationId xmlns:a16="http://schemas.microsoft.com/office/drawing/2014/main" id="{BB002459-B560-4E01-B03E-99DE919CF57D}"/>
                </a:ext>
              </a:extLst>
            </p:cNvPr>
            <p:cNvSpPr/>
            <p:nvPr/>
          </p:nvSpPr>
          <p:spPr>
            <a:xfrm>
              <a:off x="8034842" y="316570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Rounded Rectangle 26">
              <a:extLst>
                <a:ext uri="{FF2B5EF4-FFF2-40B4-BE49-F238E27FC236}">
                  <a16:creationId xmlns:a16="http://schemas.microsoft.com/office/drawing/2014/main" id="{C789BE8D-5BA3-4C76-B54A-D260AE3B7A23}"/>
                </a:ext>
              </a:extLst>
            </p:cNvPr>
            <p:cNvSpPr/>
            <p:nvPr/>
          </p:nvSpPr>
          <p:spPr>
            <a:xfrm>
              <a:off x="8459379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00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Rounded Rectangle 27">
              <a:extLst>
                <a:ext uri="{FF2B5EF4-FFF2-40B4-BE49-F238E27FC236}">
                  <a16:creationId xmlns:a16="http://schemas.microsoft.com/office/drawing/2014/main" id="{56DD4F59-9A76-48F6-AB46-9932E98E6E8B}"/>
                </a:ext>
              </a:extLst>
            </p:cNvPr>
            <p:cNvSpPr/>
            <p:nvPr/>
          </p:nvSpPr>
          <p:spPr>
            <a:xfrm>
              <a:off x="8129154" y="376943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CD0E95D2-1CAA-4A27-8335-AAA255FA6BAB}"/>
                </a:ext>
              </a:extLst>
            </p:cNvPr>
            <p:cNvSpPr txBox="1"/>
            <p:nvPr/>
          </p:nvSpPr>
          <p:spPr>
            <a:xfrm>
              <a:off x="8496396" y="3181556"/>
              <a:ext cx="1067472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(Down)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A3737F-800E-40B8-85AF-2C3B93E5C1B7}"/>
                </a:ext>
              </a:extLst>
            </p:cNvPr>
            <p:cNvSpPr txBox="1"/>
            <p:nvPr/>
          </p:nvSpPr>
          <p:spPr>
            <a:xfrm>
              <a:off x="8233451" y="382053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B0149804-B782-4C47-B2F7-3FDA83C72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51975" y="3778766"/>
              <a:ext cx="256482" cy="370315"/>
            </a:xfrm>
            <a:prstGeom prst="rect">
              <a:avLst/>
            </a:prstGeom>
          </p:spPr>
        </p:pic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3D43572-4CF7-405D-B2A5-91E6CF90A252}"/>
                </a:ext>
              </a:extLst>
            </p:cNvPr>
            <p:cNvSpPr txBox="1"/>
            <p:nvPr/>
          </p:nvSpPr>
          <p:spPr>
            <a:xfrm>
              <a:off x="8156673" y="3919206"/>
              <a:ext cx="56890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{{4g_down_vsat}}</a:t>
              </a:r>
            </a:p>
          </p:txBody>
        </p:sp>
        <p:sp>
          <p:nvSpPr>
            <p:cNvPr id="239" name="Rounded Rectangle 27">
              <a:extLst>
                <a:ext uri="{FF2B5EF4-FFF2-40B4-BE49-F238E27FC236}">
                  <a16:creationId xmlns:a16="http://schemas.microsoft.com/office/drawing/2014/main" id="{0C4D015E-6BAD-40C3-99F7-4F3A0A6097B1}"/>
                </a:ext>
              </a:extLst>
            </p:cNvPr>
            <p:cNvSpPr/>
            <p:nvPr/>
          </p:nvSpPr>
          <p:spPr>
            <a:xfrm>
              <a:off x="9042648" y="37817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473B8FB3-BD1A-4F1B-8AB2-F0C42AD44AC8}"/>
                </a:ext>
              </a:extLst>
            </p:cNvPr>
            <p:cNvSpPr txBox="1"/>
            <p:nvPr/>
          </p:nvSpPr>
          <p:spPr>
            <a:xfrm>
              <a:off x="9146945" y="3832836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443BBB95-8A77-472E-AC2A-A0A297DDE6B7}"/>
                </a:ext>
              </a:extLst>
            </p:cNvPr>
            <p:cNvSpPr txBox="1"/>
            <p:nvPr/>
          </p:nvSpPr>
          <p:spPr>
            <a:xfrm>
              <a:off x="9070167" y="3931509"/>
              <a:ext cx="55727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{{4g_down_mw}}</a:t>
              </a:r>
            </a:p>
          </p:txBody>
        </p:sp>
        <p:pic>
          <p:nvPicPr>
            <p:cNvPr id="242" name="Picture 241">
              <a:extLst>
                <a:ext uri="{FF2B5EF4-FFF2-40B4-BE49-F238E27FC236}">
                  <a16:creationId xmlns:a16="http://schemas.microsoft.com/office/drawing/2014/main" id="{53AB5F15-73A9-406C-9A7D-CACC334BA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75694" y="3784273"/>
              <a:ext cx="256482" cy="364944"/>
            </a:xfrm>
            <a:prstGeom prst="rect">
              <a:avLst/>
            </a:prstGeom>
          </p:spPr>
        </p:pic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5F68545D-1671-4C80-8699-5CA51F0326CE}"/>
                </a:ext>
              </a:extLst>
            </p:cNvPr>
            <p:cNvSpPr txBox="1"/>
            <p:nvPr/>
          </p:nvSpPr>
          <p:spPr>
            <a:xfrm>
              <a:off x="8374158" y="3380075"/>
              <a:ext cx="1180145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{{4g_down}} Site</a:t>
              </a:r>
            </a:p>
          </p:txBody>
        </p:sp>
        <p:sp>
          <p:nvSpPr>
            <p:cNvPr id="244" name="Rounded Rectangle 8">
              <a:extLst>
                <a:ext uri="{FF2B5EF4-FFF2-40B4-BE49-F238E27FC236}">
                  <a16:creationId xmlns:a16="http://schemas.microsoft.com/office/drawing/2014/main" id="{FC92E608-03FF-49C9-9CEF-59180842736D}"/>
                </a:ext>
              </a:extLst>
            </p:cNvPr>
            <p:cNvSpPr/>
            <p:nvPr/>
          </p:nvSpPr>
          <p:spPr>
            <a:xfrm>
              <a:off x="10090950" y="317106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Rounded Rectangle 27">
              <a:extLst>
                <a:ext uri="{FF2B5EF4-FFF2-40B4-BE49-F238E27FC236}">
                  <a16:creationId xmlns:a16="http://schemas.microsoft.com/office/drawing/2014/main" id="{795C776E-938B-474D-8BB6-417626F502F0}"/>
                </a:ext>
              </a:extLst>
            </p:cNvPr>
            <p:cNvSpPr/>
            <p:nvPr/>
          </p:nvSpPr>
          <p:spPr>
            <a:xfrm>
              <a:off x="10185262" y="3774799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3703EC2-C341-42D5-B7A5-42B11CA89ECD}"/>
                </a:ext>
              </a:extLst>
            </p:cNvPr>
            <p:cNvSpPr txBox="1"/>
            <p:nvPr/>
          </p:nvSpPr>
          <p:spPr>
            <a:xfrm>
              <a:off x="10433183" y="3184697"/>
              <a:ext cx="1181285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>
                  <a:solidFill>
                    <a:srgbClr val="0F172A"/>
                  </a:solidFill>
                  <a:latin typeface="Plus Jakarta Sans"/>
                </a:rPr>
                <a:t>USO (</a:t>
              </a:r>
              <a:r>
                <a:rPr lang="en-US" sz="1350" b="1">
                  <a:solidFill>
                    <a:srgbClr val="0F172A"/>
                  </a:solidFill>
                  <a:latin typeface="Plus Jakarta Sans"/>
                </a:rPr>
                <a:t>Down</a:t>
              </a:r>
              <a:r>
                <a:rPr lang="en-US" sz="1350" b="1" i="0" u="none">
                  <a:solidFill>
                    <a:srgbClr val="0F172A"/>
                  </a:solidFill>
                  <a:latin typeface="Plus Jakarta Sans"/>
                </a:rPr>
                <a:t>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05523BDE-5B49-4209-AEE8-CD6BDAA54823}"/>
                </a:ext>
              </a:extLst>
            </p:cNvPr>
            <p:cNvSpPr txBox="1"/>
            <p:nvPr/>
          </p:nvSpPr>
          <p:spPr>
            <a:xfrm>
              <a:off x="10289559" y="3825894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7E1074B-85A6-4904-A9A7-5B5C6E173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3784127"/>
              <a:ext cx="256482" cy="370315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036E90F-C218-490D-BCA1-15C3FE1FD263}"/>
                </a:ext>
              </a:extLst>
            </p:cNvPr>
            <p:cNvSpPr txBox="1"/>
            <p:nvPr/>
          </p:nvSpPr>
          <p:spPr>
            <a:xfrm>
              <a:off x="10212780" y="3924567"/>
              <a:ext cx="5235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50" name="Rounded Rectangle 27">
              <a:extLst>
                <a:ext uri="{FF2B5EF4-FFF2-40B4-BE49-F238E27FC236}">
                  <a16:creationId xmlns:a16="http://schemas.microsoft.com/office/drawing/2014/main" id="{89D8924C-C973-4937-9F8C-5E45D3AAEAAF}"/>
                </a:ext>
              </a:extLst>
            </p:cNvPr>
            <p:cNvSpPr/>
            <p:nvPr/>
          </p:nvSpPr>
          <p:spPr>
            <a:xfrm>
              <a:off x="11098756" y="3787102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5552899-C186-44B9-BB94-3DE8AE83E607}"/>
                </a:ext>
              </a:extLst>
            </p:cNvPr>
            <p:cNvSpPr txBox="1"/>
            <p:nvPr/>
          </p:nvSpPr>
          <p:spPr>
            <a:xfrm>
              <a:off x="11203053" y="3838197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C24A11-5612-4DEF-AD6C-B93910B1EFB4}"/>
                </a:ext>
              </a:extLst>
            </p:cNvPr>
            <p:cNvSpPr txBox="1"/>
            <p:nvPr/>
          </p:nvSpPr>
          <p:spPr>
            <a:xfrm>
              <a:off x="11126275" y="3936870"/>
              <a:ext cx="52627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53" name="Picture 252">
              <a:extLst>
                <a:ext uri="{FF2B5EF4-FFF2-40B4-BE49-F238E27FC236}">
                  <a16:creationId xmlns:a16="http://schemas.microsoft.com/office/drawing/2014/main" id="{E4078818-D586-48AA-9E3F-CB0981359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3789634"/>
              <a:ext cx="256482" cy="364944"/>
            </a:xfrm>
            <a:prstGeom prst="rect">
              <a:avLst/>
            </a:prstGeom>
          </p:spPr>
        </p:pic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AE766B1C-A2FB-4388-80F1-7994E6FCBB94}"/>
                </a:ext>
              </a:extLst>
            </p:cNvPr>
            <p:cNvSpPr txBox="1"/>
            <p:nvPr/>
          </p:nvSpPr>
          <p:spPr>
            <a:xfrm>
              <a:off x="9151845" y="4404678"/>
              <a:ext cx="210301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i="1" u="sng" dirty="0"/>
                <a:t>*</a:t>
              </a:r>
              <a:r>
                <a:rPr lang="en-US" sz="600" i="1" u="sng" dirty="0" err="1"/>
                <a:t>tidak</a:t>
              </a:r>
              <a:r>
                <a:rPr lang="en-US" sz="600" i="1" u="sng" dirty="0"/>
                <a:t>  </a:t>
              </a:r>
              <a:r>
                <a:rPr lang="en-US" sz="600" i="1" u="sng" dirty="0" err="1"/>
                <a:t>memperhitungkan</a:t>
              </a:r>
              <a:r>
                <a:rPr lang="en-US" sz="600" i="1" u="sng" dirty="0"/>
                <a:t> raw data USO </a:t>
              </a:r>
              <a:r>
                <a:rPr lang="en-US" sz="600" i="1" u="sng" dirty="0" err="1"/>
                <a:t>dari</a:t>
              </a:r>
              <a:r>
                <a:rPr lang="en-US" sz="600" i="1" u="sng" dirty="0"/>
                <a:t> </a:t>
              </a:r>
              <a:r>
                <a:rPr lang="en-US" sz="600" i="1" u="sng" dirty="0" err="1"/>
                <a:t>Semeru</a:t>
              </a:r>
              <a:endParaRPr lang="en-US" sz="600" i="1" u="sng" dirty="0"/>
            </a:p>
          </p:txBody>
        </p:sp>
      </p:grpSp>
      <p:sp>
        <p:nvSpPr>
          <p:cNvPr id="122" name="Rounded Rectangle 26">
            <a:extLst>
              <a:ext uri="{FF2B5EF4-FFF2-40B4-BE49-F238E27FC236}">
                <a16:creationId xmlns:a16="http://schemas.microsoft.com/office/drawing/2014/main" id="{18910720-40AE-4126-ACDC-5C679820C2ED}"/>
              </a:ext>
            </a:extLst>
          </p:cNvPr>
          <p:cNvSpPr/>
          <p:nvPr/>
        </p:nvSpPr>
        <p:spPr>
          <a:xfrm>
            <a:off x="10583838" y="3351312"/>
            <a:ext cx="1060450" cy="309668"/>
          </a:xfrm>
          <a:prstGeom prst="roundRect">
            <a:avLst>
              <a:gd name="adj" fmla="val 25000"/>
            </a:avLst>
          </a:prstGeom>
          <a:solidFill>
            <a:srgbClr val="FF000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2400" b="1" dirty="0" err="1">
                <a:solidFill>
                  <a:srgbClr val="15803D"/>
                </a:solidFill>
                <a:latin typeface="Plus Jakarta Sans"/>
              </a:rPr>
              <a:t>uso_down</a:t>
            </a:r>
            <a:r>
              <a:rPr lang="en-US" sz="2400" b="1" dirty="0">
                <a:solidFill>
                  <a:srgbClr val="15803D"/>
                </a:solidFill>
                <a:latin typeface="Plus Jakarta Sans"/>
              </a:rPr>
              <a:t>}} Site</a:t>
            </a: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6150345" y="3764390"/>
            <a:ext cx="5944472" cy="2756443"/>
            <a:chOff x="7940641" y="6474982"/>
            <a:chExt cx="5944472" cy="2756443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91401" y="6603194"/>
              <a:ext cx="5627492" cy="207749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1" cy="2369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</a:t>
              </a:r>
              <a:r>
                <a:rPr lang="en-US" sz="1100" dirty="0">
                  <a:solidFill>
                    <a:schemeClr val="tx1"/>
                  </a:solidFill>
                </a:rPr>
                <a:t>{{</a:t>
              </a:r>
              <a:r>
                <a:rPr lang="en-US" sz="1100" dirty="0" err="1">
                  <a:solidFill>
                    <a:schemeClr val="tx1"/>
                  </a:solidFill>
                </a:rPr>
                <a:t>waktu_kejadian</a:t>
              </a:r>
              <a:r>
                <a:rPr lang="en-US" sz="1100" dirty="0">
                  <a:solidFill>
                    <a:schemeClr val="tx1"/>
                  </a:solidFill>
                </a:rPr>
                <a:t>}}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 algn="just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pPr algn="just"/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pPr algn="just"/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pPr algn="just"/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pPr algn="just"/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pPr algn="just"/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pPr algn="just"/>
              <a:endParaRPr lang="en-US" sz="1100" dirty="0" err="1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5" y="6627006"/>
              <a:ext cx="171450" cy="171450"/>
            </a:xfrm>
            <a:prstGeom prst="rect">
              <a:avLst/>
            </a:prstGeom>
          </p:spPr>
        </p:pic>
      </p:grpSp>
      <p:sp>
        <p:nvSpPr>
          <p:cNvPr id="15" name="PH_TRAFFIC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PH_TRAFFIC</a:t>
            </a:r>
          </a:p>
        </p:txBody>
      </p:sp>
      <p:sp>
        <p:nvSpPr>
          <p:cNvPr id="16" name="PH_AVAIL">
            <a:extLst>
              <a:ext uri="{FF2B5EF4-FFF2-40B4-BE49-F238E27FC236}">
                <a16:creationId xmlns:a16="http://schemas.microsoft.com/office/drawing/2014/main" id="{58A28F10-9EFB-437E-9CAF-0EF3507D2297}"/>
              </a:ext>
            </a:extLst>
          </p:cNvPr>
          <p:cNvSpPr/>
          <p:nvPr/>
        </p:nvSpPr>
        <p:spPr>
          <a:xfrm>
            <a:off x="123371" y="3764390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PH_AVAIL</a:t>
            </a:r>
          </a:p>
        </p:txBody>
      </p:sp>
      <p:sp>
        <p:nvSpPr>
          <p:cNvPr id="18" name="PH_USER">
            <a:extLst>
              <a:ext uri="{FF2B5EF4-FFF2-40B4-BE49-F238E27FC236}">
                <a16:creationId xmlns:a16="http://schemas.microsoft.com/office/drawing/2014/main" id="{2842D3AD-BB62-47CA-BED9-2BA0E3E1BBEE}"/>
              </a:ext>
            </a:extLst>
          </p:cNvPr>
          <p:cNvSpPr/>
          <p:nvPr/>
        </p:nvSpPr>
        <p:spPr>
          <a:xfrm>
            <a:off x="615034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PH_USER</a:t>
            </a: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Site Status Kabupaten Level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7489103" y="611672"/>
            <a:ext cx="4605713" cy="4913997"/>
            <a:chOff x="7940641" y="6474982"/>
            <a:chExt cx="5944472" cy="2655632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Cakupan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Wilayah &amp; Site: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Peristiwa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jenis_kejadian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({{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detail_kejadian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}}) di wilayah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lokasi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melingkupi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total_site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yang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tersebar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n_kab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n_kec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Kecamatan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Kondisi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Layanan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Terkini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Tercatat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sebanyak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site_up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(Normal/Up)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(Down/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Kritis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).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Wilayah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Dampak</a:t>
              </a: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Konsentrasi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site down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berada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dengan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top_kab_down_count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down (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rincian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{{top_kab_down_4g}} Site 4G &amp;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top_kab_down_uso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USO). 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Tindak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Lanjut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Mitigasi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Tim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operasional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BAKTI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bersama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mitra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fokus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memprioritaskan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pemulihan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transmisi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dan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catu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daya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pada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desa-desa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terdampak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wilayah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}}.</a:t>
              </a:r>
            </a:p>
            <a:p>
              <a:pPr algn="just"/>
              <a:endParaRPr sz="1400" dirty="0">
                <a:latin typeface="Plus Jakarta San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05676" y="6526587"/>
              <a:ext cx="5627492" cy="103232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lang="en-US" sz="1400" b="1" dirty="0">
                  <a:latin typeface="Plus Jakarta Sans"/>
                </a:rPr>
                <a:t>RINGKASAN EKSEKUTIF &amp; SITUASI OPERASIONAL: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2" cy="811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endParaRPr lang="en-US" sz="1100" dirty="0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6" y="6519237"/>
              <a:ext cx="225950" cy="121031"/>
            </a:xfrm>
            <a:prstGeom prst="rect">
              <a:avLst/>
            </a:prstGeom>
          </p:spPr>
        </p:pic>
      </p:grpSp>
      <p:sp>
        <p:nvSpPr>
          <p:cNvPr id="15" name="PH_TABEL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4"/>
            <a:ext cx="7251674" cy="611671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PH_TABEL</a:t>
            </a:r>
          </a:p>
        </p:txBody>
      </p:sp>
    </p:spTree>
    <p:extLst>
      <p:ext uri="{BB962C8B-B14F-4D97-AF65-F5344CB8AC3E}">
        <p14:creationId xmlns:p14="http://schemas.microsoft.com/office/powerpoint/2010/main" val="701078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829</Words>
  <Application>Microsoft Office PowerPoint</Application>
  <PresentationFormat>Widescreen</PresentationFormat>
  <Paragraphs>96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Yu Gothic</vt:lpstr>
      <vt:lpstr>Wingdings</vt:lpstr>
      <vt:lpstr>Barlow</vt:lpstr>
      <vt:lpstr>Arial</vt:lpstr>
      <vt:lpstr>Calibri</vt:lpstr>
      <vt:lpstr>Montserrat</vt:lpstr>
      <vt:lpstr>Plus Jakarta Sans</vt:lpstr>
      <vt:lpstr>Segoe UI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  <vt:lpstr>Site Status Kabupaten Level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57</cp:revision>
  <dcterms:created xsi:type="dcterms:W3CDTF">2013-01-27T09:14:16Z</dcterms:created>
  <dcterms:modified xsi:type="dcterms:W3CDTF">2026-10-28T23:07:44Z</dcterms:modified>
  <cp:category/>
</cp:coreProperties>
</file>